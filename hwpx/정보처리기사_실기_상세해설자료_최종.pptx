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Lst>
  <p:notesMasterIdLst>
    <p:notesMasterId r:id="rId1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notesMaster" Target="notesMasters/notesMaster1.xml"/><Relationship Id="rId123" Type="http://schemas.openxmlformats.org/officeDocument/2006/relationships/presProps" Target="presProps.xml"/><Relationship Id="rId124" Type="http://schemas.openxmlformats.org/officeDocument/2006/relationships/viewProps" Target="viewProps.xml"/><Relationship Id="rId125" Type="http://schemas.openxmlformats.org/officeDocument/2006/relationships/theme" Target="theme/theme1.xml"/><Relationship Id="rId1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77240"/>
            <a:ext cx="10972800" cy="594360"/>
          </a:xfrm>
          <a:prstGeom prst="rect">
            <a:avLst/>
          </a:prstGeom>
          <a:noFill/>
          <a:ln/>
        </p:spPr>
        <p:txBody>
          <a:bodyPr wrap="square" lIns="0" tIns="0" rIns="0" bIns="0" rtlCol="0" anchor="t">
            <a:normAutofit/>
          </a:bodyPr>
          <a:lstStyle/>
          <a:p>
            <a:pPr indent="0" marL="0">
              <a:buNone/>
            </a:pPr>
            <a:r>
              <a:rPr lang="en-US" sz="3000" b="1" dirty="0">
                <a:solidFill>
                  <a:srgbClr val="111827"/>
                </a:solidFill>
                <a:latin typeface="Malgun Gothic" pitchFamily="34" charset="0"/>
                <a:ea typeface="Malgun Gothic" pitchFamily="34" charset="-122"/>
                <a:cs typeface="Malgun Gothic" pitchFamily="34" charset="-120"/>
              </a:rPr>
              <a:t>정보처리기사 실기 복원문제 80선</a:t>
            </a:r>
            <a:endParaRPr lang="en-US" sz="3000" dirty="0"/>
          </a:p>
        </p:txBody>
      </p:sp>
      <p:sp>
        <p:nvSpPr>
          <p:cNvPr id="3" name="Text 1"/>
          <p:cNvSpPr/>
          <p:nvPr/>
        </p:nvSpPr>
        <p:spPr>
          <a:xfrm>
            <a:off x="658368" y="1508760"/>
            <a:ext cx="10972800" cy="411480"/>
          </a:xfrm>
          <a:prstGeom prst="rect">
            <a:avLst/>
          </a:prstGeom>
          <a:noFill/>
          <a:ln/>
        </p:spPr>
        <p:txBody>
          <a:bodyPr wrap="square" lIns="0" tIns="0" rIns="0" bIns="0" rtlCol="0" anchor="t">
            <a:normAutofit/>
          </a:bodyPr>
          <a:lstStyle/>
          <a:p>
            <a:pPr indent="0" marL="0">
              <a:buNone/>
            </a:pPr>
            <a:r>
              <a:rPr lang="en-US" sz="1800" dirty="0">
                <a:solidFill>
                  <a:srgbClr val="4B5563"/>
                </a:solidFill>
                <a:latin typeface="Malgun Gothic" pitchFamily="34" charset="0"/>
                <a:ea typeface="Malgun Gothic" pitchFamily="34" charset="-122"/>
                <a:cs typeface="Malgun Gothic" pitchFamily="34" charset="-120"/>
              </a:rPr>
              <a:t>상세 해설자료: C · Java · Python · SQL · 계산/정리형 이론</a:t>
            </a:r>
            <a:endParaRPr lang="en-US" sz="1800" dirty="0"/>
          </a:p>
        </p:txBody>
      </p:sp>
      <p:sp>
        <p:nvSpPr>
          <p:cNvPr id="4" name="Text 2"/>
          <p:cNvSpPr/>
          <p:nvPr/>
        </p:nvSpPr>
        <p:spPr>
          <a:xfrm>
            <a:off x="685800" y="2331720"/>
            <a:ext cx="10881360" cy="1051560"/>
          </a:xfrm>
          <a:prstGeom prst="rect">
            <a:avLst/>
          </a:prstGeom>
          <a:solidFill>
            <a:srgbClr val="F9FAFB"/>
          </a:solidFill>
          <a:ln w="7620">
            <a:solidFill>
              <a:srgbClr val="E5E7EB"/>
            </a:solidFill>
          </a:ln>
        </p:spPr>
        <p:txBody>
          <a:bodyPr wrap="square" lIns="1905" tIns="1905" rIns="1905" bIns="1905" rtlCol="0" anchor="t">
            <a:normAutofit/>
          </a:bodyPr>
          <a:lstStyle/>
          <a:p>
            <a:pPr indent="0" marL="0">
              <a:buNone/>
            </a:pPr>
            <a:r>
              <a:rPr lang="en-US" sz="1500" dirty="0">
                <a:solidFill>
                  <a:srgbClr val="111827"/>
                </a:solidFill>
                <a:latin typeface="Malgun Gothic" pitchFamily="34" charset="0"/>
                <a:ea typeface="Malgun Gothic" pitchFamily="34" charset="-122"/>
                <a:cs typeface="Malgun Gothic" pitchFamily="34" charset="-120"/>
              </a:rPr>
              <a:t>이 자료는 문제를 다시 베끼는 용도가 아니라, 정답이 나오는 과정을 따라가도록 만든 풀이용 PPT입니다. 코드 문제는 변수 변화와 호출 순서, SQL 문제는 중간 결과 테이블, 계산형 이론은 공식과 판단 기준을 중심으로 정리했습니다.</a:t>
            </a:r>
            <a:endParaRPr lang="en-US" sz="1500" dirty="0"/>
          </a:p>
        </p:txBody>
      </p:sp>
      <p:sp>
        <p:nvSpPr>
          <p:cNvPr id="5" name="Text 3"/>
          <p:cNvSpPr/>
          <p:nvPr/>
        </p:nvSpPr>
        <p:spPr>
          <a:xfrm>
            <a:off x="685800" y="3703320"/>
            <a:ext cx="10881360" cy="1737360"/>
          </a:xfrm>
          <a:prstGeom prst="rect">
            <a:avLst/>
          </a:prstGeom>
          <a:solidFill>
            <a:srgbClr val="FFFFFF"/>
          </a:solidFill>
          <a:ln w="7620">
            <a:solidFill>
              <a:srgbClr val="E5E7EB"/>
            </a:solidFill>
          </a:ln>
        </p:spPr>
        <p:txBody>
          <a:bodyPr wrap="square" lIns="1905" tIns="1905" rIns="1905" bIns="1905" rtlCol="0" anchor="t">
            <a:normAutofit/>
          </a:bodyPr>
          <a:lstStyle/>
          <a:p>
            <a:pPr indent="0" marL="0">
              <a:buNone/>
            </a:pPr>
            <a:r>
              <a:rPr lang="en-US" sz="1500" dirty="0">
                <a:solidFill>
                  <a:srgbClr val="111827"/>
                </a:solidFill>
                <a:latin typeface="Malgun Gothic" pitchFamily="34" charset="0"/>
                <a:ea typeface="Malgun Gothic" pitchFamily="34" charset="-122"/>
                <a:cs typeface="Malgun Gothic" pitchFamily="34" charset="-120"/>
              </a:rPr>
              <a:t>권장 사용법</a:t>
            </a:r>
            <a:endParaRPr lang="en-US" sz="1500" dirty="0"/>
          </a:p>
          <a:p>
            <a:pPr indent="0" marL="0">
              <a:buNone/>
            </a:pPr>
            <a:r>
              <a:rPr lang="en-US" sz="1500" dirty="0">
                <a:solidFill>
                  <a:srgbClr val="111827"/>
                </a:solidFill>
                <a:latin typeface="Malgun Gothic" pitchFamily="34" charset="0"/>
                <a:ea typeface="Malgun Gothic" pitchFamily="34" charset="-122"/>
                <a:cs typeface="Malgun Gothic" pitchFamily="34" charset="-120"/>
              </a:rPr>
              <a:t>1. 문제를 먼저 푼 뒤 해당 번호의 해설을 확인합니다.</a:t>
            </a:r>
            <a:endParaRPr lang="en-US" sz="1500" dirty="0"/>
          </a:p>
          <a:p>
            <a:pPr indent="0" marL="0">
              <a:buNone/>
            </a:pPr>
            <a:r>
              <a:rPr lang="en-US" sz="1500" dirty="0">
                <a:solidFill>
                  <a:srgbClr val="111827"/>
                </a:solidFill>
                <a:latin typeface="Malgun Gothic" pitchFamily="34" charset="0"/>
                <a:ea typeface="Malgun Gothic" pitchFamily="34" charset="-122"/>
                <a:cs typeface="Malgun Gothic" pitchFamily="34" charset="-120"/>
              </a:rPr>
              <a:t>2. 코드 문제는 정답보다 변수 변화 표를 직접 다시 씁니다.</a:t>
            </a:r>
            <a:endParaRPr lang="en-US" sz="1500" dirty="0"/>
          </a:p>
          <a:p>
            <a:pPr indent="0" marL="0">
              <a:buNone/>
            </a:pPr>
            <a:r>
              <a:rPr lang="en-US" sz="1500" dirty="0">
                <a:solidFill>
                  <a:srgbClr val="111827"/>
                </a:solidFill>
                <a:latin typeface="Malgun Gothic" pitchFamily="34" charset="0"/>
                <a:ea typeface="Malgun Gothic" pitchFamily="34" charset="-122"/>
                <a:cs typeface="Malgun Gothic" pitchFamily="34" charset="-120"/>
              </a:rPr>
              <a:t>3. SQL은 조인/조건/집계 순서를 손으로 재현합니다.</a:t>
            </a:r>
            <a:endParaRPr lang="en-US" sz="1500" dirty="0"/>
          </a:p>
          <a:p>
            <a:pPr indent="0" marL="0">
              <a:buNone/>
            </a:pPr>
            <a:r>
              <a:rPr lang="en-US" sz="1500" dirty="0">
                <a:solidFill>
                  <a:srgbClr val="111827"/>
                </a:solidFill>
                <a:latin typeface="Malgun Gothic" pitchFamily="34" charset="0"/>
                <a:ea typeface="Malgun Gothic" pitchFamily="34" charset="-122"/>
                <a:cs typeface="Malgun Gothic" pitchFamily="34" charset="-120"/>
              </a:rPr>
              <a:t>4. 서브넷·스케줄링·커버리지는 계산식을 외우기보다 절차를 반복합니다.</a:t>
            </a:r>
            <a:endParaRPr lang="en-US" sz="15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상세 해설자료</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학습 로드맵</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해설 대상 문항 구성</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02920" y="1097280"/>
            <a:ext cx="11155680" cy="310896"/>
          </a:xfrm>
          <a:prstGeom prst="rect">
            <a:avLst/>
          </a:prstGeom>
          <a:solidFill>
            <a:srgbClr val="F8FAFC"/>
          </a:solidFill>
          <a:ln w="7620">
            <a:solidFill>
              <a:srgbClr val="E5E7EB"/>
            </a:solidFill>
          </a:ln>
        </p:spPr>
        <p:txBody>
          <a:bodyPr wrap="square" lIns="1016" tIns="1016" rIns="1016" bIns="1016" rtlCol="0" anchor="t">
            <a:normAutofit/>
          </a:bodyPr>
          <a:lstStyle/>
          <a:p>
            <a:pPr indent="0" marL="0">
              <a:buNone/>
            </a:pPr>
            <a:r>
              <a:rPr lang="en-US" sz="1050" b="1" dirty="0">
                <a:solidFill>
                  <a:srgbClr val="111827"/>
                </a:solidFill>
                <a:latin typeface="Malgun Gothic" pitchFamily="34" charset="0"/>
                <a:ea typeface="Malgun Gothic" pitchFamily="34" charset="-122"/>
                <a:cs typeface="Malgun Gothic" pitchFamily="34" charset="-120"/>
              </a:rPr>
              <a:t>프로그래밍</a:t>
            </a:r>
            <a:endParaRPr lang="en-US" sz="1050" dirty="0"/>
          </a:p>
        </p:txBody>
      </p:sp>
      <p:sp>
        <p:nvSpPr>
          <p:cNvPr id="6" name="Text 4"/>
          <p:cNvSpPr/>
          <p:nvPr/>
        </p:nvSpPr>
        <p:spPr>
          <a:xfrm>
            <a:off x="502920" y="1408176"/>
            <a:ext cx="11155680" cy="1335024"/>
          </a:xfrm>
          <a:prstGeom prst="rect">
            <a:avLst/>
          </a:prstGeom>
          <a:solidFill>
            <a:srgbClr val="F8FAFC"/>
          </a:solidFill>
          <a:ln w="7620">
            <a:solidFill>
              <a:srgbClr val="E5E7EB"/>
            </a:solidFill>
          </a:ln>
        </p:spPr>
        <p:txBody>
          <a:bodyPr wrap="square" lIns="1270" tIns="1270" rIns="1270" bIns="1270" rtlCol="0" anchor="t">
            <a:normAutofit/>
          </a:bodyPr>
          <a:lstStyle/>
          <a:p>
            <a:pPr indent="0" marL="0">
              <a:buNone/>
            </a:pPr>
            <a:r>
              <a:rPr lang="en-US" sz="1400" dirty="0">
                <a:solidFill>
                  <a:srgbClr val="111827"/>
                </a:solidFill>
                <a:latin typeface="Malgun Gothic" pitchFamily="34" charset="0"/>
                <a:ea typeface="Malgun Gothic" pitchFamily="34" charset="-122"/>
                <a:cs typeface="Malgun Gothic" pitchFamily="34" charset="-120"/>
              </a:rPr>
              <a:t>C: 10, 11, 18, 19, 32, 34, 36, 38, 45, 46, 47, 55, 61, 72</a:t>
            </a:r>
            <a:endParaRPr lang="en-US" sz="1400" dirty="0"/>
          </a:p>
          <a:p>
            <a:pPr indent="0" marL="0">
              <a:buNone/>
            </a:pPr>
            <a:r>
              <a:rPr lang="en-US" sz="1400" dirty="0">
                <a:solidFill>
                  <a:srgbClr val="111827"/>
                </a:solidFill>
                <a:latin typeface="Malgun Gothic" pitchFamily="34" charset="0"/>
                <a:ea typeface="Malgun Gothic" pitchFamily="34" charset="-122"/>
                <a:cs typeface="Malgun Gothic" pitchFamily="34" charset="-120"/>
              </a:rPr>
              <a:t>Java: 5, 13, 16, 20, 25, 29, 30, 35, 48, 52, 57, 67, 77</a:t>
            </a:r>
            <a:endParaRPr lang="en-US" sz="1400" dirty="0"/>
          </a:p>
          <a:p>
            <a:pPr indent="0" marL="0">
              <a:buNone/>
            </a:pPr>
            <a:r>
              <a:rPr lang="en-US" sz="1400" dirty="0">
                <a:solidFill>
                  <a:srgbClr val="111827"/>
                </a:solidFill>
                <a:latin typeface="Malgun Gothic" pitchFamily="34" charset="0"/>
                <a:ea typeface="Malgun Gothic" pitchFamily="34" charset="-122"/>
                <a:cs typeface="Malgun Gothic" pitchFamily="34" charset="-120"/>
              </a:rPr>
              <a:t>Python: 17, 37, 49, 68, 73, 74</a:t>
            </a:r>
            <a:endParaRPr lang="en-US" sz="1400" dirty="0"/>
          </a:p>
        </p:txBody>
      </p:sp>
      <p:sp>
        <p:nvSpPr>
          <p:cNvPr id="7" name="Text 5"/>
          <p:cNvSpPr/>
          <p:nvPr/>
        </p:nvSpPr>
        <p:spPr>
          <a:xfrm>
            <a:off x="502920" y="2926080"/>
            <a:ext cx="11155680" cy="310896"/>
          </a:xfrm>
          <a:prstGeom prst="rect">
            <a:avLst/>
          </a:prstGeom>
          <a:solidFill>
            <a:srgbClr val="F8FAFC"/>
          </a:solidFill>
          <a:ln w="7620">
            <a:solidFill>
              <a:srgbClr val="E5E7EB"/>
            </a:solidFill>
          </a:ln>
        </p:spPr>
        <p:txBody>
          <a:bodyPr wrap="square" lIns="1016" tIns="1016" rIns="1016" bIns="1016" rtlCol="0" anchor="t">
            <a:normAutofit/>
          </a:bodyPr>
          <a:lstStyle/>
          <a:p>
            <a:pPr indent="0" marL="0">
              <a:buNone/>
            </a:pPr>
            <a:r>
              <a:rPr lang="en-US" sz="1050" b="1" dirty="0">
                <a:solidFill>
                  <a:srgbClr val="111827"/>
                </a:solidFill>
                <a:latin typeface="Malgun Gothic" pitchFamily="34" charset="0"/>
                <a:ea typeface="Malgun Gothic" pitchFamily="34" charset="-122"/>
                <a:cs typeface="Malgun Gothic" pitchFamily="34" charset="-120"/>
              </a:rPr>
              <a:t>SQL / DB / 관계대수</a:t>
            </a:r>
            <a:endParaRPr lang="en-US" sz="1050" dirty="0"/>
          </a:p>
        </p:txBody>
      </p:sp>
      <p:sp>
        <p:nvSpPr>
          <p:cNvPr id="8" name="Text 6"/>
          <p:cNvSpPr/>
          <p:nvPr/>
        </p:nvSpPr>
        <p:spPr>
          <a:xfrm>
            <a:off x="502920" y="3236976"/>
            <a:ext cx="11155680" cy="466344"/>
          </a:xfrm>
          <a:prstGeom prst="rect">
            <a:avLst/>
          </a:prstGeom>
          <a:solidFill>
            <a:srgbClr val="F8FAFC"/>
          </a:solidFill>
          <a:ln w="7620">
            <a:solidFill>
              <a:srgbClr val="E5E7EB"/>
            </a:solidFill>
          </a:ln>
        </p:spPr>
        <p:txBody>
          <a:bodyPr wrap="square" lIns="1270" tIns="1270" rIns="1270" bIns="1270" rtlCol="0" anchor="t">
            <a:normAutofit/>
          </a:bodyPr>
          <a:lstStyle/>
          <a:p>
            <a:pPr indent="0" marL="0">
              <a:buNone/>
            </a:pPr>
            <a:r>
              <a:rPr lang="en-US" sz="1400" dirty="0">
                <a:solidFill>
                  <a:srgbClr val="111827"/>
                </a:solidFill>
                <a:latin typeface="Malgun Gothic" pitchFamily="34" charset="0"/>
                <a:ea typeface="Malgun Gothic" pitchFamily="34" charset="-122"/>
                <a:cs typeface="Malgun Gothic" pitchFamily="34" charset="-120"/>
              </a:rPr>
              <a:t>7, 21, 22, 40, 50, 54, 60, 63, 69, 70, 78</a:t>
            </a:r>
            <a:endParaRPr lang="en-US" sz="1400" dirty="0"/>
          </a:p>
        </p:txBody>
      </p:sp>
      <p:sp>
        <p:nvSpPr>
          <p:cNvPr id="9" name="Text 7"/>
          <p:cNvSpPr/>
          <p:nvPr/>
        </p:nvSpPr>
        <p:spPr>
          <a:xfrm>
            <a:off x="502920" y="3886200"/>
            <a:ext cx="11155680" cy="310896"/>
          </a:xfrm>
          <a:prstGeom prst="rect">
            <a:avLst/>
          </a:prstGeom>
          <a:solidFill>
            <a:srgbClr val="F8FAFC"/>
          </a:solidFill>
          <a:ln w="7620">
            <a:solidFill>
              <a:srgbClr val="E5E7EB"/>
            </a:solidFill>
          </a:ln>
        </p:spPr>
        <p:txBody>
          <a:bodyPr wrap="square" lIns="1016" tIns="1016" rIns="1016" bIns="1016" rtlCol="0" anchor="t">
            <a:normAutofit/>
          </a:bodyPr>
          <a:lstStyle/>
          <a:p>
            <a:pPr indent="0" marL="0">
              <a:buNone/>
            </a:pPr>
            <a:r>
              <a:rPr lang="en-US" sz="1050" b="1" dirty="0">
                <a:solidFill>
                  <a:srgbClr val="111827"/>
                </a:solidFill>
                <a:latin typeface="Malgun Gothic" pitchFamily="34" charset="0"/>
                <a:ea typeface="Malgun Gothic" pitchFamily="34" charset="-122"/>
                <a:cs typeface="Malgun Gothic" pitchFamily="34" charset="-120"/>
              </a:rPr>
              <a:t>계산·정리형 이론</a:t>
            </a:r>
            <a:endParaRPr lang="en-US" sz="1050" dirty="0"/>
          </a:p>
        </p:txBody>
      </p:sp>
      <p:sp>
        <p:nvSpPr>
          <p:cNvPr id="10" name="Text 8"/>
          <p:cNvSpPr/>
          <p:nvPr/>
        </p:nvSpPr>
        <p:spPr>
          <a:xfrm>
            <a:off x="502920" y="4197096"/>
            <a:ext cx="11155680" cy="557784"/>
          </a:xfrm>
          <a:prstGeom prst="rect">
            <a:avLst/>
          </a:prstGeom>
          <a:solidFill>
            <a:srgbClr val="F8FAFC"/>
          </a:solidFill>
          <a:ln w="7620">
            <a:solidFill>
              <a:srgbClr val="E5E7EB"/>
            </a:solidFill>
          </a:ln>
        </p:spPr>
        <p:txBody>
          <a:bodyPr wrap="square" lIns="1270" tIns="1270" rIns="1270" bIns="1270" rtlCol="0" anchor="t">
            <a:normAutofit/>
          </a:bodyPr>
          <a:lstStyle/>
          <a:p>
            <a:pPr indent="0" marL="0">
              <a:buNone/>
            </a:pPr>
            <a:r>
              <a:rPr lang="en-US" sz="1400" dirty="0">
                <a:solidFill>
                  <a:srgbClr val="111827"/>
                </a:solidFill>
                <a:latin typeface="Malgun Gothic" pitchFamily="34" charset="0"/>
                <a:ea typeface="Malgun Gothic" pitchFamily="34" charset="-122"/>
                <a:cs typeface="Malgun Gothic" pitchFamily="34" charset="-120"/>
              </a:rPr>
              <a:t>3, 9, 12, 15, 24, 26, 31, 33, 42, 44, 58, 59, 62, 64, 66, 71, 75, 79, 80</a:t>
            </a:r>
            <a:endParaRPr lang="en-US" sz="1400" dirty="0"/>
          </a:p>
        </p:txBody>
      </p:sp>
      <p:sp>
        <p:nvSpPr>
          <p:cNvPr id="11" name="Text 9"/>
          <p:cNvSpPr/>
          <p:nvPr/>
        </p:nvSpPr>
        <p:spPr>
          <a:xfrm>
            <a:off x="502920" y="4983480"/>
            <a:ext cx="11155680" cy="310896"/>
          </a:xfrm>
          <a:prstGeom prst="rect">
            <a:avLst/>
          </a:prstGeom>
          <a:solidFill>
            <a:srgbClr val="FFFFFF"/>
          </a:solidFill>
          <a:ln w="7620">
            <a:solidFill>
              <a:srgbClr val="E5E7EB"/>
            </a:solidFill>
          </a:ln>
        </p:spPr>
        <p:txBody>
          <a:bodyPr wrap="square" lIns="1016" tIns="1016" rIns="1016" bIns="1016" rtlCol="0" anchor="t">
            <a:normAutofit/>
          </a:bodyPr>
          <a:lstStyle/>
          <a:p>
            <a:pPr indent="0" marL="0">
              <a:buNone/>
            </a:pPr>
            <a:r>
              <a:rPr lang="en-US" sz="1050" b="1" dirty="0">
                <a:solidFill>
                  <a:srgbClr val="111827"/>
                </a:solidFill>
                <a:latin typeface="Malgun Gothic" pitchFamily="34" charset="0"/>
                <a:ea typeface="Malgun Gothic" pitchFamily="34" charset="-122"/>
                <a:cs typeface="Malgun Gothic" pitchFamily="34" charset="-120"/>
              </a:rPr>
              <a:t>자료 사용 방법</a:t>
            </a:r>
            <a:endParaRPr lang="en-US" sz="1050" dirty="0"/>
          </a:p>
        </p:txBody>
      </p:sp>
      <p:sp>
        <p:nvSpPr>
          <p:cNvPr id="12" name="Text 10"/>
          <p:cNvSpPr/>
          <p:nvPr/>
        </p:nvSpPr>
        <p:spPr>
          <a:xfrm>
            <a:off x="502920" y="5294376"/>
            <a:ext cx="11155680" cy="923544"/>
          </a:xfrm>
          <a:prstGeom prst="rect">
            <a:avLst/>
          </a:prstGeom>
          <a:solidFill>
            <a:srgbClr val="FFFFFF"/>
          </a:solidFill>
          <a:ln w="7620">
            <a:solidFill>
              <a:srgbClr val="E5E7EB"/>
            </a:solidFill>
          </a:ln>
        </p:spPr>
        <p:txBody>
          <a:bodyPr wrap="square" lIns="1270" tIns="1270" rIns="1270" bIns="1270" rtlCol="0" anchor="t">
            <a:normAutofit/>
          </a:bodyPr>
          <a:lstStyle/>
          <a:p>
            <a:pPr indent="0" marL="0">
              <a:buNone/>
            </a:pPr>
            <a:r>
              <a:rPr lang="en-US" sz="1400" dirty="0">
                <a:solidFill>
                  <a:srgbClr val="111827"/>
                </a:solidFill>
                <a:latin typeface="Malgun Gothic" pitchFamily="34" charset="0"/>
                <a:ea typeface="Malgun Gothic" pitchFamily="34" charset="-122"/>
                <a:cs typeface="Malgun Gothic" pitchFamily="34" charset="-120"/>
              </a:rPr>
              <a:t>1회독: 문제 조건과 풀이 흐름을 같이 읽는다.</a:t>
            </a:r>
            <a:endParaRPr lang="en-US" sz="1400" dirty="0"/>
          </a:p>
          <a:p>
            <a:pPr indent="0" marL="0">
              <a:buNone/>
            </a:pPr>
            <a:r>
              <a:rPr lang="en-US" sz="1400" dirty="0">
                <a:solidFill>
                  <a:srgbClr val="111827"/>
                </a:solidFill>
                <a:latin typeface="Malgun Gothic" pitchFamily="34" charset="0"/>
                <a:ea typeface="Malgun Gothic" pitchFamily="34" charset="-122"/>
                <a:cs typeface="Malgun Gothic" pitchFamily="34" charset="-120"/>
              </a:rPr>
              <a:t>2회독: 정답을 가리고 중간 계산만 직접 재현한다.</a:t>
            </a:r>
            <a:endParaRPr lang="en-US" sz="1400" dirty="0"/>
          </a:p>
          <a:p>
            <a:pPr indent="0" marL="0">
              <a:buNone/>
            </a:pPr>
            <a:r>
              <a:rPr lang="en-US" sz="1400" dirty="0">
                <a:solidFill>
                  <a:srgbClr val="111827"/>
                </a:solidFill>
                <a:latin typeface="Malgun Gothic" pitchFamily="34" charset="0"/>
                <a:ea typeface="Malgun Gothic" pitchFamily="34" charset="-122"/>
                <a:cs typeface="Malgun Gothic" pitchFamily="34" charset="-120"/>
              </a:rPr>
              <a:t>3회독: 같은 유형에서 바뀔 수 있는 값, 연산자, 조인 조건만 바꾸어 다시 푼다.</a:t>
            </a:r>
            <a:endParaRPr lang="en-US" sz="1400" dirty="0"/>
          </a:p>
        </p:txBody>
      </p:sp>
      <p:sp>
        <p:nvSpPr>
          <p:cNvPr id="13" name="Text 11"/>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목차</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914400"/>
            <a:ext cx="10972800" cy="594360"/>
          </a:xfrm>
          <a:prstGeom prst="rect">
            <a:avLst/>
          </a:prstGeom>
          <a:noFill/>
          <a:ln/>
        </p:spPr>
        <p:txBody>
          <a:bodyPr wrap="square" lIns="0" tIns="0" rIns="0" bIns="0" rtlCol="0" anchor="t">
            <a:normAutofit/>
          </a:bodyPr>
          <a:lstStyle/>
          <a:p>
            <a:pPr indent="0" marL="0">
              <a:buNone/>
            </a:pPr>
            <a:r>
              <a:rPr lang="en-US" sz="3000" b="1" dirty="0">
                <a:solidFill>
                  <a:srgbClr val="111827"/>
                </a:solidFill>
                <a:latin typeface="Malgun Gothic" pitchFamily="34" charset="0"/>
                <a:ea typeface="Malgun Gothic" pitchFamily="34" charset="-122"/>
                <a:cs typeface="Malgun Gothic" pitchFamily="34" charset="-120"/>
              </a:rPr>
              <a:t>C 언어 출력 추적</a:t>
            </a:r>
            <a:endParaRPr lang="en-US" sz="3000" dirty="0"/>
          </a:p>
        </p:txBody>
      </p:sp>
      <p:sp>
        <p:nvSpPr>
          <p:cNvPr id="3" name="Text 1"/>
          <p:cNvSpPr/>
          <p:nvPr/>
        </p:nvSpPr>
        <p:spPr>
          <a:xfrm>
            <a:off x="658368" y="1691640"/>
            <a:ext cx="10972800" cy="411480"/>
          </a:xfrm>
          <a:prstGeom prst="rect">
            <a:avLst/>
          </a:prstGeom>
          <a:noFill/>
          <a:ln/>
        </p:spPr>
        <p:txBody>
          <a:bodyPr wrap="square" lIns="0" tIns="0" rIns="0" bIns="0" rtlCol="0" anchor="t">
            <a:normAutofit/>
          </a:bodyPr>
          <a:lstStyle/>
          <a:p>
            <a:pPr indent="0" marL="0">
              <a:buNone/>
            </a:pPr>
            <a:r>
              <a:rPr lang="en-US" sz="1700" dirty="0">
                <a:solidFill>
                  <a:srgbClr val="4B5563"/>
                </a:solidFill>
                <a:latin typeface="Malgun Gothic" pitchFamily="34" charset="0"/>
                <a:ea typeface="Malgun Gothic" pitchFamily="34" charset="-122"/>
                <a:cs typeface="Malgun Gothic" pitchFamily="34" charset="-120"/>
              </a:rPr>
              <a:t>포인터, 구조체, 배열, 연결 리스트, 비트 연산을 중심으로 풀이합니다.</a:t>
            </a:r>
            <a:endParaRPr lang="en-US" sz="1700" dirty="0"/>
          </a:p>
        </p:txBody>
      </p:sp>
      <p:sp>
        <p:nvSpPr>
          <p:cNvPr id="4" name="Text 2"/>
          <p:cNvSpPr/>
          <p:nvPr/>
        </p:nvSpPr>
        <p:spPr>
          <a:xfrm>
            <a:off x="731520" y="2743200"/>
            <a:ext cx="10789920" cy="2377440"/>
          </a:xfrm>
          <a:prstGeom prst="rect">
            <a:avLst/>
          </a:prstGeom>
          <a:solidFill>
            <a:srgbClr val="F9FAFB"/>
          </a:solidFill>
          <a:ln w="7620">
            <a:solidFill>
              <a:srgbClr val="E5E7EB"/>
            </a:solidFill>
          </a:ln>
        </p:spPr>
        <p:txBody>
          <a:bodyPr wrap="square" lIns="2540" tIns="2540" rIns="2540" bIns="2540" rtlCol="0" anchor="t">
            <a:normAutofit/>
          </a:bodyPr>
          <a:lstStyle/>
          <a:p>
            <a:pPr indent="0" marL="0">
              <a:buNone/>
            </a:pPr>
            <a:r>
              <a:rPr lang="en-US" sz="1600" dirty="0">
                <a:solidFill>
                  <a:srgbClr val="111827"/>
                </a:solidFill>
                <a:latin typeface="Malgun Gothic" pitchFamily="34" charset="0"/>
                <a:ea typeface="Malgun Gothic" pitchFamily="34" charset="-122"/>
                <a:cs typeface="Malgun Gothic" pitchFamily="34" charset="-120"/>
              </a:rPr>
              <a:t>• 배열과 포인터는 “현재 주소가 어디를 가리키는가”를 표로 적는다.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구조체 대입은 필드 값 전체가 복사된다. 포인터가 복사되는지 값이 복사되는지 구분한다.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문자 출력은 ASCII 차이, 문자열 포인터 이동, 널 문자 위치를 함께 확인한다.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비트 연산은 2진수 또는 16진수로 바꾸면 실수가 줄어든다.</a:t>
            </a:r>
            <a:endParaRPr lang="en-US" sz="1600" dirty="0"/>
          </a:p>
        </p:txBody>
      </p:sp>
      <p:sp>
        <p:nvSpPr>
          <p:cNvPr id="5" name="Text 3"/>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C 언어 출력 추적</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Q10 C | 문자 배열 삽입과 ASCII 차이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#include &lt;stdio.h&gt;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char Data[5] = {'B', 'A', 'D', 'E'};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char c;</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int main(){</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i, temp, temp2;</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c = 'C';</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printf("%d</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Data[3]-Data[1]);</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for(i=0;i&lt;5;++i){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if(Data[i]&gt;c)</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break;</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temp = Data[i];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Data[i] = c;</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for(;i&lt;5;++i){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temp2 = Data[i];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Data[i] = temp;</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Q10 C | 문자 배열 삽입과 ASCII 차이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  temp = temp2;</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for(i=0;i&lt;5;i++){</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printf("%c", Data[i]);</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Q10 C | 문자 배열 삽입과 ASCII 차이</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전역 char 배열은 남는 마지막 칸이 으로 초기화된다: B, A, D, E, .</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첫 출력은 Data[3] - Data[1] = E - A = 69 - 65 = 4.</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c는 C. 배열을 앞에서부터 보며 C보다 큰 첫 문자를 찾는다. B, A는 통과, D에서 중단한다.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D 위치에 C를 넣고, 기존 D와 E를 오른쪽으로 한 칸씩 민다.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최종 배열은 B A C D E가 된다.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초기 Data는 B, A, D, E, 이다. 전역 배열이므로 부족한 마지막 원소는 널 문자로 초기화된다.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첫 출력: Data[3]은 E, Data[1]은 A다. ASCII 값은 E=69, A=65이므로 차이는 4다.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for문은 C보다 큰 첫 문자를 찾는다. B는 C보다 작고, A도 C보다 작다. D는 C보다 크므로 i=2에서 break한다.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temp=Data[2]=D, Data[2]=C가 되어 배열은 B,A,C,E,가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다음 for문에서 i=3부터 기존 값을 오른쪽으로 밀어 넣는다. i=3에서 E를 temp2에 보관하고 Data[3]=D. temp=E.</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i=4에서 을 temp2에 보관하고 Data[4]=E. temp=.</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최종 배열은 B,A,C,D,E다.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출력은 첫 줄 4, 다음 줄 BACDE다.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4</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BACDE</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Q11 C | 2차원 동적 배열 매핑 + 교대 부호 합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#include &lt;stdio.h&gt;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#include &lt;stdlib.h&gt;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void set(int** arr, int* data, int rows, int cols)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for (int i = 0; i &lt; rows * cols; ++i)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arr[((i + 1) / rows) % rows][(i + 1) % cols] = data[i];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int main()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rows = 3, cols = 3, sum = 0;</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data[] = {5, 2, 7, 4, 1, 8, 3, 6, 9};</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arr;</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arr = (int**) malloc(sizeof(int*) * rows);</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for (int i = 0; i &lt; cols; i++)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arr[i] = (int*) malloc(sizeof(int) * cols);</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set(arr, data, rows, cols);</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for (int i = 0; i &lt; rows * cols; i++)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sum += arr[i / rows][i % cols] * (i % 2 == 0 ? 1 : -1);</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Q11 C | 2차원 동적 배열 매핑 + 교대 부호 합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for(int i=0; i&lt;rows; i++) free(arr[i]);</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free(arr);</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printf("%d", sum);</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Q11 C | 2차원 동적 배열 매핑 + 교대 부호 합</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set()의 위치는 row=((i+1)/3)%3, col=(i+1)%3이다.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data가 채워진 결과: [9,5,2] / [7,4,1] / [8,3,6].</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합산은 row-major 순서이며 i가 짝수면 +, 홀수면 -를 적용한다.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9-5+2-7+4-1+8-3+6 = 13.</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malloc/free 자체는 출력값에 직접 영향을 주지 않는다.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핵심은 data가 arr의 어느 위치에 들어가는지 표로 추적하는 것이다.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i=0 -&gt; row=((1)/3)%3=0, col=1 =&gt; arr[0][1]=5</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i=1 -&gt; row=0, col=2 =&gt; arr[0][2]=2</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i=2 -&gt; row=1, col=0 =&gt; arr[1][0]=7</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i=3 -&gt; row=1, col=1 =&gt; arr[1][1]=4</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i=4 -&gt; row=1, col=2 =&gt; arr[1][2]=1</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i=5 -&gt; row=2, col=0 =&gt; arr[2][0]=8</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i=6 -&gt; row=2, col=1 =&gt; arr[2][1]=3</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i=7 -&gt; row=2, col=2 =&gt; arr[2][2]=6</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i=8 -&gt; row=0, col=0 =&gt; arr[0][0]=9</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최종 배열은 [9,5,2] / [7,4,1] / [8,3,6]이다.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합산은 row-major 순서로 + - + - + - + - +를 적용한다.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계산: 9-5+2-7+4-1+8-3+6 = 13.</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13</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Q18 C | 단일 연결 리스트 재연결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#include &lt;stdio.h&gt;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#include &lt;stdlib.h&gt;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typedef struct Data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value;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struct Data *next;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Data;</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Data* insert(Data* head, int value)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Data* new_node = (Data*)malloc(sizeof(Data));</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new_node-&gt;value = value;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new_node-&gt;next = head;</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new_node;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Data* reconnect(Data* head, int value)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if (head == NULL || head-&gt;value == value) return head;</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Data *prev = NULL, *curr = head;</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while (curr != NULL &amp;&amp; curr-&gt;value != value)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prev = curr;</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curr = curr-&gt;next;</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Q18 C | 단일 연결 리스트 재연결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if (curr != NULL &amp;&amp; prev != NULL)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prev-&gt;next = curr-&gt;next;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curr-&gt;next = head;</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head = curr;</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head;</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int main()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Data *head = NULL, *curr;</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for (int i = 1; i &lt;= 5; 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head = insert(head, 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head = reconnect(head, 3);</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for (curr = head; curr != NULL; curr = curr-&gt;next)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printf("%d", curr-&gt;value);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0;</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Q18 C | 단일 연결 리스트 재연결</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insert는 새 노드를 항상 head 앞에 붙인다.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1부터 5까지 삽입하면 리스트는 5 → 4 → 3 → 2 → 1이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reconnect(head, 3)은 값 3인 노드를 찾아 기존 위치에서 떼어낸다.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이전 노드 4의 next를 2로 바꾸고, 3의 next를 기존 head인 5로 바꾼다.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새 head는 3이므로 3 → 5 → 4 → 2 → 1 순서로 출력된다.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insert는 새 노드를 head 앞에 붙인다. for문이 1부터 5까지 돌면 리스트는 5-&gt;4-&gt;3-&gt;2-&gt;1이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reconnect(head,3)은 값이 3인 노드를 찾아 맨 앞으로 이동한다.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탐색 중 prev는 4, curr는 3이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prev-&gt;next = curr-&gt;next 실행 후 4의 다음은 2가 되어 기존 3이 리스트에서 빠진다.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curr-&gt;next = head 실행 후 3의 다음은 기존 head인 5가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head = curr로 갱신하면 리스트는 3-&gt;5-&gt;4-&gt;2-&gt;1이다.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순회 출력은 35421이다.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35421</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Q19 C | 구조체 배열 + 16진수 AND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#include &lt;stdio.h&gt;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typedef struct student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char* name;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score[3];</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Student;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int dec(int enc)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enc &amp; 0xA5;</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int sum(Student* p)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dec(p-&gt;score[0]) + dec(p-&gt;score[1]) + dec(p-&gt;score[2]);</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int main()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Student s[2] = { "Kim", {0xA0, 0xA5, 0xDB}, "Lee", {0xA0, 0xED, 0x81}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Student* p = s;</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result = 0;</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for (int i = 0; i &lt; 2; i++)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result += sum(&amp;s[i]);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Q19 C | 구조체 배열 + 16진수 AND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 printf("%d", result);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Q19</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Q19 C | 구조체 배열 + 16진수 AND</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dec(x)는 x와 0xA5를 비트 AND한다.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Kim: 0xA0&amp;0xA5=160, 0xA5&amp;0xA5=165, 0xDB&amp;0xA5=129 → 합 454.</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Lee: 0xA0&amp;0xA5=160, 0xED&amp;0xA5=165, 0x81&amp;0xA5=129 → 합 454.</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전체 result = 454 + 454 = 908.</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Student* p = s는 선언만 되어 있고 실제 계산에는 쓰이지 않는다.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dec(enc)는 enc &amp; 0xA5이다. 16진수 AND를 각 점수에 적용한다.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Kim: 0xA0 &amp; 0xA5 = 0xA0 = 160, 0xA5 &amp; 0xA5 = 0xA5 = 165, 0xDB &amp; 0xA5 = 0x81</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 129.</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Kim 합계 = 160+165+129 = 454.</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Lee: 0xA0 &amp; 0xA5 = 160, 0xED &amp; 0xA5 = 0xA5 = 165, 0x81 &amp; 0xA5 = 0x81 = 129.</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Lee 합계 = 454.</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전체 result = 454 + 454 = 908.</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AND 연산은 두 비트가 모두 1인 자리만 남긴다.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908</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Q19</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Q32 C | 원형 큐 enqueue/dequeue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#include &lt;stdio.h&gt;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#define SIZE 3</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typedef struct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a[SIZE];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front;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rear;</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Queue;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void enq(Queue* q, int val){</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q-&gt;a[q-&gt;rear] = val;</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q-&gt;rear = (q-&gt;rear + 1) % SIZE;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int deq(Queue* q)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val = q-&gt;a[q-&gt;front];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q-&gt;front = (q-&gt;front + 1) % SIZE;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val;</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int main()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Queue q = {{0}, 0, 0};</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Q32 C | 원형 큐 enqueue/dequeue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 enq(&amp;q,1); enq(&amp;q,2); deq(&amp;q); enq(&amp;q, 3);</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first = deq(&amp;q);</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second = deq(&amp;q);</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printf("%d 그리고 %d", first, second);</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Q32</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Q32 C | 원형 큐 enqueue/dequeue</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초기 front=0, rear=0.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enq(1): a[0]=1, rear=1. enq(2): a[1]=2, rear=2.</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deq(): a[0]의 1을 꺼내고 front=1.</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enq(3): a[2]=3, rear=(2+1)%3=0.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first=deq()는 a[1]의 2, second=deq()는 a[2]의 3이다.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Queue 크기는 3이고 rear/front는 원형으로 움직인다.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초기 front=0, rear=0, 배열=[0,0,0].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enq(1): a[0]=1, rear=1.</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enq(2): a[1]=2, rear=2.</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deq(): front=0의 값 1을 꺼내고 front=1.</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enq(3): a[2]=3, rear=(2+1)%3=0.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first=deq(): front=1의 값 2, front=2.</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second=deq(): front=2의 값 3, front=0.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출력 형식까지 포함하면 2 그리고 3이다.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2 그리고 3</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Q32</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Q34 C | 구조체 배열 대입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#include &lt;stdio.h&gt;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struct dat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x;</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y;</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int main()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struct dat a[] = {{1, 2}, {3, 4}, {5, 6}};</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struct dat* ptr = a;</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struct dat** pptr = &amp;ptr;</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(*pptr)[1] = (*pptr)[2];</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printf("%d 그리고 %d", a[1].x, a[1].y);</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Q34</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Q34 C | 구조체 배열 대입</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ptr은 배열 a의 첫 원소 주소를 가리킨다.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pptr은 ptr 변수의 주소다. 따라서 *pptr은 ptr과 같다.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(*pptr)[1]은 a[1], (*pptr)[2]는 a[2]이다.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구조체 대입은 필드 전체를 복사한다.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a[1]이 a[2]의 값 {5,6}으로 바뀐다.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 배열은 {{1,2},{3,4},{5,6}}이다.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ptr은 a[0]을 가리키고, pptr은 ptr 변수의 주소를 가진다.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(*pptr)은 ptr과 같으므로 a 배열의 첫 원소 주소다.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(*pptr)[1]은 a[1], (*pptr)[2]는 a[2]다.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구조체 대입 (*pptr)[1] = (*pptr)[2]는 a[2]의 x,y 값을 a[1]에 복사한다.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a[1]은 {5,6}이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a[1].x=5, a[1].y=6이다.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5 그리고 6</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Q36 C | 연결 포인터 재설정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#include &lt;stdio.h&gt;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#include &lt;stdlib.h&gt;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struct node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p;</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struct node* n;</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int main()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struct node a = {1, NULL};</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struct node b = {2, NULL};</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struct node c = {3, NULL};</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a.n = &amp;b; b.n = &amp;c; c.n = NULL;</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c.n = &amp;a; a.n = &amp;b; b.n = NULL;</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struct node* head = &amp;c;</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printf("%d %d %d", head-&gt;p, head-&gt;n-&gt;p, head-&gt;n-&gt;n-&gt;p);</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Q36 C | 연결 포인터 재설정</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첫 연결은 a→b→c지만, 이후 다시 연결이 덮어써진다.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최종 연결은 c.n=&amp;a, a.n=&amp;b, b.n=NULL이다.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head는 c를 가리킨다.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head-&gt;p = 3, head-&gt;n-&gt;p = a.p = 1, head-&gt;n-&gt;n-&gt;p = b.p = 2.</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중간에 만들어진 a→b→c 연결은 최종 포인터 대입으로 의미가 사라진다.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처음 a-&gt;b-&gt;c 형태를 만든 뒤, 다시 c.n=&amp;a, a.n=&amp;b, b.n=NULL로 바꾼다.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최종 연결은 c -&gt; a -&gt; b -&gt; NULL이다.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head=&amp;c이므로 head-&gt;p는 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head-&gt;n은 a이므로 head-&gt;n-&gt;p는 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head-&gt;n-&gt;n은 b이므로 head-&gt;n-&gt;n-&gt;p는 2다.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출력 형식은 3 1 2이다.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3 1 2</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Q38 C | 문자열을 연결 리스트 스택처럼 뒤집기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#include &lt;stdio.h&gt;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#include &lt;stdlib.h&gt;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struct node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char c;</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struct node* p;</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struct node* func(char* s)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struct node* h = NULL, *n;</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while(*s)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n = malloc(sizeof(struct node));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n-&gt;c = *s++;</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n-&gt;p = h;</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h = n;</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h;</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int main()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struct node* n = func("BEST");</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Q38</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Q38 C | 문자열을 연결 리스트 스택처럼 뒤집기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 while(n)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putchar(n-&gt;c);</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struct node* t = n;</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n = n-&gt;p;</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free(t);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Q38</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Q38 C | 문자열을 연결 리스트 스택처럼 뒤집기</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func는 문자를 읽을 때마다 새 노드를 head 앞에 붙인다.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B 삽입: B, E 삽입: E→B, S 삽입: S→E→B, T 삽입: T→S→E→B.</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반환된 head는 T를 가리킨다.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while문은 head부터 next(p)를 따라가며 문자만 출력한다.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따라서 원 문자열 BEST가 역순 TSEB로 출력된다.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func("BEST")는 문자를 읽을 때마다 새 노드를 head 앞에 붙인다.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B를 넣으면 B.</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E를 앞에 넣으면 E-&gt;B.</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S를 앞에 넣으면 S-&gt;E-&gt;B.</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T를 앞에 넣으면 T-&gt;S-&gt;E-&gt;B.</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반환된 head부터 출력하면 TSEB가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이 구조는 연결 리스트를 스택처럼 사용해 문자열을 뒤집는 전형적인 패턴이다.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TSEB</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Q38</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Q45 C | 구조체 포인터와 문자열 포인터 이동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#include &lt;stdio.h&gt;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struct Test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i;</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const char *g;</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int main()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struct Test test[] = {{1, "AB"}, {2, "DC"}, {3, "EB"}};</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struct Test *p = &amp;test[1];</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printf("%s", p-&gt;g + (p-&gt;i - 1));</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Q45 C | 구조체 포인터와 문자열 포인터 이동</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p는 test[1]을 가리키므로 p-&gt;i는 2, p-&gt;g는 문자열 "DC"의 시작 주소다.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p-&gt;i - 1 = 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p-&gt;g + 1은 "DC"의 두 번째 문자 C 위치를 가리킨다.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%s는 해당 주소부터 널 문자 전까지 출력한다.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따라서 출력은 C이다.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p는 test[1]을 가리킨다. test[1]은 {2,"DC"}이다.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p-&gt;g는 문자열 "DC"의 첫 주소를 의미한다.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p-&gt;i - 1 = 2 - 1 = 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p-&gt;g + 1은 문자열 "DC"에서 두 번째 문자 C를 가리킨다.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printf("%s", p-&gt;g + 1)은 그 위치부터 널 문자 전까지 출력한다.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출력은 C다.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C</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Q45</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Q46 C | 문자열 길이와 인덱스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#include &lt;stdio.h&gt;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int main(void)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char str[] = "REPUBLICOFKOREA";</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a =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while (str[a] !=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putchar(str[a - 2]);</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Q46</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Q46 C | 문자열 길이와 인덱스</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while문이 끝났을 때 a는 문자열 길이와 같다.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"REPUBLICOFKOREA"의 길이는 15이다.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출력 위치는 str[a-2] = str[13]이다.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인덱스 12는 R, 인덱스 13은 E, 인덱스 14는 A이다.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putchar는 문자 E 하나를 출력한다.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str은 "REPUBLICOFKOREA"이다.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while문은 널 문자를 만날 때까지 a를 증가시켜 문자열 길이를 구한다.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문자열 길이는 15다.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a-2는 13이다.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인덱스 13의 문자는 E다. 마지막 문자는 A, 그 앞 문자가 E다.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putchar는 문자 하나만 출력하므로 결과는 E다.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E</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Q46</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Q47 C | 연결 리스트 순회 + 누적식 + XOR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#include &lt;stdio.h&gt;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struct Node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struct Node* next;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unsigned int x;</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int main()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struct Node t1 = { 0, 5u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struct Node t2 = { 0, 7u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struct Node t3 = { 0, 11u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t3.next = &amp;t2;</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t2.next = &amp;t1;</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struct Node* curr = &amp;t3;</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sum = 0;</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while (curr)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sum = sum * 3 + curr-&gt;x;</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curr = curr-&gt;next;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sum = (sum ^ 42u) + 100u;</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Q47</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Q47 C | 연결 리스트 순회 + 누적식 + XOR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 printf("%u</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sum);</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Q47</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Q47 C | 연결 리스트 순회 + 누적식 + XOR</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순회 순서는 t3 → t2 → t1, 값은 11, 7, 5이다.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sum=0에서 시작한다.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1회: 0*3+11=11. 2회: 11*3+7=40. 3회: 40*3+5=125.</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125 ^ 42 = 87이다. 비트 XOR은 같은 비트는 0, 다른 비트는 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최종값은 87 + 100 = 187이다.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연결 순서는 t3 -&gt; t2 -&gt; t1이다. x 값 순서는 11, 7, 5다.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sum 초기값은 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첫 번째: sum = 0*3 + 11 = 11.</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두 번째: sum = 11*3 + 7 = 40.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세 번째: sum = 40*3 + 5 = 125.</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그 다음 sum = (sum ^ 42u) + 100u를 계산한다.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125 ^ 42 = 87이다. 이진수로 서로 다른 비트가 1로 남는다.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87 + 100 = 187. printf("%u")이므로 187을 출력한다.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187</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Q47</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Q55 C | 삼항 연산자 + 비트 시프트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#include &lt;stdio.h&gt;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int main()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x=7, y=4, z;</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z = y%3&lt;3 ? 2 : 1;</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z = z &amp; z &gt;&gt; 1;</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z = x&gt;5 &amp;&amp; z&lt;=3 ? z*x : z/x;</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printf("%d", z);</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Q55</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Q55 C | 삼항 연산자 + 비트 시프트</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y%3 = 4%3 = 1이고 1&lt;3은 참이므로 z=2.</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&gt;&gt; 연산자의 우선순위가 &amp;보다 높다. z &gt;&gt; 1 = 2 &gt;&gt; 1 = 1.</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z = 2 &amp; 1 = 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x&gt;5는 참, z&lt;=3도 참이므로 조건식 전체가 참이다.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z*x = 0*7 = 0이 출력된다.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y=4이므로 y%3=1이다. 1&lt;3은 참이므로 z=2가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z = z &amp; z &gt;&gt; 1에서 &gt;&gt;가 &amp;보다 우선순위가 높다. 따라서 z &amp; (z&gt;&gt;1)이다.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2는 이진수 10, 2&gt;&gt;1은 1, 이진수 01이다.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10 &amp; 01 = 00이므로 z=0이다.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다음 식 x&gt;5 &amp;&amp; z&lt;=3은 7&gt;5 참, 0&lt;=3 참이므로 전체 참이다.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삼항식은 z*x를 선택한다. 0*7=0.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출력은 0이다.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0</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Q55</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Q61 C | 배열 평균 함수 2개 합산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#include &lt;stdio.h&gt;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double arr1(int p[], int len)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double av = 0;</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for (i = 0; i &lt; len; i++)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av += (double) p[i];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av / len;</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double arr2(int * p, int len)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double av = 0;</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for (i = 0; i &lt; len; i++)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av += (double)( * (p + i));</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av / len;</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int main() {</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Q61</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Q61 C | 배열 평균 함수 2개 합산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 int arr[10] = { 80, 20, 50, 55, 45, 95, 55, 10, 40, 80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len = 10;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printf("%.2f", arr1(arr, len) + arr2(arr, len));</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Q61</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Q61 C | 배열 평균 함수 2개 합산</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arr1(p[])와 arr2(*p)는 표현만 다르고 같은 배열을 순회한다.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배열 합은 80+20+50+55+45+95+55+10+40+80 = 530이다.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평균은 530/10 = 53.0이다.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두 함수가 같은 평균을 반환하므로 합은 106.0이다.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%.2f 형식이므로 소수 둘째 자리까지 106.00으로 출력된다.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arr1과 arr2는 둘 다 같은 배열의 평균을 구한다. 차이는 배열 표기 p[i]와 포인터 표기 *(p+i)뿐이다.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배열 합은 80+20+50+55+45+95+55+10+40+80 = 530이다.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평균은 530/10 = 53.0이다.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arr1(arr,len)=53.0, arr2(arr,len)=53.0이다.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두 값을 더하면 106.0이다.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printf("%.2f")이므로 소수점 둘째 자리까지 106.00으로 출력된다.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106.00</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Q61</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Q72 C | 함수 포인터와 16진수 출력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struct fns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(*fn)(int*);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mine;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int* dummy(int *d)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d + 1;</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int main()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struct fns mine;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n[] = {16, 32};</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mine.fn = dummy;</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printf("%x", *mine.fn(n));</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Q72</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Q72 C | 함수 포인터와 16진수 출력</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struct fns의 fn은 int*를 받아 int*를 반환하는 함수 포인터다.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mine.fn = dummy이므로 mine.fn(n)은 dummy(n)과 같다.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dummy는 d+1을 반환하므로 n[1]의 주소를 반환한다.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*mine.fn(n)은 n[1] 값인 32이다.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%x는 10진수 32를 16진수로 출력하므로 20이 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[주의 / 개념]</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원문 코드에는 printf 사용을 위한 #include &lt;stdio.h&gt;가 생략되어 있다. 출력 추적 문제에서는 형식 지정자 계산이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핵심이다.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mine.fn은 int*를 받아 int*를 반환하는 함수 포인터다.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dummy(int *d)는 d+1을 반환한다. int 포인터에서 +1은 다음 int 원소 주소로 이동한다.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n 배열은 {16,32}다.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mine.fn(n)은 dummy(n)과 같고, n+1을 반환한다.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*mine.fn(n)은 *(n+1)이므로 n[1]인 32다.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printf("%x")는 10진수 32를 16진수로 출력한다.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32의 16진수는 20이다.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20</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Q72</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914400"/>
            <a:ext cx="10972800" cy="594360"/>
          </a:xfrm>
          <a:prstGeom prst="rect">
            <a:avLst/>
          </a:prstGeom>
          <a:noFill/>
          <a:ln/>
        </p:spPr>
        <p:txBody>
          <a:bodyPr wrap="square" lIns="0" tIns="0" rIns="0" bIns="0" rtlCol="0" anchor="t">
            <a:normAutofit/>
          </a:bodyPr>
          <a:lstStyle/>
          <a:p>
            <a:pPr indent="0" marL="0">
              <a:buNone/>
            </a:pPr>
            <a:r>
              <a:rPr lang="en-US" sz="3000" b="1" dirty="0">
                <a:solidFill>
                  <a:srgbClr val="111827"/>
                </a:solidFill>
                <a:latin typeface="Malgun Gothic" pitchFamily="34" charset="0"/>
                <a:ea typeface="Malgun Gothic" pitchFamily="34" charset="-122"/>
                <a:cs typeface="Malgun Gothic" pitchFamily="34" charset="-120"/>
              </a:rPr>
              <a:t>Java 출력 추적</a:t>
            </a:r>
            <a:endParaRPr lang="en-US" sz="3000" dirty="0"/>
          </a:p>
        </p:txBody>
      </p:sp>
      <p:sp>
        <p:nvSpPr>
          <p:cNvPr id="3" name="Text 1"/>
          <p:cNvSpPr/>
          <p:nvPr/>
        </p:nvSpPr>
        <p:spPr>
          <a:xfrm>
            <a:off x="658368" y="1691640"/>
            <a:ext cx="10972800" cy="411480"/>
          </a:xfrm>
          <a:prstGeom prst="rect">
            <a:avLst/>
          </a:prstGeom>
          <a:noFill/>
          <a:ln/>
        </p:spPr>
        <p:txBody>
          <a:bodyPr wrap="square" lIns="0" tIns="0" rIns="0" bIns="0" rtlCol="0" anchor="t">
            <a:normAutofit/>
          </a:bodyPr>
          <a:lstStyle/>
          <a:p>
            <a:pPr indent="0" marL="0">
              <a:buNone/>
            </a:pPr>
            <a:r>
              <a:rPr lang="en-US" sz="1700" dirty="0">
                <a:solidFill>
                  <a:srgbClr val="4B5563"/>
                </a:solidFill>
                <a:latin typeface="Malgun Gothic" pitchFamily="34" charset="0"/>
                <a:ea typeface="Malgun Gothic" pitchFamily="34" charset="-122"/>
                <a:cs typeface="Malgun Gothic" pitchFamily="34" charset="-120"/>
              </a:rPr>
              <a:t>오버로딩/오버라이딩, 생성자 호출, 예외, 람다, static 바인딩을 분리해서 봅니다.</a:t>
            </a:r>
            <a:endParaRPr lang="en-US" sz="1700" dirty="0"/>
          </a:p>
        </p:txBody>
      </p:sp>
      <p:sp>
        <p:nvSpPr>
          <p:cNvPr id="4" name="Text 2"/>
          <p:cNvSpPr/>
          <p:nvPr/>
        </p:nvSpPr>
        <p:spPr>
          <a:xfrm>
            <a:off x="731520" y="2743200"/>
            <a:ext cx="10789920" cy="2377440"/>
          </a:xfrm>
          <a:prstGeom prst="rect">
            <a:avLst/>
          </a:prstGeom>
          <a:solidFill>
            <a:srgbClr val="F9FAFB"/>
          </a:solidFill>
          <a:ln w="7620">
            <a:solidFill>
              <a:srgbClr val="E5E7EB"/>
            </a:solidFill>
          </a:ln>
        </p:spPr>
        <p:txBody>
          <a:bodyPr wrap="square" lIns="2540" tIns="2540" rIns="2540" bIns="2540" rtlCol="0" anchor="t">
            <a:normAutofit/>
          </a:bodyPr>
          <a:lstStyle/>
          <a:p>
            <a:pPr indent="0" marL="0">
              <a:buNone/>
            </a:pPr>
            <a:r>
              <a:rPr lang="en-US" sz="1600" dirty="0">
                <a:solidFill>
                  <a:srgbClr val="111827"/>
                </a:solidFill>
                <a:latin typeface="Malgun Gothic" pitchFamily="34" charset="0"/>
                <a:ea typeface="Malgun Gothic" pitchFamily="34" charset="-122"/>
                <a:cs typeface="Malgun Gothic" pitchFamily="34" charset="-120"/>
              </a:rPr>
              <a:t>• 오버라이딩은 실행 객체의 실제 타입 기준으로 결정된다.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오버로딩은 컴파일 시점의 매개변수 타입으로 결정된다.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static 메서드는 다형성이 아니라 참조 변수의 선언 타입 기준으로 해석된다.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배열·객체 참조와 String 변수 재대입은 효과 범위가 다르다.</a:t>
            </a:r>
            <a:endParaRPr lang="en-US" sz="1600" dirty="0"/>
          </a:p>
        </p:txBody>
      </p:sp>
      <p:sp>
        <p:nvSpPr>
          <p:cNvPr id="5" name="Text 3"/>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Java 출력 추적</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 Java | 예외 처리와 finally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public class Main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static void main(String[] args)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a=5,b=0;</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try{</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System.out.print(a/b);</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}catch(ArithmeticException 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System.out.print("출력1");</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}catch(ArrayIndexOutOfBoundsException 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System.out.print("출력2");</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}catch(NumberFormatException 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System.out.print("출력3");</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}catch(Exception 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System.out.print("출력4");</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}finally{</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System.out.print("출력5");</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 Java | 예외 처리와 finally</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
- 1) a/b는 5/0이므로 ArithmeticException이 발생한다.
- 2) 가장 먼저 일치하는 catch인 ArithmeticException 블록이 실행된다.
- 3) 따라서 출력1이 먼저 출력된다.
- 4) finally 블록은 예외 처리 여부와 관계없이 실행된다.
- 5) 마지막에 출력5가 이어서 출력된다.
</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출력1출력5</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Q13 Java | 상속 생성자와 동적 바인딩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public class Main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static void main(String[] args)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new Child();</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System.out.println(Parent.total);</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class Parent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static int total = 0;</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v = 1;</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Parent()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total += (++v);</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show();</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void show()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total += total;</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class Child extends Parent {</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Q13</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Q13 Java | 상속 생성자와 동적 바인딩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 int v = 10;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Child()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v += 2;</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total += v++;</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show();</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@Override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void show()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total += total * 2;</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Q13</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Q13 Java | 상속 생성자와 동적 바인딩</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new Child()는 먼저 Parent 생성자를 실행한다.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Parent.v는 1에서 ++v로 2가 되고 total=2가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Parent 생성자 안의 show()도 동적 바인딩된다. 실제 객체는 Child이므로 Child.show()가 호출되어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total=2+4=6.</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그 뒤 Child.v=10이 초기화되고 Child 생성자에서 v+=2 → 12, total += v++ → 18이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Child.show()가 다시 실행되어 total = 18 + 36 = 54.</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new Child()를 실행하면 먼저 Parent 생성자가 실행된다.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Parent의 인스턴스 필드 v는 1로 초기화된다. Parent 생성자에서 ++v는 2가 되고 total=2가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Parent 생성자 내부의 show() 호출은 동적 바인딩 때문에 Child.show()가 실행된다. 이 시점에 Child의 필드</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초기화는 아직 끝나지 않았지만 메서드는 Child 버전이다.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Child.show(): total += total*2 이므로 total = 2 + 4 = 6.</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그 다음 Child의 필드 v=10이 초기화되고 Child 생성자 본문으로 들어간다.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v += 2 -&gt; Child.v=12.</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total += v++ -&gt; total=6+12=18, 이후 Child.v=13.</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다시 show()는 Child.show()이고 total = 18 + 36 = 54.</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Parent.total 출력값은 54다.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54</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Q13</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Q16 Java | 재귀 호출과 Math.max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public class Main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static void main(String[] args)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data = {3, 5, 8, 12, 17};</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System.out.println(func(data, 0, data.length - 1));</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static int func(int[] a, int st, int end)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if (st &gt;= end) return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mid = (st + end) / 2;</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a[mid] + Math.max(func(a, st, mid), func(a, mid + 1, end));</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Q16</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Q16 Java | 재귀 호출과 Math.max</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func(0,4): mid=2, a[2]=8이다.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왼쪽 func(0,2): mid=1, a[1]=5, 다시 func(0,1)=3, func(2,2)=0이므로</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5+max(3,0)=8.</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오른쪽 func(3,4): mid=3, a[3]=12, 양쪽 재귀는 종료되어 12가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최상위 결과는 8 + max(8,12) = 20이다.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종료 조건 st&gt;=end는 단일 구간에서 0을 반환한다.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func(data,0,4)부터 시작한다. st=0,end=4, mid=2이므로 a[2]=8을 더한다.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왼쪽 호출 func(0,2): mid=1, a[1]=5를 더한다.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func(0,1): mid=0, a[0]=3을 더한다. 하위 호출 func(0,0), func(1,1)은 0을 반환하므로 결과는 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func(2,2)는 0이므로 func(0,2)는 5 + max(3,0) = 8이다.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오른쪽 호출 func(3,4): mid=3, a[3]=12를 더한다. 하위 호출은 둘 다 0이므로 결과는 12다.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최종 결과는 8 + max(8,12) = 20이다.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재귀 문제는 호출 트리를 그리면 실수가 줄어든다.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20</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Q16</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Q20 Java | 오버로딩과 재귀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public class Main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static void main(String[] args)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System.out.println(calc("5"));</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static int calc(int value)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if (value &lt;= 1) return value;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calc(value - 1) + calc(value - 2);</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static int calc(String str)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value = Integer.valueOf(str);</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if (value &lt;= 1) return value;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calc(value - 1) + calc(value - 3);</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Q20</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Q20 Java | 오버로딩과 재귀</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main은 calc("5")를 호출하므로 처음에는 String 버전이 실행된다.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value=5이고 return calc(4)+calc(2)가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calc(4), calc(2)는 인수가 int이므로 int 버전이 호출된다.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int 버전은 피보나치 형태다. calc(4)=3, calc(2)=1.</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최종 결과는 3+1=4이다.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calc("5") 호출은 매개변수가 String이므로 calc(String str)이 선택된다.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String 버전 내부에서 value=5로 변환한다.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value &gt; 1이므로 calc(value-1) + calc(value-3) = calc(4) + calc(2)를 계산한다.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주의: 여기서 인수는 int이므로 두 호출 모두 calc(int value)로 들어간다.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calc(int)는 피보나치 형태다. calc(4)=calc(3)+calc(2)=2+1=3.</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calc(2)=calc(1)+calc(0)=1+0=1.</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calc("5") = 3 + 1 = 4다.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4</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Q20</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Q25 Java | 배열 참조와 String 재대입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public class Main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static void change(String[] data, String s){</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data[0] = s;</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 = "Z";</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static void main(String[] args)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String data[] = { "A"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String s = "B";</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change(data, s);</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System.out.print(data[0] + s);</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Q25</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Q25 Java | 배열 참조와 String 재대입</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data는 배열 객체의 참조가 전달된다.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change 안에서 data[0]=s는 원본 배열의 첫 값을 B로 바꾼다.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s="Z"는 change 메서드의 지역 변수 s만 새 문자열을 가리키게 만든다.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main의 s는 여전히 "B"이다.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data[0] + s = "B" + "B" = "BB".</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data는 String 배열 객체를 가리키는 참조다. s는 별도의 String 참조다.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change(data, s) 호출 시 배열 참조는 복사되어 넘어간다. 복사된 참조도 같은 배열 객체를 가리킨다.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data[0] = s는 배열 첫 원소를 "B"로 바꾼다. 이 변경은 원본 배열에도 반영된다.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 = "Z"는 change 메서드 안의 지역 변수 s만 새 문자열을 가리키게 바꾼다.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main의 s는 여전히 "B"다.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data[0] + s = "B" + "B" = BB다.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BB</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Q25</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Q29 Java | 람다와 예외 처리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public class Main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static interface F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apply(int x) throws Exception;</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static int run(F f)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try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f.apply(3);</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 catch (Exception 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7;</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static void main(String[] args)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F f = (x) -&gt;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if (x &gt; 2)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throw new Exception();</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x * 2;</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Q29</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Q29 Java | 람다와 예외 처리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  System.out.print(run(f) + run((int n) -&gt; n + 9));</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Q29</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Q29 Java | 람다와 예외 처리</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run(f)는 f.apply(3)을 실행한다.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첫 번째 람다는 x&gt;2이면 예외를 던진다. x=3이므로 예외 발생, catch에서 7 반환.</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두 번째 람다는 n+9를 반환한다. n=3이므로 12.</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System.out.print는 7+12를 출력한다.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람다의 throws Exception은 인터페이스 F의 apply 선언에 의해 허용된다.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F는 apply(int x)를 가진 함수형 인터페이스다.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첫 번째 run(f): f.apply(3)을 호출한다. 람다는 x&gt;2이면 Exception을 던진다. x=3이므로 예외 발생.</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run은 예외를 catch하고 7을 반환한다.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두 번째 run((int n)-&gt;n+9): n=3이 전달되고 3+9=12를 반환한다.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합은 7+12=19다.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람다 자체가 throws Exception을 가질 수 있으므로 run에서 try-catch로 처리한다.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19</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Q29</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Q30 Java | 오버라이딩과 static 메서드 숨김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public class Main{</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static class Parent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int x(int i) { return i + 2;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static String id() { return "P";}</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static class Child extends Parent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int x(int i) { return i + 3;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String x(String s) { return s + "R";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static String id() { return "C";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static void main(String[] args)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Parent ref = new Child();</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System.out.println(ref.x(2) + ref.id());</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Q30</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Q30 Java | 오버라이딩과 static 메서드 숨김</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ref의 선언 타입은 Parent지만 실제 객체는 Child이다.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x(int)는 Child에서 오버라이딩되었으므로 ref.x(2)는 Child.x(int)를 실행한다.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결과는 2+3=5이다.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id()는 static 메서드다. static은 오버라이딩이 아니라 숨김(hiding)이며 참조 타입 기준으로 결정된다.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ref.id()는 Parent.id()가 되어 P가 붙는다.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Parent ref = new Child();에서 참조 타입은 Parent, 실제 객체 타입은 Child다.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ref.x(2)는 인자가 int이고 Parent에 x(int)가 있으므로 컴파일된다.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x(int)는 Child에서 오버라이딩되었으므로 실행 시 Child.x(int)가 호출된다.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Child.x(2)는 2+3=5를 반환한다.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ref.id()에서 id는 static 메서드다. static 메서드는 오버라이딩되지 않고 숨김 처리된다.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static 메서드는 참조 변수의 선언 타입 기준으로 선택되므로 Parent.id()가 실행되어 "P"가 붙는다.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결과는 5P다.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5P</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Q30</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Q35 Java | 객체 배열과 참조 교환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public class Main{</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static class BO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int v;</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BO(int v)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this.v = v;</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static void main(String[] args)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BO a = new BO(1);</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BO b = new BO(2);</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BO c = new BO(3);</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BO[] arr = {a, b, c};</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BO t = arr[0];</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arr[0] = arr[2];</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arr[2] = 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arr[1].v = arr[0].v;</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System.out.println(a.v + "a" + b.v + "b" + c.v);</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Q35</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Q35 Java | 객체 배열과 참조 교환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Q35</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Q35 Java | 객체 배열과 참조 교환</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처음 arr은 [a, b, c]이다.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arr[0]과 arr[2]를 바꾸면 [c, b, a]가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arr[1]은 b 객체이고 arr[0]은 c 객체다.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arr[1].v = arr[0].v이므로 b.v가 c.v인 3으로 바뀐다.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a.v=1, b.v=3, c.v=3이므로 문자열 결합 결과는 1a3b3이다.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a,b,c는 각각 BO 객체를 가리킨다. 값은 a.v=1, b.v=2, c.v=3이다.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arr={a,b,c}이므로 arr[0]은 a 객체, arr[1]은 b 객체, arr[2]는 c 객체를 가리킨다.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BO t=arr[0]은 t가 a 객체를 가리키게 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arr[0]=arr[2]로 arr[0]은 c 객체를 가리킨다.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arr[2]=t로 arr[2]는 a 객체를 가리킨다.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arr[1].v = arr[0].v는 b.v = c.v를 의미하므로 b.v=3이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a.v=1, b.v=3, c.v=3이고 출력 문자열은 1a3b3이다.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1a3b3</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Q35</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Q48 Java | 인터페이스 구현 키워드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interface Machine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void run();</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class WashingMachine (____빈칸____) Machine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private String name;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WashingMachine()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this.name = "LG Washer";</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void run()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System.out.println("Washing machine running");</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public class Main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static void main(String[] args)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WashingMachine wm = new WashingMachine();</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wm.run();</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Q48</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Q48 Java | 인터페이스 구현 키워드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Machine은 interface이다.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클래스가 인터페이스를 구현할 때는 extends가 아니라 implements를 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implements를 사용하면 인터페이스의 추상 메서드 run()을 구현해야 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WashingMachine에는 public void run()이 있으므로 구현 조건을 만족한다.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올바른 형태는 class WashingMachine implements Machine 이다.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[주의 / 개념]</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문제의 괄호 표기는 실제 Java 문법이 아니다. 빈칸 자체에 implements가 들어간다고 보면 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Java에서 클래스가 인터페이스를 구현할 때는 implements를 사용한다.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extends는 클래스 상속에 쓰거나 인터페이스가 다른 인터페이스를 상속할 때 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문제의 Machine은 interface이고 WashingMachine은 class다.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class WashingMachine implements Machine 형태가 맞다.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run() 메서드를 구현했으므로 인터페이스 계약도 만족한다.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implements</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Q48</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Q52 Java | 부모 생성자 호출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class Rectangle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width, height;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Rectangle(int width, int height)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this.width = width;</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this.height = height;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class Square extends Rectangle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Square(int a)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____(a,a);</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int getSquareArea()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width * height;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public class Main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static void main(String[] args)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Square sq = new Square(10);</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Q52</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Q52 Java | 부모 생성자 호출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  System.out.println(sq.getSquareArea());</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Q52</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Q52 Java | 부모 생성자 호출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Rectangle에는 기본 생성자가 없고 Rectangle(int, int) 생성자만 있다.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자식 생성자에서 부모의 특정 생성자를 호출하려면 super(...)를 사용한다.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Square는 한 변 a를 받아 width와 height에 모두 a를 넘겨야 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빈칸은 super가 되어 super(a,a); 형태가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출력 자체는 10*10=100이지만 문제는 빈칸 키워드를 묻는다.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Square는 Rectangle을 상속한다.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Rectangle에는 기본 생성자가 없고 Rectangle(int width, int height)만 존재한다.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자식 생성자에서 부모 생성자를 명시적으로 호출해야 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부모 생성자 호출 키워드는 super다.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Square(int a)에서 super(a,a)를 호출하면 width=a, height=a로 초기화된다.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getSquareArea는 width*height를 반환하므로 a=10일 때 100이 출력된다.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super</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Q52</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Q57 Java | enum values와 name 길이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enum Tri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A("A"), B("AB"), C("ABC");</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private String code;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Tri(String code)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this.code = code;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String code()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code;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public class Main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static void main(String[] args)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Tri t = Tri.values()[Tri.A.name().length()];</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System.out.print(t.code());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Q57</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Q57 Java | enum values와 name 길이</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Tri.values()는 선언 순서대로 [A, B, C] 배열을 반환한다.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Tri.A.name()은 문자열 "A"이다.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"A".length()는 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values()[1]은 두 번째 enum 상수인 B이다.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B의 code 값은 "AB"이다.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Tri.values()는 [A, B, C] 순서의 배열을 반환한다.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Tri.A.name()은 문자열 "A"다.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"A".length()는 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Tri.values()[1]은 두 번째 enum 상수 B다.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B의 code 값은 생성자에서 "AB"로 저장되어 있다.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t.code()는 "AB"를 반환한다.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AB</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Q57</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Q67 Java | 오버로딩 선택 후 오버라이딩 적용 - 코드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140" dirty="0">
                <a:solidFill>
                  <a:srgbClr val="111111"/>
                </a:solidFill>
                <a:latin typeface="Courier New" pitchFamily="34" charset="0"/>
                <a:ea typeface="Courier New" pitchFamily="34" charset="-122"/>
                <a:cs typeface="Courier New" pitchFamily="34" charset="-120"/>
              </a:rPr>
              <a:t>class A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String f(Object x)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"1";</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String g()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f("a");</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class B extends A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String f(Object x)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"2";</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String f(String x)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return "3";</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public class Main {</a:t>
            </a:r>
            <a:endParaRPr lang="en-US" sz="1140" dirty="0"/>
          </a:p>
          <a:p>
            <a:pPr indent="0" marL="0">
              <a:buNone/>
            </a:pPr>
            <a:r>
              <a:rPr lang="en-US" sz="1140" dirty="0">
                <a:solidFill>
                  <a:srgbClr val="111111"/>
                </a:solidFill>
                <a:latin typeface="Courier New" pitchFamily="34" charset="0"/>
                <a:ea typeface="Courier New" pitchFamily="34" charset="-122"/>
                <a:cs typeface="Courier New" pitchFamily="34" charset="-120"/>
              </a:rPr>
              <a:t> public static void main(String[] args) {</a:t>
            </a:r>
            <a:endParaRPr lang="en-US" sz="114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Q67</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Q67 Java | 오버로딩 선택 후 오버라이딩 적용 - 코드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  A a = new B();</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System.out.println(a.g());</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Q67</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Q67 Java | 오버로딩 선택 후 오버라이딩 적용</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a.g()는 A 클래스에 정의된 g()를 실행한다.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g() 내부의 f("a")는 A 타입 관점에서 컴파일된다.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A에는 f(Object)만 있으므로 오버로딩 선택은 f(Object)이다.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실행 시점에는 실제 객체가 B이므로 f(Object)는 B의 오버라이딩 메서드가 실행된다.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B.f(String)은 선택되지 않는다. 정답은 B.f(Object)의 반환값 2이다.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a의 선언 타입은 A, 실제 객체는 B다.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a.g()를 호출하면 A 클래스의 g()가 실행된다. B는 g()를 오버라이딩하지 않았다.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A.g() 내부 코드는 return f("a"); 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여기서 컴파일 시점의 this 타입은 A 문맥이므로 A에 존재하는 f(Object)가 선택된다. B의 f(String)은 오버로딩 후보로</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정적으로 선택되지 않는다.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하지만 선택된 f(Object)는 B에서 오버라이딩되어 있다.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실행 시 동적 바인딩으로 B.f(Object)가 실행되어 "2"를 반환한다.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출력은 2다.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2</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Q67</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Q77 Java | 숫자 덧셈과 문자열 결합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public class Main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public static void main(String[] args)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x1 = 9;</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int x2 = 2;</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String x3 = "3";</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System.out.println(x1 + x2 + "2" + x3);</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Q77</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Q77 Java | 숫자 덧셈과 문자열 결합</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 연산은 왼쪽에서 오른쪽으로 평가된다.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x1 + x2는 둘 다 int이므로 산술 덧셈: 9+2=11.</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그 다음 11 + "2"에서 문자열이 등장하므로 문자열 결합으로 바뀐다.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결과는 "112"이고, 다시 + x3은 "112" + "3"이다.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최종 출력은 1123이다.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x1+x2는 둘 다 int이므로 먼저 숫자 덧셈이 수행된다. 9+2=11이다.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그 다음 + "2"를 만나면 문자열 결합으로 바뀐다.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11 + "2"는 문자열 "112"가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이후 "112" + x3이고 x3="3"이므로 "1123"이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Java에서 + 연산은 왼쪽부터 평가되며, 문자열이 한 번 등장하면 이후는 문자열 결합으로 진행된다.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1123</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Q77</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914400"/>
            <a:ext cx="10972800" cy="594360"/>
          </a:xfrm>
          <a:prstGeom prst="rect">
            <a:avLst/>
          </a:prstGeom>
          <a:noFill/>
          <a:ln/>
        </p:spPr>
        <p:txBody>
          <a:bodyPr wrap="square" lIns="0" tIns="0" rIns="0" bIns="0" rtlCol="0" anchor="t">
            <a:normAutofit/>
          </a:bodyPr>
          <a:lstStyle/>
          <a:p>
            <a:pPr indent="0" marL="0">
              <a:buNone/>
            </a:pPr>
            <a:r>
              <a:rPr lang="en-US" sz="3000" b="1" dirty="0">
                <a:solidFill>
                  <a:srgbClr val="111827"/>
                </a:solidFill>
                <a:latin typeface="Malgun Gothic" pitchFamily="34" charset="0"/>
                <a:ea typeface="Malgun Gothic" pitchFamily="34" charset="-122"/>
                <a:cs typeface="Malgun Gothic" pitchFamily="34" charset="-120"/>
              </a:rPr>
              <a:t>Python 출력 추적</a:t>
            </a:r>
            <a:endParaRPr lang="en-US" sz="3000" dirty="0"/>
          </a:p>
        </p:txBody>
      </p:sp>
      <p:sp>
        <p:nvSpPr>
          <p:cNvPr id="3" name="Text 1"/>
          <p:cNvSpPr/>
          <p:nvPr/>
        </p:nvSpPr>
        <p:spPr>
          <a:xfrm>
            <a:off x="658368" y="1691640"/>
            <a:ext cx="10972800" cy="411480"/>
          </a:xfrm>
          <a:prstGeom prst="rect">
            <a:avLst/>
          </a:prstGeom>
          <a:noFill/>
          <a:ln/>
        </p:spPr>
        <p:txBody>
          <a:bodyPr wrap="square" lIns="0" tIns="0" rIns="0" bIns="0" rtlCol="0" anchor="t">
            <a:normAutofit/>
          </a:bodyPr>
          <a:lstStyle/>
          <a:p>
            <a:pPr indent="0" marL="0">
              <a:buNone/>
            </a:pPr>
            <a:r>
              <a:rPr lang="en-US" sz="1700" dirty="0">
                <a:solidFill>
                  <a:srgbClr val="4B5563"/>
                </a:solidFill>
                <a:latin typeface="Malgun Gothic" pitchFamily="34" charset="0"/>
                <a:ea typeface="Malgun Gothic" pitchFamily="34" charset="-122"/>
                <a:cs typeface="Malgun Gothic" pitchFamily="34" charset="-120"/>
              </a:rPr>
              <a:t>슬라이싱, 얕은 복사, 컴프리헨션, 트리 구조를 중심으로 풀이합니다.</a:t>
            </a:r>
            <a:endParaRPr lang="en-US" sz="1700" dirty="0"/>
          </a:p>
        </p:txBody>
      </p:sp>
      <p:sp>
        <p:nvSpPr>
          <p:cNvPr id="4" name="Text 2"/>
          <p:cNvSpPr/>
          <p:nvPr/>
        </p:nvSpPr>
        <p:spPr>
          <a:xfrm>
            <a:off x="731520" y="2743200"/>
            <a:ext cx="10789920" cy="2377440"/>
          </a:xfrm>
          <a:prstGeom prst="rect">
            <a:avLst/>
          </a:prstGeom>
          <a:solidFill>
            <a:srgbClr val="F9FAFB"/>
          </a:solidFill>
          <a:ln w="7620">
            <a:solidFill>
              <a:srgbClr val="E5E7EB"/>
            </a:solidFill>
          </a:ln>
        </p:spPr>
        <p:txBody>
          <a:bodyPr wrap="square" lIns="2540" tIns="2540" rIns="2540" bIns="2540" rtlCol="0" anchor="t">
            <a:normAutofit/>
          </a:bodyPr>
          <a:lstStyle/>
          <a:p>
            <a:pPr indent="0" marL="0">
              <a:buNone/>
            </a:pPr>
            <a:r>
              <a:rPr lang="en-US" sz="1600" dirty="0">
                <a:solidFill>
                  <a:srgbClr val="111827"/>
                </a:solidFill>
                <a:latin typeface="Malgun Gothic" pitchFamily="34" charset="0"/>
                <a:ea typeface="Malgun Gothic" pitchFamily="34" charset="-122"/>
                <a:cs typeface="Malgun Gothic" pitchFamily="34" charset="-120"/>
              </a:rPr>
              <a:t>• 슬라이싱은 새 리스트를 만들지만 내부 원소가 리스트이면 같은 객체를 공유할 수 있다.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딕셔너리와 집합은 원본 리스트 변경에 자동 연동되지 않는다.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문자열 역순 처리와 필터 조건은 한 글자씩 적용한다.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트리 문제는 인덱스와 레벨을 표로 분리하면 빠르게 풀린다.</a:t>
            </a:r>
            <a:endParaRPr lang="en-US" sz="1600" dirty="0"/>
          </a:p>
        </p:txBody>
      </p:sp>
      <p:sp>
        <p:nvSpPr>
          <p:cNvPr id="5" name="Text 3"/>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Python 출력 추적</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Q17 Python | 완전 이진 트리 구성과 레벨 합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class Node: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def __init__(self, value):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self.value = value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self.children =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def tree(li):</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nodes = [Node(i) for i in li]</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for i in range(1, len(li)):</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nodes[(i - 1) // 2].children.append(nodes[i])</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nodes[0]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def calc(node, level=0):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if node is None:</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(node.value if level % 2 == 1 else 0) + sum(calc(n, level + 1) for n in node.children)</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li = [3, 5, 8, 12, 15, 18, 21]</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root = tree(li)</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print(calc(root))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Q17</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Q17 Python | 완전 이진 트리 구성과 레벨 합</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부모 인덱스는 (i-1)//2이다. 배열을 완전 이진 트리처럼 연결한다.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루트 3은 level 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level 1에는 5와 8이 있다.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calc는 level이 홀수일 때만 node.value를 더한다.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level 1의 합 5+8=13이 출력된다. level 3은 없으므로 추가 합은 없다.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nodes[(i-1)//2].children.append(nodes[i])는 배열을 완전 이진 트리처럼 연결한다.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값 3은 루트, 5와 8은 레벨 1, 12,15,18,21은 레벨 2가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calc는 level이 홀수일 때만 node.value를 더한다.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루트 레벨 0은 더하지 않는다.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레벨 1의 값 5와 8만 더한다.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레벨 2는 짝수 레벨이므로 더하지 않는다.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결과는 5+8=13이다.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13</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Q17</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Q37 Python | dict/set 독립성과 교집합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lst = [1,2,3]</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dst = {i : i* 2 for i in lst}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s = set(dst.values())</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lst[0] = 99</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dst[2]=7</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s.add(99)</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print(len(s &amp; set(dst.values())))</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Q37</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Q37 Python | dict/set 독립성과 교집합</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처음 dst는 {1:2, 2:4, 3:6}이다.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s는 dst의 값으로 만든 집합이므로 {2,4,6}이다.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lst[0]=99는 이미 만들어진 dst에 영향을 주지 않는다.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dst[2]=7 이후 dst 값 집합은 {2,7,6}이다.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s.add(99) 후 s={2,4,6,99}. 교집합은 {2,6}이므로 길이는 2이다.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dst = {1:2, 2:4, 3:6}이다.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 = set(dst.values()) 이므로 s={2,4,6}이다. 이 시점 이후 dst가 변해도 s는 자동 갱신되지 않는다.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lst[0]=99는 dst에 영향을 주지 않는다. dict comprehension은 이미 만들어졌기 때문이다.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dst[2]=7로 dst는 {1:2, 2:7, 3:6}이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s.add(99)로 s={2,4,6,99}가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set(dst.values())는 {2,7,6}이다.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교집합은 {2,6}이므로 길이는 2다.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2</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Q37</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Q49 Python | enumerate와 딕셔너리 값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data =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[3, 5, 2, 4, 1],</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[4, 5, 1],</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[4, 4, 1, 5, 4],</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[4, 5]</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result =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for index, lis in enumerate(data):</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list_sum = sum(lis)</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list_len = len(lis)</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result[index] = (list_sum, list_len)</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print(result)</a:t>
            </a:r>
            <a:endParaRPr lang="en-US" sz="1200" dirty="0"/>
          </a:p>
          <a:p>
            <a:pPr indent="0" marL="0">
              <a:buNone/>
            </a:pP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출력 형식</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{0: (①, ②), 1: (③, ④), 2: (⑤, ⑥), 3: (⑦, ⑧)}</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Q49</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Q49 Python | enumerate와 딕셔너리 값</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enumerate(data)는 index와 내부 리스트를 함께 꺼낸다.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index 0: [3,5,2,4,1] → 합 15, 길이 5.</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index 1: [4,5,1] → 합 10, 길이 3.</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index 2: [4,4,1,5,4] → 합 18, 길이 5.</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index 3: [4,5] → 합 9, 길이 2.</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enumerate(data)는 각 내부 리스트의 인덱스와 리스트를 함께 준다.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index 0: [3,5,2,4,1], sum=15, len=5 -&gt; 0:(15,5).</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index 1: [4,5,1], sum=10, len=3 -&gt; 1:(10,3).</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index 2: [4,4,1,5,4], sum=18, len=5 -&gt; 2:(18,5).</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index 3: [4,5], sum=9, len=2 -&gt; 3:(9,2).</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딕셔너리 출력은 삽입 순서를 유지하므로 인덱스 0,1,2,3 순서로 나온다.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①=15, ②=5, ③=10, ④=3, ⑤=18, ⑥=5, ⑦=9, ⑧=2</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Q49</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Q68 Python | 역순 문자열과 문자 제거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i = input()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x =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for word in i.split():</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x.append(word)</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y = ''.join(x)</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z = ''.join(c for c in y[::-1] if c not in 'ong')</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print(z)</a:t>
            </a:r>
            <a:endParaRPr lang="en-US" sz="1200" dirty="0"/>
          </a:p>
          <a:p>
            <a:pPr indent="0" marL="0">
              <a:buNone/>
            </a:pP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입력값: HumanDev</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Q68</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Q68 Python | 역순 문자열과 문자 제거</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입력 HumanDev에는 공백이 없으므로 split 결과는 ["HumanDev"]이다.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x에 "HumanDev"가 들어가고, y는 join 결과 "HumanDev"이다.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y[::-1]은 문자열을 역순으로 만든다: "veDnamuH".</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if c not in "ong" 조건은 o, n, g 문자를 제거한다.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"veDnamuH"에서 n만 제거되어 "veDamuH"가 된다.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입력값 HumanDev에는 공백이 없으므로 split() 결과는 ["HumanDev"]이다.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y는 "HumanDev"가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y[::-1]은 문자열을 뒤집어 "veDnamuH"가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조건 if c not in "ong"은 문자 o, n, g를 제거한다.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뒤집힌 문자열 veDnamuH에서 n이 제거된다.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남는 문자열은 veDamuH이다.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veDamuH</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Q68</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Q73 Python | 역방향 슬라이싱 step -2 -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lst = list(range(10))</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for c in lst[::-2]:</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print(c, end='A')</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print()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Q73</a:t>
            </a:r>
            <a:endParaRPr lang="en-US" sz="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Q73 Python | 역방향 슬라이싱 step -2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list(range(10))은 [0,1,2,3,4,5,6,7,8,9]이다.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lst[::-2]는 뒤에서부터 2칸씩 이동한다.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결과는 [9, 7, 5, 3, 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print(c, end="A")이므로 각 숫자 뒤에 A가 붙는다.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마지막 print()는 줄바꿈만 추가한다.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lst = list(range(10))은 [0,1,2,3,4,5,6,7,8,9]이다.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lst[::-2]는 뒤에서부터 두 칸씩 이동한다.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선택되는 값은 9,7,5,3,1이다.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print(c, end="A")는 각 숫자 뒤에 A를 붙이고 줄바꿈하지 않는다.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반복이 끝난 뒤 print()가 줄바꿈만 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출력은 9A7A5A3A1A다.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9A7A5A3A1A</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Q73</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Q74 Python | 얕은 복사와 내부 리스트 공유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def f(a):</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m = [[x] for x in a]</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b = m[:]</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for i in range(len(b) - 1):</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b[i+1] += b[i]</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return sum(len(x) for x in m)</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print(f([1, 2, 3, 4]))</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Q74</a:t>
            </a:r>
            <a:endParaRPr lang="en-US" sz="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Q74 Python | 얕은 복사와 내부 리스트 공유</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m은 [[1],[2],[3],[4]]이다.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b=m[:]는 바깥 리스트만 복사한다. 내부 리스트 객체는 m과 b가 공유한다.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i=0: b[1]+=b[0] → [2,1], i=1: b[2]+=b[1] → [3,2,1].</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i=2: b[3]+=b[2] → [4,3,2,1].</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m의 내부 리스트도 같은 객체라 길이는 1,2,3,4가 되고 합은 10이다.</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m = [[x] for x in a]는 각 값을 하나의 내부 리스트로 감싼다. m = [[1],[2],[3],[4]]이다.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b = m[:]는 바깥 리스트만 복사하는 얕은 복사다. 내부 리스트 객체는 m과 b가 공유한다.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for문 i=0: b[1] += b[0] 실행. b[1] 내부 리스트가 [2,1]로 늘어나고 m[1]도 같은 객체라 함께 변한다.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i=1: b[2] += b[1], b[2]는 [3,2,1]이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i=2: b[3] += b[2], b[3]은 [4,3,2,1]이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최종 m 내부 리스트 길이는 1,2,3,4다.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sum(len(x) for x in m) = 1+2+3+4 = 10이다.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10</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Q74</a:t>
            </a:r>
            <a:endParaRPr lang="en-US" sz="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914400"/>
            <a:ext cx="10972800" cy="594360"/>
          </a:xfrm>
          <a:prstGeom prst="rect">
            <a:avLst/>
          </a:prstGeom>
          <a:noFill/>
          <a:ln/>
        </p:spPr>
        <p:txBody>
          <a:bodyPr wrap="square" lIns="0" tIns="0" rIns="0" bIns="0" rtlCol="0" anchor="t">
            <a:normAutofit/>
          </a:bodyPr>
          <a:lstStyle/>
          <a:p>
            <a:pPr indent="0" marL="0">
              <a:buNone/>
            </a:pPr>
            <a:r>
              <a:rPr lang="en-US" sz="3000" b="1" dirty="0">
                <a:solidFill>
                  <a:srgbClr val="111827"/>
                </a:solidFill>
                <a:latin typeface="Malgun Gothic" pitchFamily="34" charset="0"/>
                <a:ea typeface="Malgun Gothic" pitchFamily="34" charset="-122"/>
                <a:cs typeface="Malgun Gothic" pitchFamily="34" charset="-120"/>
              </a:rPr>
              <a:t>SQL / DB / 관계대수</a:t>
            </a:r>
            <a:endParaRPr lang="en-US" sz="3000" dirty="0"/>
          </a:p>
        </p:txBody>
      </p:sp>
      <p:sp>
        <p:nvSpPr>
          <p:cNvPr id="3" name="Text 1"/>
          <p:cNvSpPr/>
          <p:nvPr/>
        </p:nvSpPr>
        <p:spPr>
          <a:xfrm>
            <a:off x="658368" y="1691640"/>
            <a:ext cx="10972800" cy="411480"/>
          </a:xfrm>
          <a:prstGeom prst="rect">
            <a:avLst/>
          </a:prstGeom>
          <a:noFill/>
          <a:ln/>
        </p:spPr>
        <p:txBody>
          <a:bodyPr wrap="square" lIns="0" tIns="0" rIns="0" bIns="0" rtlCol="0" anchor="t">
            <a:normAutofit/>
          </a:bodyPr>
          <a:lstStyle/>
          <a:p>
            <a:pPr indent="0" marL="0">
              <a:buNone/>
            </a:pPr>
            <a:r>
              <a:rPr lang="en-US" sz="1700" dirty="0">
                <a:solidFill>
                  <a:srgbClr val="4B5563"/>
                </a:solidFill>
                <a:latin typeface="Malgun Gothic" pitchFamily="34" charset="0"/>
                <a:ea typeface="Malgun Gothic" pitchFamily="34" charset="-122"/>
                <a:cs typeface="Malgun Gothic" pitchFamily="34" charset="-120"/>
              </a:rPr>
              <a:t>쿼리 결과는 조건 적용 전후의 중간 테이블을 만들어야 안정적으로 맞출 수 있습니다.</a:t>
            </a:r>
            <a:endParaRPr lang="en-US" sz="1700" dirty="0"/>
          </a:p>
        </p:txBody>
      </p:sp>
      <p:sp>
        <p:nvSpPr>
          <p:cNvPr id="4" name="Text 2"/>
          <p:cNvSpPr/>
          <p:nvPr/>
        </p:nvSpPr>
        <p:spPr>
          <a:xfrm>
            <a:off x="731520" y="2743200"/>
            <a:ext cx="10789920" cy="2377440"/>
          </a:xfrm>
          <a:prstGeom prst="rect">
            <a:avLst/>
          </a:prstGeom>
          <a:solidFill>
            <a:srgbClr val="F9FAFB"/>
          </a:solidFill>
          <a:ln w="7620">
            <a:solidFill>
              <a:srgbClr val="E5E7EB"/>
            </a:solidFill>
          </a:ln>
        </p:spPr>
        <p:txBody>
          <a:bodyPr wrap="square" lIns="2540" tIns="2540" rIns="2540" bIns="2540" rtlCol="0" anchor="t">
            <a:normAutofit/>
          </a:bodyPr>
          <a:lstStyle/>
          <a:p>
            <a:pPr indent="0" marL="0">
              <a:buNone/>
            </a:pPr>
            <a:r>
              <a:rPr lang="en-US" sz="1600" dirty="0">
                <a:solidFill>
                  <a:srgbClr val="111827"/>
                </a:solidFill>
                <a:latin typeface="Malgun Gothic" pitchFamily="34" charset="0"/>
                <a:ea typeface="Malgun Gothic" pitchFamily="34" charset="-122"/>
                <a:cs typeface="Malgun Gothic" pitchFamily="34" charset="-120"/>
              </a:rPr>
              <a:t>• JOIN은 먼저 연결 조건으로 가능한 행을 만든 뒤 WHERE 조건을 적용한다.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COUNT(*)와 COUNT(컬럼)은 NULL 처리 방식이 다르다.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DISTINCT는 중복 제거 후의 개수를 묻는 문제에서 핵심이다.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관계대수의 프로젝션과 나눗셈은 SQL과 다른 표기이므로 의미를 먼저 번역한다.</a:t>
            </a:r>
            <a:endParaRPr lang="en-US" sz="1600" dirty="0"/>
          </a:p>
        </p:txBody>
      </p:sp>
      <p:sp>
        <p:nvSpPr>
          <p:cNvPr id="5" name="Text 3"/>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SQL / DB / 관계대수</a:t>
            </a:r>
            <a:endParaRPr lang="en-US" sz="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SQL/DB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 SQL JOIN + 조건 필터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emp(id,name)와 sal(id,incentives)를 id로 조인한 뒤 incentives &gt;= 500인 행의 name,</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incentive를 구한다.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SQL: SELECT name, incentive FROM emp, sal WHERE emp.id = sal.id and incentives</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&gt;= 500</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[표/중간 결과]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emp.id | name</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1001 | 김철수</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1002 | 홍길동</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1004 | 강감찬</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1008 | 이순신</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emp의 id와 sal의 id가 같은 행만 조인된다.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sal 테이블에서 incentives가 500 이상인 후보는 id=1008(1000), id=1009(500)이다.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emp 테이블에 존재하는 id는 1001,1002,1004,1008이다.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두 조건을 모두 만족하는 id는 1008뿐이다.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id=1008의 이름은 이순신, incentive는 1000이다.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emp 테이블: 1001 김철수, 1002 홍길동, 1004 강감찬, 1008 이순신.</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sal 테이블: 1002 300, 1004 300, 1008 1000, 1009 500.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1단계: emp.id = sal.id 조건으로 조인하면 공통 id인 1002, 1004, 1008만 남는다.</a:t>
            </a:r>
            <a:endParaRPr lang="en-US" sz="13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a:t>
            </a:r>
            <a:endParaRPr lang="en-US" sz="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SQL/DB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 SQL JOIN + 조건 필터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2단계: incentives &gt;= 500 조건을 적용한다.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1002=300 탈락, 1004=300 탈락, 1008=1000 통과.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3단계: SELECT name, incentive 이므로 이름과 인센티브만 출력한다.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결과는 이순신 | 1000 한 행이다.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name | incentives</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이순신 | 1000</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a:t>
            </a:r>
            <a:endParaRPr lang="en-US" sz="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Q21 DB 파일 구조: 인덱스/색인 접근</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
물리 설계에서 레코드 접근 방법은 순차 접근, [ ] 접근, 해싱 접근이 있다.
[ ] 접근은 &lt;키 값, 포인터&gt; 쌍으로 구성된 자료 구조를 사용해 키가 가리키는 주소로 원하는 레코드를 직접 찾는다.
[기본 풀이]
- 1) 순차 접근은 처음부터 차례대로 검사한다.
- 2) 해싱 접근은 해시 함수로 주소를 계산한다.
- 3) 키 값과 포인터 쌍을 보관해 빠르게 검색하는 구조는 인덱스다.
- 4) 한국어 시험 답안에서는 인덱스 또는 색인이 모두 자연스럽다.
- 5) 핵심 키워드는 “키-포인터 쌍”과 “빠른 검색”이다.
</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인덱스 또는 색인</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Q21</a:t>
            </a:r>
            <a:endParaRPr lang="en-US" sz="8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Q22 릴레이션 구성요소: Attribute</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
릴레이션에서 열(Column)을 의미하며 데이터 항목의 속성 또는 특성을 나타낸다. 예: 학생 릴레이션의 학번, 이름, 전공. 보기:
  Cardinality, Domain, Attribute, Degree, Schema, Tuple
[기본 풀이]
- 1) Relation의 행은 Tuple이다.
- 2) Relation의 열은 Attribute이다.
- 3) Domain은 속성이 가질 수 있는 값의 범위다.
- 4) Cardinality는 튜플 수, Degree는 속성 수다.
- 5) 문제의 “열(Column), 필드(Field)”라는 표현이 Attribute를 가리킨다.
</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ㄷ. Attribute</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Q22</a:t>
            </a:r>
            <a:endParaRPr lang="en-US" sz="8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Q40 관계대수 프로젝션 πTTL(employee)</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employee 테이블에서 TTL 속성만 추출하는 관계대수 연산이다.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테이블: AGE/TTL 행은 55/부장, 35/대리, 42/과장, 45/차장.</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π는 Projection, 즉 특정 속성만 선택하는 연산이다.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πTTL(employee)는 employee 테이블에서 TTL 열만 남긴다.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관계대수의 프로젝션은 일반적으로 중복을 제거한다.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이 문제의 TTL 값은 부장, 대리, 과장, 차장으로 모두 다르다.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결과는 TTL 한 열과 네 값이다.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πTTL(employee)는 employee 릴레이션에서 TTL 속성만 추출하는 프로젝션이다.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관계대수의 프로젝션은 특정 열만 남긴다.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employee의 TTL 값은 부장, 대리, 과장, 차장이다.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문제의 보기 번호가 결과 테이블의 각 셀을 가리키므로 1은 속성명 TTL, 2~5는 각 튜플의 값이다.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결과: 1 TTL, 2 부장, 3 대리, 4 과장, 5 차장.</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TTL</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부장</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대리</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과장</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차장</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Q40</a:t>
            </a:r>
            <a:endParaRPr lang="en-US" sz="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SQL/DB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Q50 SQL LIKE + CROSS JOIN COUNT</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T1 NAME: smith, allen, scott. T2 RULE: s%, %t%.</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SQL: SELECT COUNT(*) CNT FROM T1 A CROSS JOIN T2 B WHERE A.NAME LIKE B.RULE;</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[표/중간 결과]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NAME | s% | %t%</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smith | 일치 | 일치</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allen | 불일치 | 불일치</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scott | 일치 | 일치</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CROSS JOIN은 T1 3행 × T2 2행 = 6개 조합을 만든다.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RULE s%는 s로 시작하는 이름을 찾는다: smith, scott → 2개.</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RULE %t%는 t를 포함하는 이름을 찾는다: smith, scott → 2개.</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allen은 두 조건 모두 만족하지 않는다.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COUNT(*)는 만족한 조합 수 4를 센다.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CROSS JOIN은 T1 3행과 T2 2행을 모두 조합하므로 우선 6행이 만들어진다.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RULE s%는 s로 시작하는 문자열을 의미한다. smith, scott가 매칭된다.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RULE %t%는 t가 포함된 문자열을 의미한다. smith, scott가 매칭된다.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allen은 두 조건 모두 매칭되지 않는다.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각 NAME은 두 RULE 각각과 비교된다. smith는 2건, scott는 2건, allen은 0건이다.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COUNT(*)는 매칭된 행 수 4를 반환한다.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4</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Q50</a:t>
            </a:r>
            <a:endParaRPr lang="en-US" sz="8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Q54 관계대수 나눗셈 R ÷ S</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R(A,B): (a1,b1), (a2,b2), (a1,b3)</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S(B): b1, b3</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R÷S의 결과를 테이블 형태로 작성한다.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R÷S는 “S에 있는 모든 B값과 짝을 이루는 A값”을 찾는다.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S에는 b1, b3이 있다.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A=a1은 (a1,b1), (a1,b3)이 모두 R에 존재한다.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A=a2는 (a2,b2)만 있고 b1, b3 조합이 없다.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따라서 결과는 A 열의 a1 하나다.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R(A,B)는 (a1,b1), (a2,b2), (a1,b3)이다.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S(B)는 b1, b3이다.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R÷S는 “S의 모든 B 값과 짝을 이루는 A 값”을 찾는다.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a1은 (a1,b1)과 (a1,b3)이 모두 존재한다. 따라서 통과한다.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a2는 (a2,b2)만 있고 b1, b3 둘 다 만족하지 못한다.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결과는 A 속성 하나와 값 a1이다.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A</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a1</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Q54</a:t>
            </a:r>
            <a:endParaRPr lang="en-US" sz="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SQL/DB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Q60 COUNT(col2)와 NULL 제외 (1/2)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 테이블에서 다음 SQL의 결과를 구한다.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SELECT count(col2) FROM A WHERE col1 IN (2, 3) OR col2 IN (3, 5)</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[표/중간 결과]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col1 | col2 | 조건 | COUNT 대상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2 | NULL | O | X</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3 | 6 | O | O</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2 | 3 | O | O</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NULL | 3 | O | O</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4 | 5 | O | O</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WHERE 조건을 만족하는 행부터 찾는다.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(2,NULL)은 col1=2라서 조건은 만족하지만 col2가 NULL이다.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(3,6), (2,3), (NULL,3), (4,5)는 조건을 만족하고 col2가 NULL이 아니다.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COUNT(col2)는 NULL을 세지 않는다.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따라서 조건 만족 행 5개 중 col2가 있는 4개만 카운트한다.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WHERE 조건은 col1 IN (2,3) OR col2 IN (3,5)이다.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행1: col1=2, col2=NULL. col1 조건이 참이므로 선택된다. 하지만 COUNT(col2)는 NULL을 세지 않는다.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행2: col1=3, col2=6. 선택되고 col2가 NULL이 아니므로 카운트된다.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행3: col1=2, col2=3. 선택되고 카운트된다.</a:t>
            </a:r>
            <a:endParaRPr lang="en-US" sz="13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Q60</a:t>
            </a:r>
            <a:endParaRPr lang="en-US" sz="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SQL/DB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Q60 COUNT(col2)와 NULL 제외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행4: col1=NULL, col2=3. col2 조건이 참이므로 선택되고 카운트된다.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행5: col1=4, col2=5. col2 조건이 참이므로 선택되고 카운트된다.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선택된 행은 5개지만 col2가 NULL인 첫 행은 COUNT(col2)에서 제외된다.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결과는 4다.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4</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Q60</a:t>
            </a:r>
            <a:endParaRPr lang="en-US" sz="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Q63 DB 설계 절차</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DB 설계 절차의 빈칸을 순서대로 채운다.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보기: 구현 / 개념적 설계 / 논리적 설계 / 요구사항 분석 / 물리적 설계</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먼저 사용자가 원하는 데이터와 처리 조건을 수집한다: 요구사항 분석.</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현실 세계를 개념 모델로 표현한다: 개념적 설계.</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DBMS에 맞는 논리 스키마로 변환한다: 논리적 설계.</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저장 구조와 접근 방법을 정한다: 물리적 설계.</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실제 DB를 생성하고 운용한다: 구현.</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DB 설계 절차는 요구사항 분석에서 시작한다. 사용자가 무엇을 원하는지 파악하는 단계다.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다음은 개념적 설계다. ERD처럼 업무 개념과 관계를 추상적으로 표현한다.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다음은 논리적 설계다. 관계형 모델의 테이블, 속성, 키, 정규화 등을 정한다.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다음은 물리적 설계다. 인덱스, 저장 구조, 접근 경로 등 실제 DBMS 구현 방식을 정한다.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마지막은 구현이다. 실제 SQL DDL로 데이터베이스를 생성한다.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요구사항 분석 → 개념적 설계 → 논리적 설계 → 물리적 설계 → 구현</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Q63</a:t>
            </a:r>
            <a:endParaRPr lang="en-US" sz="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Q69 SELECT / DISTINCT / COUNT(DISTINCT)</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STUDENT 테이블에는 컴퓨터과 50명, 인터넷과 100명, 사무자동화과 50명이 있다.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 SELECT DEPT FROM STUDENT;</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2. SELECT DISTINCT DEPT FROM STUDENT;</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3. SELECT COUNT(DISTINCT DEPT) FROM STUDENT WHERE DEPT = '컴퓨터과';</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전체 학생 수는 50+100+50=200명이다.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SELECT DEPT는 학생 행마다 학과명을 반환하므로 200행이다.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DISTINCT DEPT는 중복 학과명을 제거한다.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존재 학과는 컴퓨터과, 인터넷과, 사무자동화과 3개다.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WHERE DEPT=컴퓨터과로 필터링한 뒤 DISTINCT DEPT는 컴퓨터과 1개만 남는다.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전체 학생 수는 컴퓨터과 50명 + 인터넷과 100명 + 사무자동화과 50명 = 200명이다.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SELECT DEPT FROM STUDENT;는 모든 행의 DEPT를 출력하므로 200행을 반환한다.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SELECT DISTINCT DEPT FROM STUDENT;는 중복 학과명을 제거한다.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학과 종류는 컴퓨터과, 인터넷과, 사무자동화과 총 3개다.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COUNT(DISTINCT DEPT) WHERE DEPT="컴퓨터과"는 조건에 맞는 행의 학과 종류 수를 센다.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컴퓨터과만 남으므로 DISTINCT DEPT 수는 1이다.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 200</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2) 3</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3) 1</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Q69</a:t>
            </a:r>
            <a:endParaRPr lang="en-US" sz="8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Q70 SQL DDL | 외래키 제약조건 작성 - 코드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078992"/>
            <a:ext cx="11109960" cy="5440680"/>
          </a:xfrm>
          <a:prstGeom prst="rect">
            <a:avLst/>
          </a:prstGeom>
          <a:solidFill>
            <a:srgbClr val="F6F8FA"/>
          </a:solidFill>
          <a:ln w="7620">
            <a:solidFill>
              <a:srgbClr val="D1D5DB"/>
            </a:solidFill>
          </a:ln>
        </p:spPr>
        <p:txBody>
          <a:bodyPr wrap="square" lIns="1270" tIns="1270" rIns="1270" bIns="1270" rtlCol="0" anchor="t">
            <a:normAutofit/>
          </a:bodyPr>
          <a:lstStyle/>
          <a:p>
            <a:pPr indent="0" marL="0">
              <a:buNone/>
            </a:pPr>
            <a:r>
              <a:rPr lang="en-US" sz="1200" dirty="0">
                <a:solidFill>
                  <a:srgbClr val="111111"/>
                </a:solidFill>
                <a:latin typeface="Courier New" pitchFamily="34" charset="0"/>
                <a:ea typeface="Courier New" pitchFamily="34" charset="-122"/>
                <a:cs typeface="Courier New" pitchFamily="34" charset="-120"/>
              </a:rPr>
              <a:t>CREATE TABLE PLAYER (</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PLAYER_ID CHAR(7) NOT NULL,</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PLAYER_NAME VARCHAR2(20) NOT NULL,</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TEAM_ID CHAR(3) NOT NULL,</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PRIMARY KEY (PLAYER_ID),</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(1) TEAM_TF</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(2) KEY (3)</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 (4) TEAM (5)</a:t>
            </a:r>
            <a:endParaRPr lang="en-US" sz="1200" dirty="0"/>
          </a:p>
          <a:p>
            <a:pPr indent="0" marL="0">
              <a:buNone/>
            </a:pPr>
            <a:r>
              <a:rPr lang="en-US" sz="1200" dirty="0">
                <a:solidFill>
                  <a:srgbClr val="111111"/>
                </a:solidFill>
                <a:latin typeface="Courier New" pitchFamily="34" charset="0"/>
                <a:ea typeface="Courier New" pitchFamily="34" charset="-122"/>
                <a:cs typeface="Courier New" pitchFamily="34" charset="-120"/>
              </a:rPr>
              <a:t>);</a:t>
            </a:r>
            <a:endParaRPr lang="en-US" sz="1200" dirty="0"/>
          </a:p>
        </p:txBody>
      </p:sp>
      <p:sp>
        <p:nvSpPr>
          <p:cNvPr id="6" name="Text 4"/>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Q70</a:t>
            </a:r>
            <a:endParaRPr lang="en-US" sz="8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프로그래밍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Q70 SQL DDL | 외래키 제약조건 작성</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접근]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제약조건 이름을 지정할 때는 CONSTRAINT 제약조건명 형식을 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외래키는 FOREIGN KEY (컬럼명)으로 선언한다.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PLAYER 테이블에서 외래키 역할을 하는 컬럼은 TEAM_ID다.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참조 대상 테이블은 TEAM이고, 참조 대상 컬럼은 TEAM_ID2다.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완성 형태: CONSTRAINT TEAM_TF FOREIGN KEY (TEAM_ID) REFERENCES TEAM</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(TEAM_ID2).</a:t>
            </a:r>
            <a:endParaRPr lang="en-US" sz="1300" dirty="0"/>
          </a:p>
          <a:p>
            <a:pPr indent="0" marL="0">
              <a:buNone/>
            </a:pP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추적]</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외래키 제약조건 이름을 지정하려면 CONSTRAINT 제약조건명 형식을 사용한다.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외래키 자체는 FOREIGN KEY (컬럼명)으로 선언한다.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PLAYER 테이블에서 외래키 역할을 하는 컬럼은 TEAM_ID다.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참조 대상 테이블을 지정할 때는 REFERENCES TEAM(...)을 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참조 대상 컬럼은 TEAM 테이블의 TEAM_ID2다.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CONSTRAINT TEAM_TF FOREIGN KEY (TEAM_ID) REFERENCES TEAM (TEAM_ID2)가 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① CONSTRAINT, ② FOREIGN, ③ TEAM_ID, ④ REFERENCES, ⑤ TEAM_ID2</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Q70</a:t>
            </a:r>
            <a:endParaRPr lang="en-US" sz="8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Q78 JOIN + 서브쿼리 평균</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employee(dep_id): 10, 20, 20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dept(dept_id,budget): (10,100), (20,300), (30,200)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SELECT COUNT(*) FROM employee e JOIN dept d ON e.dep_id=d.dept_id WHERE d.budget</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&gt; (SELECT AVG(budget) FROM dept);</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dept의 평균 budget은 (100+300+200)/3 = 200이다.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조건 d.budget &gt; 200을 만족하는 부서는 dept_id=20뿐이다.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employee에서 dep_id=20인 행은 2개다.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JOIN 조건 e.dep_id=d.dept_id로 연결하면 dep_id=20 직원 두 행만 남는다.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COUNT(*)는 남은 행의 개수 2를 반환한다.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dept 예산은 100, 300, 200이다. 평균은 (100+300+200)/3 = 200이다.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WHERE d.budget &gt; 평균이므로 budget &gt; 200인 부서만 남는다.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부서 20의 budget 300만 조건을 만족한다.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employee 테이블의 dep_id는 10,20,20이다.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JOIN 후 부서 20에 속한 employee 행은 2개다.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COUNT(*)는 그 두 행을 세므로 결과는 2다.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2</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Q78</a:t>
            </a:r>
            <a:endParaRPr lang="en-US" sz="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914400"/>
            <a:ext cx="10972800" cy="594360"/>
          </a:xfrm>
          <a:prstGeom prst="rect">
            <a:avLst/>
          </a:prstGeom>
          <a:noFill/>
          <a:ln/>
        </p:spPr>
        <p:txBody>
          <a:bodyPr wrap="square" lIns="0" tIns="0" rIns="0" bIns="0" rtlCol="0" anchor="t">
            <a:normAutofit/>
          </a:bodyPr>
          <a:lstStyle/>
          <a:p>
            <a:pPr indent="0" marL="0">
              <a:buNone/>
            </a:pPr>
            <a:r>
              <a:rPr lang="en-US" sz="3000" b="1" dirty="0">
                <a:solidFill>
                  <a:srgbClr val="111827"/>
                </a:solidFill>
                <a:latin typeface="Malgun Gothic" pitchFamily="34" charset="0"/>
                <a:ea typeface="Malgun Gothic" pitchFamily="34" charset="-122"/>
                <a:cs typeface="Malgun Gothic" pitchFamily="34" charset="-120"/>
              </a:rPr>
              <a:t>계산·정리형 이론</a:t>
            </a:r>
            <a:endParaRPr lang="en-US" sz="3000" dirty="0"/>
          </a:p>
        </p:txBody>
      </p:sp>
      <p:sp>
        <p:nvSpPr>
          <p:cNvPr id="3" name="Text 1"/>
          <p:cNvSpPr/>
          <p:nvPr/>
        </p:nvSpPr>
        <p:spPr>
          <a:xfrm>
            <a:off x="658368" y="1691640"/>
            <a:ext cx="10972800" cy="411480"/>
          </a:xfrm>
          <a:prstGeom prst="rect">
            <a:avLst/>
          </a:prstGeom>
          <a:noFill/>
          <a:ln/>
        </p:spPr>
        <p:txBody>
          <a:bodyPr wrap="square" lIns="0" tIns="0" rIns="0" bIns="0" rtlCol="0" anchor="t">
            <a:normAutofit/>
          </a:bodyPr>
          <a:lstStyle/>
          <a:p>
            <a:pPr indent="0" marL="0">
              <a:buNone/>
            </a:pPr>
            <a:r>
              <a:rPr lang="en-US" sz="1700" dirty="0">
                <a:solidFill>
                  <a:srgbClr val="4B5563"/>
                </a:solidFill>
                <a:latin typeface="Malgun Gothic" pitchFamily="34" charset="0"/>
                <a:ea typeface="Malgun Gothic" pitchFamily="34" charset="-122"/>
                <a:cs typeface="Malgun Gothic" pitchFamily="34" charset="-120"/>
              </a:rPr>
              <a:t>서브넷, 스케줄링, 커버리지, 오류제어, 접근통제, 응집도/결합도를 정리합니다.</a:t>
            </a:r>
            <a:endParaRPr lang="en-US" sz="1700" dirty="0"/>
          </a:p>
        </p:txBody>
      </p:sp>
      <p:sp>
        <p:nvSpPr>
          <p:cNvPr id="4" name="Text 2"/>
          <p:cNvSpPr/>
          <p:nvPr/>
        </p:nvSpPr>
        <p:spPr>
          <a:xfrm>
            <a:off x="731520" y="2743200"/>
            <a:ext cx="10789920" cy="2377440"/>
          </a:xfrm>
          <a:prstGeom prst="rect">
            <a:avLst/>
          </a:prstGeom>
          <a:solidFill>
            <a:srgbClr val="F9FAFB"/>
          </a:solidFill>
          <a:ln w="7620">
            <a:solidFill>
              <a:srgbClr val="E5E7EB"/>
            </a:solidFill>
          </a:ln>
        </p:spPr>
        <p:txBody>
          <a:bodyPr wrap="square" lIns="2540" tIns="2540" rIns="2540" bIns="2540" rtlCol="0" anchor="t">
            <a:normAutofit/>
          </a:bodyPr>
          <a:lstStyle/>
          <a:p>
            <a:pPr indent="0" marL="0">
              <a:buNone/>
            </a:pPr>
            <a:r>
              <a:rPr lang="en-US" sz="1600" dirty="0">
                <a:solidFill>
                  <a:srgbClr val="111827"/>
                </a:solidFill>
                <a:latin typeface="Malgun Gothic" pitchFamily="34" charset="0"/>
                <a:ea typeface="Malgun Gothic" pitchFamily="34" charset="-122"/>
                <a:cs typeface="Malgun Gothic" pitchFamily="34" charset="-120"/>
              </a:rPr>
              <a:t>• 서브넷은 마스크 → prefix → 블록 크기 → 네트워크 범위 순서로 계산한다.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스케줄링은 간트 차트를 먼저 작성하고 완료시간·대기시간을 계산한다.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커버리지는 “무엇을 최소 1회 실행해야 하는가”를 기준으로 구분한다.</a:t>
            </a:r>
            <a:endParaRPr lang="en-US" sz="1600" dirty="0"/>
          </a:p>
          <a:p>
            <a:pPr indent="0" marL="0">
              <a:buNone/>
            </a:pPr>
            <a:r>
              <a:rPr lang="en-US" sz="1600" dirty="0">
                <a:solidFill>
                  <a:srgbClr val="111827"/>
                </a:solidFill>
                <a:latin typeface="Malgun Gothic" pitchFamily="34" charset="0"/>
                <a:ea typeface="Malgun Gothic" pitchFamily="34" charset="-122"/>
                <a:cs typeface="Malgun Gothic" pitchFamily="34" charset="-120"/>
              </a:rPr>
              <a:t>• 암기형 이론도 보기에 흔들리지 않도록 핵심 판별 단어를 함께 기억한다.</a:t>
            </a:r>
            <a:endParaRPr lang="en-US" sz="1600" dirty="0"/>
          </a:p>
        </p:txBody>
      </p:sp>
      <p:sp>
        <p:nvSpPr>
          <p:cNvPr id="5" name="Text 3"/>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계산·정리형 이론</a:t>
            </a:r>
            <a:endParaRPr lang="en-US" sz="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 CRC 오류 검출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3글자의 영어 약자로 이루어진 오류 검출 코드이다. 데이터에 체크섬을 추가하고, 수신 또는 읽을 때 다시 계산하여 변경 여부를 확인한다. 정해진</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다항식(x³+x+1)을 기반으로 2진수 나눗셈한 나머지를 값으로 삼는다.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“정해진 다항식”과 “2진수 나눗셈의 나머지”는 CRC의 핵심 단서다.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CRC는 Cyclic Redundancy Check의 약자다.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Parity보다 강력한 오류 검출 방식이며 데이터 링크 계층 문제에도 자주 나온다.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수신 측은 동일 다항식으로 다시 나누어 나머지를 확인한다.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오류 수정이 아니라 오류 검출 중심이다.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CRC는 Cyclic Redundancy Check의 약자다.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핵심은 “나눗셈의 나머지”를 검사값으로 붙인다는 점이다.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송신 측은 원본 데이터 뒤에 검사 비트를 붙일 공간을 만든 뒤 생성 다항식으로 나눈다.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그 나머지를 CRC 값으로 붙여 전송한다.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수신 측은 동일한 다항식으로 다시 나누어 나머지가 0인지 확인한다.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나머지가 0이면 전송 중 오류가 없다고 판단하고, 0이 아니면 오류로 판단한다.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문제의 x³+x+1은 CRC에서 쓰는 생성 다항식 예시다.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CRC는 오류 “검출” 기법이지, 기본적으로 오류 “수정” 기법은 아니다.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CRC</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a:t>
            </a:r>
            <a:endParaRPr lang="en-US" sz="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Q9 서브넷 범위 판단 /22</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IP 주소 192.168.35.10, 서브넷 마스크 255.255.252.0. 보기의 IP가 같은 브로드캐스트 범위에서 수신 가능한지 모두</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고른다. 보기: 192.168.34.1, 192.168.32.19, 192.168.35.200, 192.168.33.138,</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192.168.35.50</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255.255.252.0은 /22이다. 세 번째 옥텟의 블록 크기는 256-252=4다.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세 번째 옥텟 35는 32~35 블록에 속한다.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네트워크 주소는 192.168.32.0, 브로드캐스트 주소는 192.168.35.255이다.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사용 가능한 호스트 범위는 192.168.32.1 ~ 192.168.35.254이다.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제시된 다섯 IP는 모두 이 범위 안에 있다.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서브넷 마스크 255.255.252.0은 세 번째 옥텟 기준으로 252다.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블록 크기 = 256 - 252 = 4다.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세 번째 옥텟은 0,4,8,...,32,36처럼 4 단위로 네트워크가 나뉜다.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IP 192.168.35.10에서 세 번째 옥텟 35는 32~35 블록에 속한다.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네트워크 주소는 192.168.32.0, 브로드캐스트 주소는 192.168.35.255다.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수신 가능한 호스트 범위는 192.168.32.1 ~ 192.168.35.254다.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보기 34.1, 32.19, 35.200, 33.138, 35.50은 모두 이 범위 안이다.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보기 전체가 정답이다.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ㄱ, ㄴ, ㄷ, ㄹ, ㅁ</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Q9</a:t>
            </a:r>
            <a:endParaRPr lang="en-US" sz="8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Q12 결합도 구분</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보기: 자료 결합도, 스탬프 결합도, 제어 결합도, 공통 결합도, 내용 결합도, 외부 결합도</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 다른 모듈 내부 변수나 기능 사용</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(2) 인터페이스로 배열/객체/자료구조 전달</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(3) 전역 변수 참조·갱신</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다른 모듈 내부를 직접 건드리는 것은 가장 강한 결합인 내용 결합도다.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구조체, 배열, 객체 같은 묶음 자료를 넘기면 스탬프 결합도다.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전역 데이터를 함께 쓰면 공통 결합도다.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단순 값만 넘기는 자료 결합도보다 스탬프 결합도가 더 강하다.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결합도는 낮을수록 좋고, 내용 결합도는 피해야 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내용 결합도: 한 모듈이 다른 모듈 내부의 변수나 기능을 직접 참조한다. 결합도 중 가장 나쁘다.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스탬프 결합도: 배열, 레코드, 객체, 구조체 같은 묶음 자료를 통째로 전달한다.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공통 결합도: 여러 모듈이 전역 변수를 공유하고 참조 또는 갱신한다.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자료 결합도는 필요한 데이터만 매개변수로 전달하는 형태이므로 문제 (2)의 “자료구조 통째 전달”과는 다르다.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제어 결합도는 제어 플래그를 전달해 다른 모듈의 흐름을 제어하는 경우다.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 내용 결합도</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(2) 스탬프 결합도</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(3) 공통 결합도</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Q12</a:t>
            </a:r>
            <a:endParaRPr lang="en-US" sz="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Q15 문장 커버리지와 제어흐름도</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코드의 각 문장을 제어흐름도 빈칸에 연결하고 문장 커버리지 순서를 작성한다. 코드 핵심: int a=0; while(a&lt;m || b[a]&lt;x)</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 if(b[a]&lt;0) b[a]=-b[a]; a++; } return 1;</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①은 초기화 int a=0이다.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②는 while 조건, ③은 if 조건이다.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④는 b[a] = -b[a]; ⑤는 a++; ⑥은 return 1;이다.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문장 커버리지는 모든 실행문을 최소 1번 실행하면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1→2 후 while 참, if 참 경로로 3→4→5를 실행하고 다시 2로 돌아간 뒤 while 거짓으로 6에 도달한다.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제어흐름도에서 직사각형은 실행문, 마름모는 조건문이다.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①은 최초 실행문 int a = 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②는 while 조건식 a &lt; m || b[a] &lt; x이다. 원문은 ||로 되어 있으나 배열 범위 관점에서는 &amp;&amp;가 자연스럽다는 점은 별도로</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주의해야 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③은 if 조건식 b[a] &lt; 0이다.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④는 if 내부 실행문 b[a] = -b[a]; 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⑤는 반복마다 실행되는 a++; 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⑥은 반복 종료 후 실행되는 return 1; 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문장 커버리지는 모든 실행문을 최소 한 번 통과하면 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1 -&gt; 2 -&gt; 3 -&gt; 4 -&gt; 5 -&gt; 2 -&gt; 6 형태가 모든 문장을 지나간다.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① int a=0</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② a&lt;m || b[a]&lt;x</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③ b[a]&lt;0</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④ b[a] = -b[a];</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⑤ a++;</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⑥ return 1;</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⑦ ③ → ④ → ⑤ → ② → ⑥</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Q15</a:t>
            </a:r>
            <a:endParaRPr lang="en-US" sz="8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Q24 SJF와 SRT 스케줄링</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 CPU burst 시간이 짧은 프로세스를 우선 처리한다.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(2) 위 방식을 선점형으로 구현하여 실행 중인 프로세스보다 더 짧은 burst 시간이 도착하면 현재 CPU를 선점한다.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CPU burst가 가장 짧은 작업을 먼저 고르는 방식은 SJF다.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SJF는 보통 비선점형 의미로 사용된다.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선점형으로 바꾸면 남은 실행 시간이 가장 짧은 프로세스를 우선한다.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이 방식은 SRT 또는 SRTF라고 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시험에서는 “선점형 SJF”라는 표현이 나오면 SRT/SRTF를 답하면 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SJF는 Shortest Job First로, 다음 CPU burst 시간이 가장 짧은 프로세스를 먼저 선택한다.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일반적으로 SJF는 비선점형으로 설명한다. 한 번 CPU를 잡으면 해당 CPU burst를 끝낼 때까지 계속 실행한다.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SRT 또는 SRTF는 Shortest Remaining Time First로, SJF의 선점형 형태다.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새로 도착한 프로세스의 남은 실행 시간이 현재 실행 중인 프로세스의 남은 시간보다 짧으면 선점한다.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시험에서는 (1) SJF, (2) SRT 또는 SRTF로 쓰면 안전하다.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 SJF</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(2) SRT 또는 SRTF</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Q24</a:t>
            </a:r>
            <a:endParaRPr lang="en-US" sz="8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Q26 서브넷 /26 계산</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IP 주소 223.13.234.132, 서브넷 마스크 255.255.255.192.</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① 네트워크 주소의 마지막 옥텟</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② 사용 가능한 호스트 수</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255.255.255.192는 /26이다.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마지막 옥텟의 블록 크기는 256-192=64다.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블록은 0~63, 64~127, 128~191, 192~255이다.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132는 128~191 블록에 있으므로 네트워크 주소는 223.13.234.128이다.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/26의 호스트 비트는 6개이므로 전체 주소 2^6=64개, 네트워크/브로드캐스트 제외 62개다.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서브넷 마스크 255.255.255.192는 마지막 옥텟 기준 /26이다.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마지막 옥텟의 블록 크기 = 256 - 192 = 64다.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블록은 0~63, 64~127, 128~191, 192~255로 나뉜다.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IP의 마지막 옥텟 132는 128~191 블록에 속한다.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따라서 네트워크 주소는 223.13.234.128이다.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호스트 비트는 32-26=6비트이므로 전체 주소 수는 2^6=64개다.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네트워크 주소와 브로드캐스트 주소를 제외하면 사용 가능한 호스트 수는 64-2=62개다.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① 128</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② 62</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Q26</a:t>
            </a:r>
            <a:endParaRPr lang="en-US" sz="8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Q31 분기 커버리지 경로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제어 흐름 그래프에서 분기 커버리지를 만족하는 테스트 순서를 작성한다. 핵심 분기: ②의 X&gt;K?는 YES/NO가 모두 필요하고, ⑥의</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RESULT&gt;1?도 YES/NO가 모두 필요하다.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분기 커버리지는 각 결정 노드의 참/거짓 방향을 모두 최소 1회 수행해야 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②에서 YES로 ③을 거치는 경로가 필요하다.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②에서 NO로 ④를 거치는 경로도 필요하다.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⑥에서 YES로 반복되는 경로와 NO로 ⑦ 출력되는 경로도 필요하다.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따라서 한 번은 반복 경로, 한 번은 종료 경로를 조합해 커버한다.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분기 커버리지는 각 조건 분기의 YES와 NO를 모두 최소 한 번씩 수행해야 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② X&gt;K? 조건은 YES 경로 2-&gt;3과 NO 경로 2-&gt;4가 모두 필요하다.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⑥ RESULT&gt;1? 조건도 YES 경로 6-&gt;1과 NO 경로 6-&gt;7이 모두 필요하다.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한 테스트 경로만으로 모든 분기를 채우기 어렵기 때문에 보통 두 개의 경로를 제시한다.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예시 1: 1-&gt;2-&gt;3-&gt;4-&gt;5-&gt;6-&gt;1 : ② YES, ⑥ YES를 포함한다.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예시 2: 1-&gt;2-&gt;4-&gt;5-&gt;6-&gt;7 : ② NO, ⑥ NO를 포함한다.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이 두 경로를 합치면 모든 분기 결과를 최소 한 번씩 통과한다.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예: 1→2→3→4→5→6→1, 1→2→4→5→6→7</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또는 1→2→3→4→5→6→7, 1→2→4→5→6→1</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Q31</a:t>
            </a:r>
            <a:endParaRPr lang="en-US" sz="8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Q33 라운드로빈 평균 대기시간</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프로세스: P1(도착0, 실행8), P2(도착1, 실행4), P3(도착2, 실행9), P4(도착3, 실행5).</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Time Quantum=4ms, Context Switching 무시. 평균 대기시간을 구한다.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간트 차트: 0-4 P1, 4-8 P2, 8-12 P3, 12-16 P4, 16-20 P1, 20-24 P3, 24-25 P4,</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25-26 P3.</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완료시간: P1=20, P2=8, P3=26, P4=25.</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반환시간 = 완료시간 - 도착시간: P1=20, P2=7, P3=24, P4=22.</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대기시간 = 반환시간 - 실행시간: P1=12, P2=3, P3=15, P4=17.</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평균 = (12+3+15+17)/4 = 47/4 = 11.75ms.</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라운드로빈은 준비 큐에서 순서대로 최대 4ms씩 실행한다.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간트 차트는 다음과 같다: 0-4 P1, 4-8 P2, 8-12 P3, 12-16 P4, 16-20 P1, 20-24 P3, 24-25 P4,</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25-26 P3.</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완료 시간: P1=20, P2=8, P3=26, P4=25.</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반환 시간 = 완료 시간 - 도착 시간이다.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P1=20-0=20, P2=8-1=7, P3=26-2=24, P4=25-3=22.</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대기 시간 = 반환 시간 - 실행 시간이다.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P1=20-8=12, P2=7-4=3, P3=24-9=15, P4=22-5=17.</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평균 대기 시간 = (12+3+15+17)/4 = 47/4 = 11.75ms.</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11.75ms</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Q33</a:t>
            </a:r>
            <a:endParaRPr lang="en-US" sz="8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Q42 조건 커버리지</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
화이트박스 테스트 중 결정문 내부의 모든 개별 조건식이 True와 False를 각각 한 번 이상 만족하도록 테스트 케이스를 설계하는 기준을
  묻는다. 단, 전체 결정식의 True/False가 모두 보장되지는 않는다.
[기본 풀이]
- 1) 문장 커버리지는 실행문을 최소 1회 실행하는 기준이다.
- 2) 분기/결정 커버리지는 결정식 전체의 True/False를 모두 수행하는 기준이다.
- 3) 조건 커버리지는 결정문 내부의 개별 조건식 각각에 대해 True/False를 모두 수행한다.
- 4) 조건/결정 커버리지는 개별 조건과 결정 결과를 모두 본다.
- 5) 문제는 개별 조건식에 초점이 있으므로 조건 커버리지다.
</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ㅇ. 조건(Condition)</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Q42</a:t>
            </a:r>
            <a:endParaRPr lang="en-US" sz="8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Q44 오류제어: Hamming/FEC/BEC/Parity/CRC</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(①) 코드는 여러 검사 비트를 추가하여 오류 검출과 수정까지 가능하다. 이 코드는 재전송 없이 수신 측에서 자체 수정하는 (②) 방식이다.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오류 발생 시 재전송 요구 방식은 (③)이며, 대표 검출 기법은 (④) 검사와 (⑤) 검사이다.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오류 검출과 수정까지 가능한 대표 코드는 Hamming 코드다.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수신 측에서 자체 수정하는 방식은 FEC(Forward Error Correction)다.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오류가 발생하면 뒤로 돌아가 재전송하는 방식은 BEC(Backward Error Correction)다.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1비트 검사 비트를 추가하는 것은 Parity 검사다.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다항식을 사용해 오류를 검출하는 것은 CRC다.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Hamming 코드는 여러 검사 비트를 사용해 오류 위치를 찾아 수정할 수 있다.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수신 측에서 자체 수정하는 방식은 FEC다. Forward Error Correction의 의미다.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BEC는 Backward Error Correction으로, 오류가 있으면 송신 측 재전송을 요구한다.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Parity 검사는 데이터 블록 끝에 검사 비트를 붙여 1의 개수 홀짝을 맞춘다.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CRC는 생성 다항식으로 나눈 나머지를 검사값으로 사용한다.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검출만 하는 Parity/CRC와 수정까지 가능한 Hamming을 구분해야 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① Hamming</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② FEC</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③ BEC</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④ Parity</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⑤ CRC</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Q44</a:t>
            </a:r>
            <a:endParaRPr lang="en-US" sz="8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Q58 접근통제 모델 MAC/RBAC/DAC</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보기: DAC, MAC, RBAC.</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ㄱ: 중앙 보안 정책, 사용자가 임의 변경 불가, 군사 기밀 등 등급 기반.</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ㄴ: 직무나 역할(Role)에 따라 권한 부여.</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ㄷ: 자원 소유자가 권한을 자유롭게 부여/회수.</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중앙에서 강제로 통제하고 보안 등급에 따라 접근을 정하면 MAC이다.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역할(Role)에 권한을 묶어 사용자에게 적용하면 RBAC이다.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소유자(Owner)가 권한을 재량으로 설정하면 DAC이다.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MAC은 보안성 높고 유연성 낮음, DAC은 유연하지만 보안성 상대적으로 낮음.</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RBAC은 조직 업무 권한 관리에 적합하다.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MAC은 Mandatory Access Control이다. 중앙 정책과 보안 등급에 따라 접근을 강제한다.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RBAC은 Role-Based Access Control이다. 사용자에게 직접 권한을 주는 대신 역할에 권한을 묶는다.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DAC은 Discretionary Access Control이다. 소유자가 자원 권한을 재량으로 부여하거나 회수한다.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군사 기밀/보안 등급 단서는 MAC, 직무/역할 단서는 RBAC, 소유자 단서는 DAC이다.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ㄱ MAC</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ㄴ RBAC</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ㄷ DAC</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Q58</a:t>
            </a:r>
            <a:endParaRPr lang="en-US" sz="8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Q59 테스트케이스 구성요소</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테스트케이스 표에서 빈칸 세 개를 보기 중에서 고른다. 표의 열은 식별자 ID, 테스트 항목, 사용자 초기 화면, 사용자 아이디/비밀번호,</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로그인 성공/실패 형태다.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“사용자 초기 화면”은 테스트를 수행하기 위해 필요한 사전 조건 또는 상태다.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“사용자 아이디/비밀번호”는 테스트에 투입되는 값이므로 테스트 데이터다.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“로그인 성공/실패”는 실행 후 기대되는 결과다.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수행 단계는 실제 조작 순서가 나와야 하므로 이 표의 빈칸에는 맞지 않는다.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성공/실패 기준은 판정 기준 전체를 뜻하므로 여기서는 예상 결과가 더 직접적이다.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표에서 “사용자 초기 화면”은 테스트를 시작하기 위해 만족되어야 하는 조건이다. 따라서 테스트 조건이다.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“사용자 아이디, 비밀번호”는 테스트에 입력하는 값이다. 따라서 테스트 데이터다.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“로그인 성공/로그인 실패”는 실행 후 기대하는 결과다. 따라서 예상 결과다.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수행 단계는 클릭, 입력, 버튼 누르기처럼 절차가 나와야 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성공/실패 기준은 예상 결과와 실제 결과를 비교해 통과 여부를 판단하는 기준이다.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왼쪽부터: 테스트 조건, 테스트 데이터, 예상 결과</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기호: ㄱ, ㄹ, ㅁ</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Q59</a:t>
            </a:r>
            <a:endParaRPr lang="en-US" sz="8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Q62 디자인 패턴 Bridge / Observer</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
(ㄱ) 기능의 클래스 계층과 구현의 클래스 계층을 연결한다.
(ㄴ) 한 객체의 상태가 바뀌면 그 객체에 의존하는 다른 객체들에게 자동으로 통지되고 갱신된다.
[기본 풀이]
- 1) 기능 계층과 구현 계층을 분리하고 연결하는 패턴은 Bridge다.
- 2) Bridge는 추상화와 구현을 독립적으로 확장할 수 있게 한다.
- 3) 객체 상태 변화가 의존 객체들에게 전달되는 패턴은 Observer다.
- 4) Observer는 Subject-Observer 구조를 갖는다.
- 5) MVC, 이벤트 리스너, 구독/발행 구조에서 Observer 개념이 자주 쓰인다.
</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ㄱ Bridge</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ㄴ Observer</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Q62</a:t>
            </a:r>
            <a:endParaRPr lang="en-US" sz="8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Q64 비기능 요구사항 유형</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
1. 시스템 운영 중 로그 관리 및 모니터링 기능 제공
2. 시스템 운영 시 최소 메모리 용량 확보, 자원 사용량 제한
3. 사용자 요청에 대한 응답 시간은 최대 1분 초과 금지
보기: 신뢰성, 가용성, 운영, 유지보수성, 자원, 성능, 이식성, 보안, 품질
[기본 풀이]
- 1) 로그 관리와 모니터링은 시스템 운영 과정의 요구이므로 운영 요구사항이다.
- 2) 메모리 용량과 사용량 제한은 자원 요구사항이다.
- 3) 응답 시간 제한은 처리 속도와 관련되어 성능 요구사항이다.
- 4) 가용성은 중단 없이 이용 가능한 정도, 신뢰성은 장애 없이 수행하는 정도다.
- 5) 보안은 인증, 접근통제, 암호화 등 보호 요구에 해당한다.
</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 운영</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2. 자원</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3. 성능</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Q64</a:t>
            </a:r>
            <a:endParaRPr lang="en-US" sz="8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Q66 HDLC 프레임과 모드</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HDLC는 비트 중심 데이터 링크 제어 프로토콜이다.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 사용자 데이터를 전송하는 프레임</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2. 흐름 관리, 오류 제어, 통신 상태 감시 프레임</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3. 순서 번호 없이 링크 설정/해제/모드 설정 수행 프레임</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4. 두 국이 동등하게 명령/응답하는 모드</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5. 종국이 주국 허가 없이 자발적 응답 전송 가능 모드</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사용자 데이터 전송은 정보 프레임, I-frame이다.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흐름 제어와 오류 제어는 감독 프레임, S-frame이다.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링크 설정, 해제, 모드 설정 등 비번호 제어는 U-frame이다.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양쪽이 동등한 위치에서 통신하는 모드는 ABM, 비동기 균형 모드다.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종국이 허가 없이도 응답 가능한 모드는 ARM, 비동기 응답 모드다.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I-frame은 Information frame이다. 실제 사용자 데이터를 싣는다.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S-frame은 Supervisory frame이다. 흐름 제어, 오류 제어, ACK/NAK 성격의 제어에 사용된다.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U-frame은 Unnumbered frame이다. 번호 없이 링크 설정/해제, 모드 설정 같은 관리 기능을 수행한다.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ABM은 Asynchronous Balanced Mode로 양쪽 국이 동등한 복합국처럼 명령과 응답을 주고받는다.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ARM은 Asynchronous Response Mode로 종국이 주국의 허가 없이도 자발적 응답을 할 수 있다.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 정보 프레임(I-frame)</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2. 감독 프레임(S-frame)</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3. 비번호 프레임(U-frame)</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4. 비동기 균형 모드(ABM)</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5. 비동기 응답 모드(ARM)</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Q66</a:t>
            </a:r>
            <a:endParaRPr lang="en-US" sz="8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Q71 CIDR 네트워크 주소 /23</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호스트 a: 192.168.11.20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호스트 b: 192.168.12.200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서브넷 마스크: 255.255.254.0</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각 호스트가 속한 네트워크 주소를 CIDR 표기법으로 쓴다.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255.255.254.0은 /23이다.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세 번째 옥텟의 블록 크기는 256-254=2다.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11은 10~11 블록에 속하므로 a의 네트워크는 192.168.10.0/23이다.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12는 12~13 블록에 속하므로 b의 네트워크는 192.168.12.0/23이다.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/23은 두 개의 /24 대역을 하나로 묶는다고 생각하면 빠르다.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255.255.254.0은 /23이다. 세 번째 옥텟에서 7비트가 네트워크, 1비트가 호스트 쪽으로 넘어간다.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세 번째 옥텟의 블록 크기는 256-254=2다.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세 번째 옥텟 11은 10~11 블록에 속한다. 따라서 a는 192.168.10.0/23이다.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세 번째 옥텟 12는 12~13 블록에 속한다. 따라서 b는 192.168.12.0/23이다.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/23 네트워크는 두 개의 /24 대역을 묶는다. 10.0/23은 10.*와 11.*를 포함하고, 12.0/23은 12.*와 13.*를</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포함한다.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a. 192.168.10.0/23</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b. 192.168.12.0/23</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Q71</a:t>
            </a:r>
            <a:endParaRPr lang="en-US" sz="8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Q75 심볼릭 링크 공격</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
공격자는 실제 데이터 파일 경로를 가리키는 특수 파일을 미리 만들고, 프로그램이 임시 파일을 생성하는 순간 임시 파일을 해당 특수 파일로
  교체한다. 이후 프로그램이 임시 파일을 정상으로 인식하고 동작하게 만든다. 보기: 하드링크, 심볼릭링크, 소프트링크, 정적링크, 동적링크
[기본 풀이]
- 1) 실제 파일이 아니라 다른 파일의 경로를 가리키는 특수 파일은 심볼릭 링크다.
- 2) 소프트링크는 심볼릭 링크와 같은 의미로 쓰이기도 하지만, 보기에서는 심볼릭링크가 더 직접적이다.
- 3) 하드링크는 같은 inode를 가리키며 경로 참조 방식과 구분된다.
- 4) 임시 파일 생성 시점의 경쟁 조건과 결합되면 보안 취약점이 된다.
- 5) 핵심 단서는 “특수 파일”, “경로 참조”, “임시 파일 교체”다.
</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심볼릭링크</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Q75</a:t>
            </a:r>
            <a:endParaRPr lang="en-US" sz="8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Q79 통합 테스트 더미 모듈</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 하위 모듈을 대신하여 단순한 결과값만 반환하도록 임시 작성된 더미 모듈. 하향식 통합 테스트 수행 시 필요.</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(2) 상위 모듈을 대신하여 하위 모듈의 데이터 입력과 출력을 확인하기 위한 더미 모듈. 상향식 통합 테스트 수행 시 필요.</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하향식 통합 테스트는 상위 모듈부터 테스트한다.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아직 없는 하위 모듈을 대신하는 임시 모듈이 스텁(Stub)이다.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상향식 통합 테스트는 하위 모듈부터 테스트한다.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하위 모듈을 호출해 줄 상위 모듈 역할의 임시 모듈이 드라이버(Driver)다.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암기 포인트: 하향식=스텁, 상향식=드라이버.</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하향식 통합 테스트는 상위 모듈을 먼저 테스트한다. 아직 작성되지 않은 하위 모듈은 가짜 모듈로 대체해야 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이때 하위 모듈을 대신해 단순 값만 반환하는 모듈이 스텁(Stub)이다.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상향식 통합 테스트는 하위 모듈을 먼저 테스트한다.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하위 모듈을 호출해 주는 상위 모듈 역할의 가짜 모듈이 필요하다.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이 모듈이 드라이버(Driver)다.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암기: 하향식은 아래쪽이 비어 있으므로 스텁, 상향식은 위에서 호출해 줄 드라이버.</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 스텁</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(2) 드라이버</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Q79</a:t>
            </a:r>
            <a:endParaRPr lang="en-US" sz="8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이론/계산 해설</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Q80 응집도: 절차·교환·기능</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30352" y="1170432"/>
            <a:ext cx="11109960" cy="4892040"/>
          </a:xfrm>
          <a:prstGeom prst="rect">
            <a:avLst/>
          </a:prstGeom>
          <a:solidFill>
            <a:srgbClr val="FFFFFF"/>
          </a:solidFill>
          <a:ln w="7620">
            <a:solidFill>
              <a:srgbClr val="E5E7EB"/>
            </a:solidFill>
          </a:ln>
        </p:spPr>
        <p:txBody>
          <a:bodyPr wrap="square" lIns="1651" tIns="1651" rIns="1651" bIns="1651" rtlCol="0" anchor="t">
            <a:normAutofit/>
          </a:bodyPr>
          <a:lstStyle/>
          <a:p>
            <a:pPr indent="0" marL="0">
              <a:buNone/>
            </a:pPr>
            <a:r>
              <a:rPr lang="en-US" sz="1300" dirty="0">
                <a:solidFill>
                  <a:srgbClr val="111827"/>
                </a:solidFill>
                <a:latin typeface="Malgun Gothic" pitchFamily="34" charset="0"/>
                <a:ea typeface="Malgun Gothic" pitchFamily="34" charset="-122"/>
                <a:cs typeface="Malgun Gothic" pitchFamily="34" charset="-120"/>
              </a:rPr>
              <a:t>[문제 조건]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(1) 모듈이 다수의 관련 기능을 가질 때 구성요소들이 그 기능을 순차적으로 수행한다.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(2) 동일한 입력과 출력을 사용하여 서로 다른 기능을 수행하는 활동들이 모여 있다.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(3) 모듈 내부의 모든 기능이 단일 목적을 위해 수행된다.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[기본 풀이]</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- 1) 순서대로 수행되는 관련 기능이 모이면 절차적 응집도다.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- 2) 동일 입출력을 공유하지만 서로 다른 기능이 모이면 교환적 응집도다.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- 3) 단일 목적을 위해 모든 기능이 모이면 기능적 응집도다.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- 4) 응집도는 높을수록 좋고, 기능적 응집도가 가장 바람직하다.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- 5) 결합도는 낮게, 응집도는 높게 설계하는 것이 기본 원칙이다.</a:t>
            </a:r>
            <a:endParaRPr lang="en-US" sz="1300" dirty="0"/>
          </a:p>
          <a:p>
            <a:pPr indent="0" marL="0">
              <a:buNone/>
            </a:pP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[상세 해설]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절차적 응집도는 모듈 내부 기능들이 순서 관계를 갖고 수행되는 경우다.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교환적 응집도는 같은 입력 또는 같은 출력을 공유하는 여러 기능이 모인 경우다.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기능적 응집도는 모듈의 모든 요소가 하나의 명확한 기능을 수행하는 경우다.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응집도는 기능적 응집도에 가까울수록 좋다.</a:t>
            </a:r>
            <a:endParaRPr lang="en-US" sz="1300" dirty="0"/>
          </a:p>
          <a:p>
            <a:pPr indent="0" marL="0">
              <a:buNone/>
            </a:pPr>
            <a:r>
              <a:rPr lang="en-US" sz="1300" dirty="0">
                <a:solidFill>
                  <a:srgbClr val="111827"/>
                </a:solidFill>
                <a:latin typeface="Malgun Gothic" pitchFamily="34" charset="0"/>
                <a:ea typeface="Malgun Gothic" pitchFamily="34" charset="-122"/>
                <a:cs typeface="Malgun Gothic" pitchFamily="34" charset="-120"/>
              </a:rPr>
              <a:t>절차는 “순서”, 교환은 “입출력 공유”, 기능은 “하나의 목적”으로 구분하면 된다.</a:t>
            </a:r>
            <a:endParaRPr lang="en-US" sz="1300" dirty="0"/>
          </a:p>
        </p:txBody>
      </p:sp>
      <p:sp>
        <p:nvSpPr>
          <p:cNvPr id="6" name="Text 4"/>
          <p:cNvSpPr/>
          <p:nvPr/>
        </p:nvSpPr>
        <p:spPr>
          <a:xfrm>
            <a:off x="530352" y="6199632"/>
            <a:ext cx="11109960" cy="329184"/>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(1) 절차적 응집도</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(2) 교환적 응집도</a:t>
            </a:r>
            <a:endParaRPr lang="en-US" sz="1350" dirty="0"/>
          </a:p>
          <a:p>
            <a:pPr indent="0" marL="0">
              <a:buNone/>
            </a:pPr>
            <a:r>
              <a:rPr lang="en-US" sz="1350" b="1" dirty="0">
                <a:solidFill>
                  <a:srgbClr val="006100"/>
                </a:solidFill>
                <a:latin typeface="Malgun Gothic" pitchFamily="34" charset="0"/>
                <a:ea typeface="Malgun Gothic" pitchFamily="34" charset="-122"/>
                <a:cs typeface="Malgun Gothic" pitchFamily="34" charset="-120"/>
              </a:rPr>
              <a:t>(3) 기능적 응집도</a:t>
            </a:r>
            <a:endParaRPr lang="en-US" sz="1350" dirty="0"/>
          </a:p>
        </p:txBody>
      </p:sp>
      <p:sp>
        <p:nvSpPr>
          <p:cNvPr id="7" name="Text 5"/>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Q80</a:t>
            </a:r>
            <a:endParaRPr lang="en-US" sz="8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2560320" cy="228600"/>
          </a:xfrm>
          <a:prstGeom prst="rect">
            <a:avLst/>
          </a:prstGeom>
          <a:noFill/>
          <a:ln/>
        </p:spPr>
        <p:txBody>
          <a:bodyPr wrap="square" lIns="0" tIns="0" rIns="0" bIns="0" rtlCol="0" anchor="ctr"/>
          <a:lstStyle/>
          <a:p>
            <a:pPr indent="0" marL="0">
              <a:buNone/>
            </a:pPr>
            <a:r>
              <a:rPr lang="en-US" sz="900" b="1" dirty="0">
                <a:solidFill>
                  <a:srgbClr val="1F4E79"/>
                </a:solidFill>
                <a:latin typeface="Malgun Gothic" pitchFamily="34" charset="0"/>
                <a:ea typeface="Malgun Gothic" pitchFamily="34" charset="-122"/>
                <a:cs typeface="Malgun Gothic" pitchFamily="34" charset="-120"/>
              </a:rPr>
              <a:t>마무리</a:t>
            </a:r>
            <a:endParaRPr lang="en-US" sz="900" dirty="0"/>
          </a:p>
        </p:txBody>
      </p:sp>
      <p:sp>
        <p:nvSpPr>
          <p:cNvPr id="3" name="Text 1"/>
          <p:cNvSpPr/>
          <p:nvPr/>
        </p:nvSpPr>
        <p:spPr>
          <a:xfrm>
            <a:off x="457200" y="420624"/>
            <a:ext cx="11155680" cy="329184"/>
          </a:xfrm>
          <a:prstGeom prst="rect">
            <a:avLst/>
          </a:prstGeom>
          <a:noFill/>
          <a:ln/>
        </p:spPr>
        <p:txBody>
          <a:bodyPr wrap="square" lIns="0" tIns="0" rIns="0" bIns="0" rtlCol="0" anchor="ctr">
            <a:normAutofit/>
          </a:bodyPr>
          <a:lstStyle/>
          <a:p>
            <a:pPr indent="0" marL="0">
              <a:buNone/>
            </a:pPr>
            <a:r>
              <a:rPr lang="en-US" sz="2000" b="1" dirty="0">
                <a:solidFill>
                  <a:srgbClr val="111827"/>
                </a:solidFill>
                <a:latin typeface="Malgun Gothic" pitchFamily="34" charset="0"/>
                <a:ea typeface="Malgun Gothic" pitchFamily="34" charset="-122"/>
                <a:cs typeface="Malgun Gothic" pitchFamily="34" charset="-120"/>
              </a:rPr>
              <a:t>최종 점검: 유형별 풀이 체크리스트</a:t>
            </a:r>
            <a:endParaRPr lang="en-US" sz="2000" dirty="0"/>
          </a:p>
        </p:txBody>
      </p:sp>
      <p:sp>
        <p:nvSpPr>
          <p:cNvPr id="4" name="Text 2"/>
          <p:cNvSpPr/>
          <p:nvPr/>
        </p:nvSpPr>
        <p:spPr>
          <a:xfrm>
            <a:off x="457200" y="841248"/>
            <a:ext cx="11155680" cy="91440"/>
          </a:xfrm>
          <a:prstGeom prst="rect">
            <a:avLst/>
          </a:prstGeom>
          <a:noFill/>
          <a:ln/>
        </p:spPr>
        <p:txBody>
          <a:bodyPr wrap="square" lIns="0" tIns="0" rIns="0" bIns="0" rtlCol="0" anchor="ctr"/>
          <a:lstStyle/>
          <a:p>
            <a:pPr indent="0" marL="0">
              <a:buNone/>
            </a:pPr>
            <a:r>
              <a:rPr lang="en-US" sz="800" dirty="0">
                <a:solidFill>
                  <a:srgbClr val="B8C2CC"/>
                </a:solidFill>
                <a:latin typeface="Malgun Gothic" pitchFamily="34" charset="0"/>
                <a:ea typeface="Malgun Gothic" pitchFamily="34" charset="-122"/>
                <a:cs typeface="Malgun Gothic" pitchFamily="34" charset="-120"/>
              </a:rPr>
              <a:t>──────────────────────────────────────────────────────────────</a:t>
            </a:r>
            <a:endParaRPr lang="en-US" sz="800" dirty="0"/>
          </a:p>
        </p:txBody>
      </p:sp>
      <p:sp>
        <p:nvSpPr>
          <p:cNvPr id="5" name="Text 3"/>
          <p:cNvSpPr/>
          <p:nvPr/>
        </p:nvSpPr>
        <p:spPr>
          <a:xfrm>
            <a:off x="502920" y="1097280"/>
            <a:ext cx="11155680" cy="310896"/>
          </a:xfrm>
          <a:prstGeom prst="rect">
            <a:avLst/>
          </a:prstGeom>
          <a:solidFill>
            <a:srgbClr val="F8FAFC"/>
          </a:solidFill>
          <a:ln w="7620">
            <a:solidFill>
              <a:srgbClr val="E5E7EB"/>
            </a:solidFill>
          </a:ln>
        </p:spPr>
        <p:txBody>
          <a:bodyPr wrap="square" lIns="1016" tIns="1016" rIns="1016" bIns="1016" rtlCol="0" anchor="t">
            <a:normAutofit/>
          </a:bodyPr>
          <a:lstStyle/>
          <a:p>
            <a:pPr indent="0" marL="0">
              <a:buNone/>
            </a:pPr>
            <a:r>
              <a:rPr lang="en-US" sz="1050" b="1" dirty="0">
                <a:solidFill>
                  <a:srgbClr val="111827"/>
                </a:solidFill>
                <a:latin typeface="Malgun Gothic" pitchFamily="34" charset="0"/>
                <a:ea typeface="Malgun Gothic" pitchFamily="34" charset="-122"/>
                <a:cs typeface="Malgun Gothic" pitchFamily="34" charset="-120"/>
              </a:rPr>
              <a:t>코드 출력형</a:t>
            </a:r>
            <a:endParaRPr lang="en-US" sz="1050" dirty="0"/>
          </a:p>
        </p:txBody>
      </p:sp>
      <p:sp>
        <p:nvSpPr>
          <p:cNvPr id="6" name="Text 4"/>
          <p:cNvSpPr/>
          <p:nvPr/>
        </p:nvSpPr>
        <p:spPr>
          <a:xfrm>
            <a:off x="502920" y="1408176"/>
            <a:ext cx="11155680" cy="1014984"/>
          </a:xfrm>
          <a:prstGeom prst="rect">
            <a:avLst/>
          </a:prstGeom>
          <a:solidFill>
            <a:srgbClr val="F8FAFC"/>
          </a:solidFill>
          <a:ln w="7620">
            <a:solidFill>
              <a:srgbClr val="E5E7EB"/>
            </a:solidFill>
          </a:ln>
        </p:spPr>
        <p:txBody>
          <a:bodyPr wrap="square" lIns="1270" tIns="1270" rIns="1270" bIns="1270" rtlCol="0" anchor="t">
            <a:normAutofit/>
          </a:bodyPr>
          <a:lstStyle/>
          <a:p>
            <a:pPr indent="0" marL="0">
              <a:buNone/>
            </a:pPr>
            <a:r>
              <a:rPr lang="en-US" sz="1400" dirty="0">
                <a:solidFill>
                  <a:srgbClr val="111827"/>
                </a:solidFill>
                <a:latin typeface="Malgun Gothic" pitchFamily="34" charset="0"/>
                <a:ea typeface="Malgun Gothic" pitchFamily="34" charset="-122"/>
                <a:cs typeface="Malgun Gothic" pitchFamily="34" charset="-120"/>
              </a:rPr>
              <a:t>C: 주소/포인터/구조체 대입/비트 연산을 표로 적는다.</a:t>
            </a:r>
            <a:endParaRPr lang="en-US" sz="1400" dirty="0"/>
          </a:p>
          <a:p>
            <a:pPr indent="0" marL="0">
              <a:buNone/>
            </a:pPr>
            <a:r>
              <a:rPr lang="en-US" sz="1400" dirty="0">
                <a:solidFill>
                  <a:srgbClr val="111827"/>
                </a:solidFill>
                <a:latin typeface="Malgun Gothic" pitchFamily="34" charset="0"/>
                <a:ea typeface="Malgun Gothic" pitchFamily="34" charset="-122"/>
                <a:cs typeface="Malgun Gothic" pitchFamily="34" charset="-120"/>
              </a:rPr>
              <a:t>Java: 오버로딩은 컴파일 타입, 오버라이딩은 실제 객체 타입, static은 선언 타입.</a:t>
            </a:r>
            <a:endParaRPr lang="en-US" sz="1400" dirty="0"/>
          </a:p>
          <a:p>
            <a:pPr indent="0" marL="0">
              <a:buNone/>
            </a:pPr>
            <a:r>
              <a:rPr lang="en-US" sz="1400" dirty="0">
                <a:solidFill>
                  <a:srgbClr val="111827"/>
                </a:solidFill>
                <a:latin typeface="Malgun Gothic" pitchFamily="34" charset="0"/>
                <a:ea typeface="Malgun Gothic" pitchFamily="34" charset="-122"/>
                <a:cs typeface="Malgun Gothic" pitchFamily="34" charset="-120"/>
              </a:rPr>
              <a:t>Python: 슬라이싱과 얕은 복사, dict/set 독립성을 구분한다.</a:t>
            </a:r>
            <a:endParaRPr lang="en-US" sz="1400" dirty="0"/>
          </a:p>
        </p:txBody>
      </p:sp>
      <p:sp>
        <p:nvSpPr>
          <p:cNvPr id="7" name="Text 5"/>
          <p:cNvSpPr/>
          <p:nvPr/>
        </p:nvSpPr>
        <p:spPr>
          <a:xfrm>
            <a:off x="502920" y="2651760"/>
            <a:ext cx="11155680" cy="310896"/>
          </a:xfrm>
          <a:prstGeom prst="rect">
            <a:avLst/>
          </a:prstGeom>
          <a:solidFill>
            <a:srgbClr val="FFFFFF"/>
          </a:solidFill>
          <a:ln w="7620">
            <a:solidFill>
              <a:srgbClr val="E5E7EB"/>
            </a:solidFill>
          </a:ln>
        </p:spPr>
        <p:txBody>
          <a:bodyPr wrap="square" lIns="1016" tIns="1016" rIns="1016" bIns="1016" rtlCol="0" anchor="t">
            <a:normAutofit/>
          </a:bodyPr>
          <a:lstStyle/>
          <a:p>
            <a:pPr indent="0" marL="0">
              <a:buNone/>
            </a:pPr>
            <a:r>
              <a:rPr lang="en-US" sz="1050" b="1" dirty="0">
                <a:solidFill>
                  <a:srgbClr val="111827"/>
                </a:solidFill>
                <a:latin typeface="Malgun Gothic" pitchFamily="34" charset="0"/>
                <a:ea typeface="Malgun Gothic" pitchFamily="34" charset="-122"/>
                <a:cs typeface="Malgun Gothic" pitchFamily="34" charset="-120"/>
              </a:rPr>
              <a:t>SQL / 관계대수</a:t>
            </a:r>
            <a:endParaRPr lang="en-US" sz="1050" dirty="0"/>
          </a:p>
        </p:txBody>
      </p:sp>
      <p:sp>
        <p:nvSpPr>
          <p:cNvPr id="8" name="Text 6"/>
          <p:cNvSpPr/>
          <p:nvPr/>
        </p:nvSpPr>
        <p:spPr>
          <a:xfrm>
            <a:off x="502920" y="2962656"/>
            <a:ext cx="11155680" cy="923544"/>
          </a:xfrm>
          <a:prstGeom prst="rect">
            <a:avLst/>
          </a:prstGeom>
          <a:solidFill>
            <a:srgbClr val="FFFFFF"/>
          </a:solidFill>
          <a:ln w="7620">
            <a:solidFill>
              <a:srgbClr val="E5E7EB"/>
            </a:solidFill>
          </a:ln>
        </p:spPr>
        <p:txBody>
          <a:bodyPr wrap="square" lIns="1270" tIns="1270" rIns="1270" bIns="1270" rtlCol="0" anchor="t">
            <a:normAutofit/>
          </a:bodyPr>
          <a:lstStyle/>
          <a:p>
            <a:pPr indent="0" marL="0">
              <a:buNone/>
            </a:pPr>
            <a:r>
              <a:rPr lang="en-US" sz="1400" dirty="0">
                <a:solidFill>
                  <a:srgbClr val="111827"/>
                </a:solidFill>
                <a:latin typeface="Malgun Gothic" pitchFamily="34" charset="0"/>
                <a:ea typeface="Malgun Gothic" pitchFamily="34" charset="-122"/>
                <a:cs typeface="Malgun Gothic" pitchFamily="34" charset="-120"/>
              </a:rPr>
              <a:t>JOIN → WHERE → SELECT → DISTINCT/COUNT 순서로 중간 결과를 만든다.</a:t>
            </a:r>
            <a:endParaRPr lang="en-US" sz="1400" dirty="0"/>
          </a:p>
          <a:p>
            <a:pPr indent="0" marL="0">
              <a:buNone/>
            </a:pPr>
            <a:r>
              <a:rPr lang="en-US" sz="1400" dirty="0">
                <a:solidFill>
                  <a:srgbClr val="111827"/>
                </a:solidFill>
                <a:latin typeface="Malgun Gothic" pitchFamily="34" charset="0"/>
                <a:ea typeface="Malgun Gothic" pitchFamily="34" charset="-122"/>
                <a:cs typeface="Malgun Gothic" pitchFamily="34" charset="-120"/>
              </a:rPr>
              <a:t>COUNT(*)는 NULL 포함 행 수, COUNT(컬럼)은 NULL 제외.</a:t>
            </a:r>
            <a:endParaRPr lang="en-US" sz="1400" dirty="0"/>
          </a:p>
          <a:p>
            <a:pPr indent="0" marL="0">
              <a:buNone/>
            </a:pPr>
            <a:r>
              <a:rPr lang="en-US" sz="1400" dirty="0">
                <a:solidFill>
                  <a:srgbClr val="111827"/>
                </a:solidFill>
                <a:latin typeface="Malgun Gothic" pitchFamily="34" charset="0"/>
                <a:ea typeface="Malgun Gothic" pitchFamily="34" charset="-122"/>
                <a:cs typeface="Malgun Gothic" pitchFamily="34" charset="-120"/>
              </a:rPr>
              <a:t>R÷S는 “S의 모든 값과 짝을 이루는 A”를 찾는 연산이다.</a:t>
            </a:r>
            <a:endParaRPr lang="en-US" sz="1400" dirty="0"/>
          </a:p>
        </p:txBody>
      </p:sp>
      <p:sp>
        <p:nvSpPr>
          <p:cNvPr id="9" name="Text 7"/>
          <p:cNvSpPr/>
          <p:nvPr/>
        </p:nvSpPr>
        <p:spPr>
          <a:xfrm>
            <a:off x="502920" y="4114800"/>
            <a:ext cx="11155680" cy="310896"/>
          </a:xfrm>
          <a:prstGeom prst="rect">
            <a:avLst/>
          </a:prstGeom>
          <a:solidFill>
            <a:srgbClr val="F8FAFC"/>
          </a:solidFill>
          <a:ln w="7620">
            <a:solidFill>
              <a:srgbClr val="E5E7EB"/>
            </a:solidFill>
          </a:ln>
        </p:spPr>
        <p:txBody>
          <a:bodyPr wrap="square" lIns="1016" tIns="1016" rIns="1016" bIns="1016" rtlCol="0" anchor="t">
            <a:normAutofit/>
          </a:bodyPr>
          <a:lstStyle/>
          <a:p>
            <a:pPr indent="0" marL="0">
              <a:buNone/>
            </a:pPr>
            <a:r>
              <a:rPr lang="en-US" sz="1050" b="1" dirty="0">
                <a:solidFill>
                  <a:srgbClr val="111827"/>
                </a:solidFill>
                <a:latin typeface="Malgun Gothic" pitchFamily="34" charset="0"/>
                <a:ea typeface="Malgun Gothic" pitchFamily="34" charset="-122"/>
                <a:cs typeface="Malgun Gothic" pitchFamily="34" charset="-120"/>
              </a:rPr>
              <a:t>계산형 이론</a:t>
            </a:r>
            <a:endParaRPr lang="en-US" sz="1050" dirty="0"/>
          </a:p>
        </p:txBody>
      </p:sp>
      <p:sp>
        <p:nvSpPr>
          <p:cNvPr id="10" name="Text 8"/>
          <p:cNvSpPr/>
          <p:nvPr/>
        </p:nvSpPr>
        <p:spPr>
          <a:xfrm>
            <a:off x="502920" y="4425696"/>
            <a:ext cx="11155680" cy="923544"/>
          </a:xfrm>
          <a:prstGeom prst="rect">
            <a:avLst/>
          </a:prstGeom>
          <a:solidFill>
            <a:srgbClr val="F8FAFC"/>
          </a:solidFill>
          <a:ln w="7620">
            <a:solidFill>
              <a:srgbClr val="E5E7EB"/>
            </a:solidFill>
          </a:ln>
        </p:spPr>
        <p:txBody>
          <a:bodyPr wrap="square" lIns="1270" tIns="1270" rIns="1270" bIns="1270" rtlCol="0" anchor="t">
            <a:normAutofit/>
          </a:bodyPr>
          <a:lstStyle/>
          <a:p>
            <a:pPr indent="0" marL="0">
              <a:buNone/>
            </a:pPr>
            <a:r>
              <a:rPr lang="en-US" sz="1400" dirty="0">
                <a:solidFill>
                  <a:srgbClr val="111827"/>
                </a:solidFill>
                <a:latin typeface="Malgun Gothic" pitchFamily="34" charset="0"/>
                <a:ea typeface="Malgun Gothic" pitchFamily="34" charset="-122"/>
                <a:cs typeface="Malgun Gothic" pitchFamily="34" charset="-120"/>
              </a:rPr>
              <a:t>서브넷: prefix → 블록 크기 → 네트워크/브로드캐스트 → 호스트 범위.</a:t>
            </a:r>
            <a:endParaRPr lang="en-US" sz="1400" dirty="0"/>
          </a:p>
          <a:p>
            <a:pPr indent="0" marL="0">
              <a:buNone/>
            </a:pPr>
            <a:r>
              <a:rPr lang="en-US" sz="1400" dirty="0">
                <a:solidFill>
                  <a:srgbClr val="111827"/>
                </a:solidFill>
                <a:latin typeface="Malgun Gothic" pitchFamily="34" charset="0"/>
                <a:ea typeface="Malgun Gothic" pitchFamily="34" charset="-122"/>
                <a:cs typeface="Malgun Gothic" pitchFamily="34" charset="-120"/>
              </a:rPr>
              <a:t>스케줄링: 간트 차트 → 완료시간 → 반환시간 → 대기시간.</a:t>
            </a:r>
            <a:endParaRPr lang="en-US" sz="1400" dirty="0"/>
          </a:p>
          <a:p>
            <a:pPr indent="0" marL="0">
              <a:buNone/>
            </a:pPr>
            <a:r>
              <a:rPr lang="en-US" sz="1400" dirty="0">
                <a:solidFill>
                  <a:srgbClr val="111827"/>
                </a:solidFill>
                <a:latin typeface="Malgun Gothic" pitchFamily="34" charset="0"/>
                <a:ea typeface="Malgun Gothic" pitchFamily="34" charset="-122"/>
                <a:cs typeface="Malgun Gothic" pitchFamily="34" charset="-120"/>
              </a:rPr>
              <a:t>커버리지: 문장/분기/조건/조건결정 기준을 구분한다.</a:t>
            </a:r>
            <a:endParaRPr lang="en-US" sz="1400" dirty="0"/>
          </a:p>
        </p:txBody>
      </p:sp>
      <p:sp>
        <p:nvSpPr>
          <p:cNvPr id="11" name="Text 9"/>
          <p:cNvSpPr/>
          <p:nvPr/>
        </p:nvSpPr>
        <p:spPr>
          <a:xfrm>
            <a:off x="502920" y="5870448"/>
            <a:ext cx="11155680" cy="438912"/>
          </a:xfrm>
          <a:prstGeom prst="rect">
            <a:avLst/>
          </a:prstGeom>
          <a:solidFill>
            <a:srgbClr val="F0FFF4"/>
          </a:solidFill>
          <a:ln w="7620">
            <a:solidFill>
              <a:srgbClr val="C6F6D5"/>
            </a:solidFill>
          </a:ln>
        </p:spPr>
        <p:txBody>
          <a:bodyPr wrap="square" lIns="1143" tIns="1143" rIns="1143" bIns="1143" rtlCol="0" anchor="t">
            <a:normAutofit/>
          </a:bodyPr>
          <a:lstStyle/>
          <a:p>
            <a:pPr indent="0" marL="0">
              <a:buNone/>
            </a:pPr>
            <a:r>
              <a:rPr lang="en-US" sz="1350" b="1" dirty="0">
                <a:solidFill>
                  <a:srgbClr val="006100"/>
                </a:solidFill>
                <a:latin typeface="Malgun Gothic" pitchFamily="34" charset="0"/>
                <a:ea typeface="Malgun Gothic" pitchFamily="34" charset="-122"/>
                <a:cs typeface="Malgun Gothic" pitchFamily="34" charset="-120"/>
              </a:rPr>
              <a:t>정답: 반복 출제되는 것은 “용어 암기”보다 “중간 과정 재현”이다.</a:t>
            </a:r>
            <a:endParaRPr lang="en-US" sz="1350" dirty="0"/>
          </a:p>
        </p:txBody>
      </p:sp>
      <p:sp>
        <p:nvSpPr>
          <p:cNvPr id="12" name="Text 10"/>
          <p:cNvSpPr/>
          <p:nvPr/>
        </p:nvSpPr>
        <p:spPr>
          <a:xfrm>
            <a:off x="457200" y="6702552"/>
            <a:ext cx="11201400" cy="109728"/>
          </a:xfrm>
          <a:prstGeom prst="rect">
            <a:avLst/>
          </a:prstGeom>
          <a:noFill/>
          <a:ln/>
        </p:spPr>
        <p:txBody>
          <a:bodyPr wrap="square" lIns="0" tIns="0" rIns="0" bIns="0" rtlCol="0" anchor="ctr"/>
          <a:lstStyle/>
          <a:p>
            <a:pPr algn="r" indent="0" marL="0">
              <a:buNone/>
            </a:pPr>
            <a:r>
              <a:rPr lang="en-US" sz="800" dirty="0">
                <a:solidFill>
                  <a:srgbClr val="9CA3AF"/>
                </a:solidFill>
                <a:latin typeface="Malgun Gothic" pitchFamily="34" charset="0"/>
                <a:ea typeface="Malgun Gothic" pitchFamily="34" charset="-122"/>
                <a:cs typeface="Malgun Gothic" pitchFamily="34" charset="-120"/>
              </a:rPr>
              <a:t>체크리스트</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120</Slides>
  <Notes>120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120</vt:i4>
      </vt:variant>
    </vt:vector>
  </HeadingPairs>
  <TitlesOfParts>
    <vt:vector size="1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정보처리기사 실기 복원문제 80선 상세 해설자료</dc:title>
  <dc:subject>정보처리기사 실기 복원문제 상세 해설자료</dc:subject>
  <dc:creator>OpenAI</dc:creator>
  <cp:lastModifiedBy>OpenAI</cp:lastModifiedBy>
  <cp:revision>1</cp:revision>
  <dcterms:created xsi:type="dcterms:W3CDTF">2026-07-11T22:49:10Z</dcterms:created>
  <dcterms:modified xsi:type="dcterms:W3CDTF">2026-07-11T22:49:10Z</dcterms:modified>
</cp:coreProperties>
</file>