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487541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E6C6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[2과목]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242316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데이터 입출력 구현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457200" y="352044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D4E5E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정보처리기사 핵심 정리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ED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3131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목차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11247120" cy="402336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777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5736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463040" y="731520"/>
            <a:ext cx="10058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3131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데이터 모델링 (개념/논리/물리 + E-R 다이어그램)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170432"/>
            <a:ext cx="11247120" cy="402336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640080" y="1170432"/>
            <a:ext cx="777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5736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02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63040" y="1170432"/>
            <a:ext cx="10058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3131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이상 현상 (Anomaly)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609344"/>
            <a:ext cx="11247120" cy="402336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40080" y="1609344"/>
            <a:ext cx="777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5736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03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463040" y="1609344"/>
            <a:ext cx="10058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3131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정규화 (Normalization) + 역정규화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048256"/>
            <a:ext cx="11247120" cy="402336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640080" y="2048256"/>
            <a:ext cx="777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5736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04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463040" y="2048256"/>
            <a:ext cx="10058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3131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SQL 명령어 분류 + SELECT 구조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2487168"/>
            <a:ext cx="11247120" cy="402336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640080" y="2487168"/>
            <a:ext cx="777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5736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05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463040" y="2487168"/>
            <a:ext cx="10058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3131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JOIN 종류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2926080"/>
            <a:ext cx="11247120" cy="402336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640080" y="2926080"/>
            <a:ext cx="777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5736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06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463040" y="2926080"/>
            <a:ext cx="10058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3131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트랜잭션 (ACID + 상태)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3364992"/>
            <a:ext cx="11247120" cy="402336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640080" y="3364992"/>
            <a:ext cx="777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5736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07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463040" y="3364992"/>
            <a:ext cx="10058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3131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병행 제어 (Concurrency Control)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3803904"/>
            <a:ext cx="11247120" cy="402336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640080" y="3803904"/>
            <a:ext cx="777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5736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08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463040" y="3803904"/>
            <a:ext cx="10058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3131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회복 기법 (Recovery)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57200" y="4242816"/>
            <a:ext cx="11247120" cy="402336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640080" y="4242816"/>
            <a:ext cx="777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5736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09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463040" y="4242816"/>
            <a:ext cx="10058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3131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물리 데이터베이스 설계 (인덱스, 뷰, 파티션)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57200" y="4681728"/>
            <a:ext cx="11247120" cy="402336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640080" y="4681728"/>
            <a:ext cx="777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5736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10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1463040" y="4681728"/>
            <a:ext cx="10058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3131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핵심 암기 포인트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ED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73152" cy="548640"/>
          </a:xfrm>
          <a:prstGeom prst="rect">
            <a:avLst/>
          </a:prstGeom>
          <a:solidFill>
            <a:srgbClr val="A573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201168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A5736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01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508760" y="201168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3131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데이터 모델링 (</a:t>
            </a:r>
            <a:r>
              <a:rPr lang="en-US" sz="2000" b="1" dirty="0" err="1">
                <a:solidFill>
                  <a:srgbClr val="13131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개논물</a:t>
            </a:r>
            <a:r>
              <a:rPr lang="en-US" sz="2000" b="1" dirty="0">
                <a:solidFill>
                  <a:srgbClr val="13131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)</a:t>
            </a:r>
            <a:endParaRPr lang="en-US" sz="2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11247120" cy="1645920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89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단계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73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설명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73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개념적 데이터 모델링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현실 세계에 대한 인식을 추상적 개념으로 표현 (E-R 다이어그램 작성)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논리적 데이터 모델링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개념적 구조를 DBMS가 이해할 수 있는 환경에 맞게 변환 (관계형 데이터 모델)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물리적 데이터 모델링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실제 데이터베이스에 어떻게 저장할 것인지 물리적 구조 설계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269748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E6C6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데이터베이스 설계 절차 (암기: </a:t>
            </a:r>
            <a:r>
              <a:rPr lang="en-US" sz="1500" b="1" dirty="0" err="1">
                <a:solidFill>
                  <a:srgbClr val="4E6C6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개·논·물</a:t>
            </a:r>
            <a:r>
              <a:rPr lang="en-US" sz="1500" b="1" dirty="0">
                <a:solidFill>
                  <a:srgbClr val="4E6C6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)</a:t>
            </a:r>
            <a:endParaRPr lang="en-US" sz="15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017520"/>
          <a:ext cx="11247120" cy="192024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06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순서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6C6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단계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6C6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설명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6C6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1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요구사항 분석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사용자 요구사항 수집 및 분석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2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개념적 설계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E-R 다이어그램 작성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3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논리적 설계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테이블, 속성, 키 설계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4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물리적 설계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저장 구조, 인덱스, 접근 경로 설계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5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구현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SQL로 실제 DB 객체 생성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ED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73152" cy="548640"/>
          </a:xfrm>
          <a:prstGeom prst="rect">
            <a:avLst/>
          </a:prstGeom>
          <a:solidFill>
            <a:srgbClr val="A573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201168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A5736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01-1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508760" y="201168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3131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E-R 다이어그램 + 카디널리티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11247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5736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E-R 다이어그램 구성 요소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70432"/>
          <a:ext cx="11247120" cy="146304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17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구성 요소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73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표기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73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설명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73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개체 (Entity)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사각형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독립적으로 존재하는 사물 또는 개념 (학생, 과목)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속성 (Attribute)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타원형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개체가 가지는 특성 (학번, 이름)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관계 (Relationship)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마름모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개체 간의 연관성 (수강)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2743200"/>
            <a:ext cx="11247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E6C6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카디널리티 (Cardinality) — 관계의 대응 수</a:t>
            </a:r>
            <a:endParaRPr lang="en-US" sz="140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044952"/>
          <a:ext cx="11247120" cy="182880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종류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6C6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설명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6C6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예시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6C6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1:1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한 개체가 다른 개체 한 개와 대응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남편 : 아내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1:N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한 개체가 다른 개체 여러 개와 대응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부서 : 사원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M:N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여러 개체가 서로 여러 개와 대응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학생 : 과목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ED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73152" cy="548640"/>
          </a:xfrm>
          <a:prstGeom prst="rect">
            <a:avLst/>
          </a:prstGeom>
          <a:solidFill>
            <a:srgbClr val="A573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201168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A5736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02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508760" y="201168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3131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이상 현상 (Anomaly)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55555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테이블 내 데이터가 불필요하게 중복되어 발생하는 논리적 오류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7242766"/>
              </p:ext>
            </p:extLst>
          </p:nvPr>
        </p:nvGraphicFramePr>
        <p:xfrm>
          <a:off x="457200" y="1234440"/>
          <a:ext cx="11247120" cy="347472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686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이상 현상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73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설명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73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예시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73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 err="1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삽입</a:t>
                      </a:r>
                      <a:r>
                        <a:rPr lang="en-US" sz="1300" b="1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 </a:t>
                      </a:r>
                      <a:r>
                        <a:rPr lang="en-US" sz="1300" b="1" dirty="0" err="1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이상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데이터를 삽입할 때 불필요한 데이터까지 함께 삽입해야 하는 현상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신입 사원 등록 시 배정 부서가 반드시 있어야 함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 err="1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삭제</a:t>
                      </a:r>
                      <a:r>
                        <a:rPr lang="en-US" sz="1300" b="1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 </a:t>
                      </a:r>
                      <a:r>
                        <a:rPr lang="en-US" sz="1300" b="1" dirty="0" err="1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이상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튜플 삭제 시 연쇄 삭제가 발생하여 유지해야 할 정보까지 삭제되는 현상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한 명뿐인 학생 삭제 시 과목 정보도 함께 사라짐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 err="1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갱신</a:t>
                      </a:r>
                      <a:r>
                        <a:rPr lang="en-US" sz="1300" b="1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 </a:t>
                      </a:r>
                      <a:r>
                        <a:rPr lang="en-US" sz="1300" b="1" dirty="0" err="1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이상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중복된 튜플 중 일부만 갱신하여 데이터 모순(불일치)이 발생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부서명이 여러 행에 중복될 때 일부만 변경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ED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73152" cy="548640"/>
          </a:xfrm>
          <a:prstGeom prst="rect">
            <a:avLst/>
          </a:prstGeom>
          <a:solidFill>
            <a:srgbClr val="A573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201168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A5736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03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508760" y="201168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3131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정규화 (Normalization) (암기: 도·부·이·결·다·조)</a:t>
            </a:r>
            <a:endParaRPr lang="en-US" sz="2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11247120" cy="4114803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60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782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단계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6C6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조건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6C6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설명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6C6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782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1NF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도메인이 원자값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모든 속성 값이 원자값(Atomic Value)만 갖도록 분해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782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2NF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부분 함수 종속 제거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기본키가 아닌 모든 속성이 기본키에 완전 함수 종속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782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3NF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이행적 함수 종속 제거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A → B, B → C 일 때 A → C 관계를 분해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782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BCNF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결정자가 모두 후보키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모든 결정자가 후보키가 되도록 분해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782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4NF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다중값 종속 제거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다치 종속(Multi-Valued Dependency) 관계를 분해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782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5NF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조인 종속성 이용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조인 종속이 후보키를 통해서만 성립되도록 분해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ED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73152" cy="548640"/>
          </a:xfrm>
          <a:prstGeom prst="rect">
            <a:avLst/>
          </a:prstGeom>
          <a:solidFill>
            <a:srgbClr val="A573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201168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A5736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03-1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508760" y="201168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3131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역정규화 (Denormalization)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55555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정규화된 데이터 모델을 성능 향상을 목적으로 의도적으로 중복을 허용하여 테이블 구조를 변경하는 기법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11247120" cy="256032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46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20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기법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73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설명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73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테이블 병합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1:1 또는 1:N 관계의 테이블을 하나로 합침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테이블 분할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자주 사용하는 컬럼과 그렇지 않은 컬럼을 분리 (수직 분할)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중복 칼럼 추가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조인 없이 조회하기 위해 다른 테이블의 컬럼을 복제해 추가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중복 테이블 추가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집계·통계용 요약 테이블을 별도로 생성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ED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73152" cy="548640"/>
          </a:xfrm>
          <a:prstGeom prst="rect">
            <a:avLst/>
          </a:prstGeom>
          <a:solidFill>
            <a:srgbClr val="A573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201168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A5736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04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508760" y="201168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3131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SQL 명령어 분류 + SELECT 구조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11247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5736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SQL 명령어 분류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70432"/>
          <a:ext cx="11247120" cy="164592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17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분류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73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명칭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73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주요 명령어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73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DDL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데이터 정의어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CREATE, ALTER, DROP, TRUNCATE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DML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데이터 조작어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SELECT, INSERT, UPDATE, DELETE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DCL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데이터 제어어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GRANT, REVOKE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TCL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트랜잭션 제어어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COMMIT, ROLLBACK, SAVEPOINT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2926080"/>
            <a:ext cx="11247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E6C6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SELECT 문 기본 구조 (작성 순서)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57200" y="32004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3131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SELECT → FROM → WHERE → GROUP BY → HAVING → ORDER BY</a:t>
            </a:r>
            <a:endParaRPr lang="en-US" sz="1500" dirty="0"/>
          </a:p>
        </p:txBody>
      </p:sp>
      <p:sp>
        <p:nvSpPr>
          <p:cNvPr id="6" name="Text 6"/>
          <p:cNvSpPr/>
          <p:nvPr/>
        </p:nvSpPr>
        <p:spPr>
          <a:xfrm>
            <a:off x="457200" y="36118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55555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실행 순서: FROM → WHERE → GROUP BY → HAVING → SELECT → ORDER BY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ED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73152" cy="548640"/>
          </a:xfrm>
          <a:prstGeom prst="rect">
            <a:avLst/>
          </a:prstGeom>
          <a:solidFill>
            <a:srgbClr val="A573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201168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A5736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05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508760" y="201168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3131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JOIN 종류</a:t>
            </a:r>
            <a:endParaRPr lang="en-US" sz="2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11247120" cy="4114800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89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JOIN 종류</a:t>
                      </a:r>
                      <a:endParaRPr lang="en-US" sz="15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6C6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설명</a:t>
                      </a:r>
                      <a:endParaRPr lang="en-US" sz="15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6C6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INNER JOIN</a:t>
                      </a:r>
                      <a:endParaRPr lang="en-US" sz="15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두 테이블의 교집합. 조건에 일치하는 행만 반환</a:t>
                      </a:r>
                      <a:endParaRPr lang="en-US" sz="15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LEFT OUTER JOIN</a:t>
                      </a:r>
                      <a:endParaRPr lang="en-US" sz="15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왼쪽 테이블 전체 + 오른쪽 일치 행 (불일치 시 NULL)</a:t>
                      </a:r>
                      <a:endParaRPr lang="en-US" sz="15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RIGHT OUTER JOIN</a:t>
                      </a:r>
                      <a:endParaRPr lang="en-US" sz="15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오른쪽 테이블 전체 + 왼쪽 일치 행 (불일치 시 NULL)</a:t>
                      </a:r>
                      <a:endParaRPr lang="en-US" sz="15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FULL OUTER JOIN</a:t>
                      </a:r>
                      <a:endParaRPr lang="en-US" sz="15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양쪽 테이블 전체 (불일치 시 NULL)</a:t>
                      </a:r>
                      <a:endParaRPr lang="en-US" sz="15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CROSS JOIN</a:t>
                      </a:r>
                      <a:endParaRPr lang="en-US" sz="15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두 테이블의 모든 행의 조합 (카테시안 곱)</a:t>
                      </a:r>
                      <a:endParaRPr lang="en-US" sz="15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ED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73152" cy="548640"/>
          </a:xfrm>
          <a:prstGeom prst="rect">
            <a:avLst/>
          </a:prstGeom>
          <a:solidFill>
            <a:srgbClr val="A573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201168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A5736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06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508760" y="201168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3131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트랜잭션 (Transaction) - ACID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55555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데이터베이스의 상태를 변환시키는 하나의 논리적 기능을 수행하기 위한 작업의 단위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11247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5736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트랜잭션의 특징 (ACID)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81912"/>
          <a:ext cx="11247120" cy="2377440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89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특징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73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설명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73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Atomicity (원자성)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트랜잭션의 연산은 모두 반영되든지 아니면 전혀 반영되지 않아야 함 (All or Nothing)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Consistency (일관성)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트랜잭션이 성공적으로 완료되면 언제나 일관성 있는 DB 상태로 변환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Isolation (독립성)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둘 이상의 트랜잭션이 동시에 실행될 때 서로의 연산이 끼어들 수 없음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Durability (영속성)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성공적으로 완료된 트랜잭션의 결과는 시스템 고장 시에도 영구적으로 반영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411480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E6C6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트랜잭션 상태 5종: 활동(Active) → 부분 완료 → 완료(Committed) / 실패(Failed) → 철회(Aborted)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ED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73152" cy="548640"/>
          </a:xfrm>
          <a:prstGeom prst="rect">
            <a:avLst/>
          </a:prstGeom>
          <a:solidFill>
            <a:srgbClr val="A573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201168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A5736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07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508760" y="201168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3131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병행 제어 (Concurrency Control)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55555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여러 트랜잭션이 동시에 실행될 때 데이터베이스의 일관성을 유지하기 위한 기법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11247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5736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병행 제어 미흡 시 발생하는 문제</a:t>
            </a:r>
            <a:endParaRPr lang="en-US" sz="1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81912"/>
          <a:ext cx="11247120" cy="2011680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89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문제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73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설명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73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갱신 분실 (Lost Update)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두 트랜잭션이 같은 데이터를 갱신할 때 한 결과가 사라짐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비완료 의존성 (Dirty Read)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완료되지 않은 트랜잭션의 데이터를 다른 트랜잭션이 읽음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모순성 (Inconsistency)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같은 데이터를 두 트랜잭션이 동시에 조회할 때 서로 다른 값 읽음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연쇄 복귀 (Cascading Rollback)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한 트랜잭션 롤백이 다른 트랜잭션에 연쇄적으로 영향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3703320"/>
            <a:ext cx="11247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3131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병행 제어 기법: 로킹(Locking), 타임스탬프(Timestamp), 낙관적 검증, 다중 버전(MVCC)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3131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교착 상태(Deadlock): 두 트랜잭션이 서로의 락 해제를 기다리며 무한 대기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ED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73152" cy="548640"/>
          </a:xfrm>
          <a:prstGeom prst="rect">
            <a:avLst/>
          </a:prstGeom>
          <a:solidFill>
            <a:srgbClr val="A573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201168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A5736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08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508760" y="201168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3131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회복 기법 (Recovery)</a:t>
            </a:r>
            <a:endParaRPr lang="en-US" sz="2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11247120" cy="4114800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89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287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기법</a:t>
                      </a:r>
                      <a:endParaRPr lang="en-US" sz="15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6C6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설명</a:t>
                      </a:r>
                      <a:endParaRPr lang="en-US" sz="15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6C6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287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로그 기반 회복</a:t>
                      </a:r>
                      <a:endParaRPr lang="en-US" sz="15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모든 변경 내용을 로그에 기록하여 REDO(재실행) / UNDO(취소)로 복구</a:t>
                      </a:r>
                      <a:endParaRPr lang="en-US" sz="15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287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체크포인트 (Checkpoint)</a:t>
                      </a:r>
                      <a:endParaRPr lang="en-US" sz="15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주기적으로 체크포인트를 설정하여, 장애 시 해당 시점 이후부터만 복구</a:t>
                      </a:r>
                      <a:endParaRPr lang="en-US" sz="15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287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그림자 페이지 (Shadow Paging)</a:t>
                      </a:r>
                      <a:endParaRPr lang="en-US" sz="15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변경 전 원본 페이지를 별도 보관, 장애 시 원본으로 복구</a:t>
                      </a:r>
                      <a:endParaRPr lang="en-US" sz="15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ED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73152" cy="548640"/>
          </a:xfrm>
          <a:prstGeom prst="rect">
            <a:avLst/>
          </a:prstGeom>
          <a:solidFill>
            <a:srgbClr val="A573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201168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A5736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09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508760" y="201168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3131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물리 데이터베이스 설계 (인덱스, 뷰, 파티션)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11247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5736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인덱스 (Index)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3131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• 클러스터드 인덱스: 데이터 자체가 인덱스 순서대로 정렬 저장 (테이블당 1개)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3131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• 넌클러스터드 인덱스: 별도의 인덱스 구조 유지 (테이블당 여러 개 가능)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11247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E6C6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뷰 (View)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1945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3131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하나 이상의 기본 테이블로부터 유도된 가상 테이블. 보안성 향상, 데이터 독립성 제공.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3131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특징: 독립적인 인덱스 가질 수 없음. 뷰를 통한 UPDATE/INSERT/DELETE는 제한적.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971800"/>
            <a:ext cx="11247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5736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파티션 (Partition) 종류</a:t>
            </a:r>
            <a:endParaRPr lang="en-US" sz="1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273552"/>
          <a:ext cx="11247120" cy="1737360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89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종류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73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설명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73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범위 분할 (Range)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값의 범위를 기준으로 분할 (예: 날짜별)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해시 분할 (Hash)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해시 함수로 균등 분산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목록 분할 (List)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특정 값 목록을 기준으로 분할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조합 분할 (Composite)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위 기법을 두 가지 이상 조합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ED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A5736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★ 핵심 암기 포인트 ★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640080"/>
            <a:ext cx="1124712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94360" y="640080"/>
            <a:ext cx="10972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3131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1. DB 설계 절차: 요구사항 분석 → 개념적 → 논리적 → 물리적 → </a:t>
            </a:r>
            <a:r>
              <a:rPr lang="en-US" sz="1100" dirty="0" err="1">
                <a:solidFill>
                  <a:srgbClr val="13131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구현</a:t>
            </a:r>
            <a:r>
              <a:rPr lang="en-US" sz="1100" dirty="0">
                <a:solidFill>
                  <a:srgbClr val="13131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 (</a:t>
            </a:r>
            <a:r>
              <a:rPr lang="en-US" sz="1100" dirty="0" err="1">
                <a:solidFill>
                  <a:srgbClr val="13131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개·논·물</a:t>
            </a:r>
            <a:r>
              <a:rPr lang="en-US" sz="1100" dirty="0">
                <a:solidFill>
                  <a:srgbClr val="13131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1247120" cy="384048"/>
          </a:xfrm>
          <a:prstGeom prst="roundRect">
            <a:avLst>
              <a:gd name="adj" fmla="val 9524"/>
            </a:avLst>
          </a:prstGeom>
          <a:solidFill>
            <a:srgbClr val="E8E4D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594360" y="1051560"/>
            <a:ext cx="10972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3131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2. E-R 다이어그램: 개체(사각형), 속성(타원), 관계(마름모)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1124712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94360" y="1463040"/>
            <a:ext cx="10972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3131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3. 카디널리티: 1:1, 1:N, M:N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874520"/>
            <a:ext cx="11247120" cy="384048"/>
          </a:xfrm>
          <a:prstGeom prst="roundRect">
            <a:avLst>
              <a:gd name="adj" fmla="val 9524"/>
            </a:avLst>
          </a:prstGeom>
          <a:solidFill>
            <a:srgbClr val="E8E4D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94360" y="1874520"/>
            <a:ext cx="10972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3131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4. 이상 현상: 삽입 이상, 삭제 이상, 갱신 이상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286000"/>
            <a:ext cx="1124712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594360" y="2286000"/>
            <a:ext cx="10972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3131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5. 정규화 단계: 1NF(도메인 원자값) → 2NF(부분 함수 종속 제거) → 3NF(이행적 제거) → BCNF → 4NF → 5NF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697480"/>
            <a:ext cx="11247120" cy="384048"/>
          </a:xfrm>
          <a:prstGeom prst="roundRect">
            <a:avLst>
              <a:gd name="adj" fmla="val 9524"/>
            </a:avLst>
          </a:prstGeom>
          <a:solidFill>
            <a:srgbClr val="E8E4D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594360" y="2697480"/>
            <a:ext cx="10972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3131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6. 역정규화 기법: 테이블 병합, 분할, 중복 칼럼/테이블 추가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108960"/>
            <a:ext cx="1124712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594360" y="3108960"/>
            <a:ext cx="10972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3131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7. SQL 분류: DDL(CREATE/ALTER/DROP), DML(SELECT/INSERT/UPDATE/DELETE), DCL(GRANT/REVOKE), TCL(COMMIT/ROLLBACK)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520440"/>
            <a:ext cx="11247120" cy="384048"/>
          </a:xfrm>
          <a:prstGeom prst="roundRect">
            <a:avLst>
              <a:gd name="adj" fmla="val 9524"/>
            </a:avLst>
          </a:prstGeom>
          <a:solidFill>
            <a:srgbClr val="E8E4D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594360" y="3520440"/>
            <a:ext cx="10972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3131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8. 트랜잭션 ACID: 원자성, 일관성, 독립성, 영속성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931920"/>
            <a:ext cx="1124712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594360" y="3931920"/>
            <a:ext cx="10972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3131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9. 병행 제어 문제: 갱신 분실, 비완료 의존성(Dirty Read), 모순성, 연쇄 복귀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4343400"/>
            <a:ext cx="11247120" cy="384048"/>
          </a:xfrm>
          <a:prstGeom prst="roundRect">
            <a:avLst>
              <a:gd name="adj" fmla="val 9524"/>
            </a:avLst>
          </a:prstGeom>
          <a:solidFill>
            <a:srgbClr val="E8E4D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594360" y="4343400"/>
            <a:ext cx="10972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3131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10. 회복 기법: 로그 기반, 체크포인트, 그림자 페이지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1312</Words>
  <Application>Microsoft Office PowerPoint</Application>
  <PresentationFormat>와이드스크린</PresentationFormat>
  <Paragraphs>252</Paragraphs>
  <Slides>14</Slides>
  <Notes>14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7" baseType="lpstr">
      <vt:lpstr>NanumGothic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[2과목] 데이터 입출력 구현</dc:title>
  <dc:subject>정보처리기사 핵심 정리</dc:subject>
  <dc:creator>데이터 입출력 구현 정리</dc:creator>
  <cp:lastModifiedBy>성종 손</cp:lastModifiedBy>
  <cp:revision>6</cp:revision>
  <dcterms:created xsi:type="dcterms:W3CDTF">2026-06-20T21:08:43Z</dcterms:created>
  <dcterms:modified xsi:type="dcterms:W3CDTF">2026-06-20T21:11:23Z</dcterms:modified>
</cp:coreProperties>
</file>