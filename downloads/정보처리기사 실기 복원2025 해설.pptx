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7" r:id="rId2"/>
    <p:sldId id="356" r:id="rId3"/>
    <p:sldId id="296" r:id="rId4"/>
    <p:sldId id="341" r:id="rId5"/>
    <p:sldId id="357" r:id="rId6"/>
    <p:sldId id="259" r:id="rId7"/>
    <p:sldId id="262" r:id="rId8"/>
    <p:sldId id="358" r:id="rId9"/>
    <p:sldId id="298" r:id="rId10"/>
    <p:sldId id="359" r:id="rId11"/>
    <p:sldId id="301" r:id="rId12"/>
    <p:sldId id="379" r:id="rId13"/>
    <p:sldId id="380" r:id="rId14"/>
    <p:sldId id="265" r:id="rId15"/>
    <p:sldId id="268" r:id="rId16"/>
    <p:sldId id="303" r:id="rId17"/>
    <p:sldId id="343" r:id="rId18"/>
    <p:sldId id="344" r:id="rId19"/>
    <p:sldId id="360" r:id="rId20"/>
    <p:sldId id="305" r:id="rId21"/>
    <p:sldId id="361" r:id="rId22"/>
    <p:sldId id="307" r:id="rId23"/>
    <p:sldId id="310" r:id="rId24"/>
    <p:sldId id="362" r:id="rId25"/>
    <p:sldId id="271" r:id="rId26"/>
    <p:sldId id="363" r:id="rId27"/>
    <p:sldId id="274" r:id="rId28"/>
    <p:sldId id="312" r:id="rId29"/>
    <p:sldId id="276" r:id="rId30"/>
    <p:sldId id="330" r:id="rId31"/>
    <p:sldId id="278" r:id="rId32"/>
    <p:sldId id="345" r:id="rId33"/>
    <p:sldId id="364" r:id="rId34"/>
    <p:sldId id="365" r:id="rId35"/>
    <p:sldId id="281" r:id="rId36"/>
    <p:sldId id="283" r:id="rId37"/>
    <p:sldId id="285" r:id="rId38"/>
    <p:sldId id="315" r:id="rId39"/>
    <p:sldId id="332" r:id="rId40"/>
    <p:sldId id="346" r:id="rId41"/>
    <p:sldId id="317" r:id="rId42"/>
    <p:sldId id="347" r:id="rId43"/>
    <p:sldId id="288" r:id="rId44"/>
    <p:sldId id="320" r:id="rId45"/>
    <p:sldId id="366" r:id="rId46"/>
    <p:sldId id="367" r:id="rId47"/>
    <p:sldId id="348" r:id="rId48"/>
    <p:sldId id="290" r:id="rId49"/>
    <p:sldId id="368" r:id="rId50"/>
    <p:sldId id="350" r:id="rId51"/>
    <p:sldId id="369" r:id="rId52"/>
    <p:sldId id="370" r:id="rId53"/>
    <p:sldId id="322" r:id="rId54"/>
    <p:sldId id="334" r:id="rId55"/>
    <p:sldId id="351" r:id="rId56"/>
    <p:sldId id="352" r:id="rId57"/>
    <p:sldId id="371" r:id="rId58"/>
    <p:sldId id="293" r:id="rId59"/>
    <p:sldId id="336" r:id="rId60"/>
    <p:sldId id="338" r:id="rId61"/>
    <p:sldId id="372" r:id="rId62"/>
    <p:sldId id="325" r:id="rId63"/>
    <p:sldId id="354" r:id="rId64"/>
    <p:sldId id="373" r:id="rId65"/>
    <p:sldId id="374" r:id="rId66"/>
    <p:sldId id="375" r:id="rId6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10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74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88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42547"/>
            <a:ext cx="11155680" cy="310896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ko-KR" altLang="en-US" sz="1200" b="1" smtClean="0"/>
              <a:t>유형별 목차</a:t>
            </a:r>
            <a:endParaRPr lang="en-US" sz="1200" b="1" dirty="0"/>
          </a:p>
        </p:txBody>
      </p:sp>
      <p:sp>
        <p:nvSpPr>
          <p:cNvPr id="6" name="Text 4"/>
          <p:cNvSpPr/>
          <p:nvPr/>
        </p:nvSpPr>
        <p:spPr>
          <a:xfrm>
            <a:off x="457200" y="3753442"/>
            <a:ext cx="11155680" cy="1380913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10, 11, 18, 19, 32, 34, 36, 38, 45, 46, 47, 55, 61, 72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Java: 5, 13, 16, 20, 25, 29, 30, 35, 48, 52, 57, 67, 77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Python: 17, 37, 49, 68, 73</a:t>
            </a:r>
            <a:r>
              <a:rPr lang="en-US" sz="14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</a:p>
          <a:p>
            <a:r>
              <a:rPr lang="en-US" sz="1400" smtClean="0"/>
              <a:t>SQL : </a:t>
            </a:r>
            <a:r>
              <a:rPr lang="en-US" altLang="ko-KR" sz="14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7, 21, 22, 40, 50, 54, 60, 63, 69, 70</a:t>
            </a:r>
            <a:r>
              <a:rPr lang="en-US" altLang="ko-KR" sz="14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</a:p>
          <a:p>
            <a:r>
              <a:rPr lang="ko-KR" altLang="en-US" sz="1400" smtClean="0"/>
              <a:t>이론 </a:t>
            </a:r>
            <a:r>
              <a:rPr lang="en-US" altLang="ko-KR" sz="1400" smtClean="0"/>
              <a:t>: </a:t>
            </a:r>
            <a:r>
              <a:rPr lang="en-US" altLang="ko-KR" sz="14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3, 9, 12, 15, 24, 26, 31, 33, 42, 44, 58, 59, 62, 64, 66, 71, 75, 79, 80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299073"/>
            <a:ext cx="11155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사용 방법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609969"/>
            <a:ext cx="11155680" cy="9235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1회독: 문제 조건과 풀이 흐름을 같이 읽는다.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2회독: 정답을 가리고 중간 계산만 직접 재현한다.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3회독: 같은 유형에서 바뀔 수 있는 값, 연산자, 조인 조건만 바꾸어 다시 </a:t>
            </a:r>
            <a:r>
              <a:rPr lang="en-US" sz="14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푼다</a:t>
            </a:r>
            <a:r>
              <a:rPr lang="en-US" sz="14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800" dirty="0"/>
          </a:p>
        </p:txBody>
      </p:sp>
      <p:sp>
        <p:nvSpPr>
          <p:cNvPr id="14" name="Text 0"/>
          <p:cNvSpPr/>
          <p:nvPr/>
        </p:nvSpPr>
        <p:spPr>
          <a:xfrm>
            <a:off x="457200" y="36131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정보처리기사 </a:t>
            </a:r>
            <a:r>
              <a:rPr lang="en-US" sz="3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</a:t>
            </a:r>
            <a:r>
              <a:rPr lang="ko-KR" altLang="en-US" sz="3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3000" dirty="0"/>
          </a:p>
        </p:txBody>
      </p:sp>
      <p:sp>
        <p:nvSpPr>
          <p:cNvPr id="17" name="Text 3"/>
          <p:cNvSpPr/>
          <p:nvPr/>
        </p:nvSpPr>
        <p:spPr>
          <a:xfrm>
            <a:off x="457200" y="1211411"/>
            <a:ext cx="11155680" cy="310896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ko-KR" altLang="en-US" sz="1200" b="1" smtClean="0"/>
              <a:t>번호 목차</a:t>
            </a:r>
            <a:endParaRPr lang="en-US" sz="1200" b="1" dirty="0"/>
          </a:p>
        </p:txBody>
      </p:sp>
      <p:sp>
        <p:nvSpPr>
          <p:cNvPr id="18" name="Text 4"/>
          <p:cNvSpPr/>
          <p:nvPr/>
        </p:nvSpPr>
        <p:spPr>
          <a:xfrm>
            <a:off x="457200" y="1522306"/>
            <a:ext cx="11155680" cy="1751202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r>
              <a:rPr lang="en-US" altLang="ko-KR" sz="1400"/>
              <a:t>3, 5, 7, 9, 10</a:t>
            </a:r>
            <a:r>
              <a:rPr lang="en-US" altLang="ko-KR" sz="1400"/>
              <a:t>, </a:t>
            </a:r>
            <a:endParaRPr lang="en-US" altLang="ko-KR" sz="1400" smtClean="0"/>
          </a:p>
          <a:p>
            <a:r>
              <a:rPr lang="en-US" altLang="ko-KR" sz="1400" smtClean="0"/>
              <a:t>11</a:t>
            </a:r>
            <a:r>
              <a:rPr lang="en-US" altLang="ko-KR" sz="1400"/>
              <a:t>, 12, 13, 15, 16, 17, 18, 19, 20</a:t>
            </a:r>
            <a:r>
              <a:rPr lang="en-US" altLang="ko-KR" sz="1400"/>
              <a:t>, </a:t>
            </a:r>
            <a:endParaRPr lang="en-US" altLang="ko-KR" sz="1400" smtClean="0"/>
          </a:p>
          <a:p>
            <a:r>
              <a:rPr lang="en-US" altLang="ko-KR" sz="1400" smtClean="0"/>
              <a:t>21</a:t>
            </a:r>
            <a:r>
              <a:rPr lang="en-US" altLang="ko-KR" sz="1400"/>
              <a:t>, 22, 24, 25, 26, 29, 30</a:t>
            </a:r>
            <a:r>
              <a:rPr lang="en-US" altLang="ko-KR" sz="1400"/>
              <a:t>, </a:t>
            </a:r>
            <a:endParaRPr lang="en-US" altLang="ko-KR" sz="1400" smtClean="0"/>
          </a:p>
          <a:p>
            <a:r>
              <a:rPr lang="en-US" altLang="ko-KR" sz="1400" smtClean="0"/>
              <a:t>31</a:t>
            </a:r>
            <a:r>
              <a:rPr lang="en-US" altLang="ko-KR" sz="1400"/>
              <a:t>, 32, 33, 34, 35, 36, 37, 38, 40</a:t>
            </a:r>
            <a:r>
              <a:rPr lang="en-US" altLang="ko-KR" sz="1400"/>
              <a:t>, </a:t>
            </a:r>
            <a:endParaRPr lang="en-US" altLang="ko-KR" sz="1400" smtClean="0"/>
          </a:p>
          <a:p>
            <a:r>
              <a:rPr lang="en-US" altLang="ko-KR" sz="1400" smtClean="0"/>
              <a:t>42</a:t>
            </a:r>
            <a:r>
              <a:rPr lang="en-US" altLang="ko-KR" sz="1400"/>
              <a:t>, 44, 45, 46, 47, 48, 49, 50</a:t>
            </a:r>
            <a:r>
              <a:rPr lang="en-US" altLang="ko-KR" sz="1400"/>
              <a:t>, </a:t>
            </a:r>
            <a:endParaRPr lang="en-US" altLang="ko-KR" sz="1400" smtClean="0"/>
          </a:p>
          <a:p>
            <a:r>
              <a:rPr lang="en-US" altLang="ko-KR" sz="1400" smtClean="0"/>
              <a:t>52</a:t>
            </a:r>
            <a:r>
              <a:rPr lang="en-US" altLang="ko-KR" sz="1400"/>
              <a:t>, 54, 55, 57, 58, 59, 60</a:t>
            </a:r>
            <a:r>
              <a:rPr lang="en-US" altLang="ko-KR" sz="1400"/>
              <a:t>, </a:t>
            </a:r>
            <a:endParaRPr lang="en-US" altLang="ko-KR" sz="1400" smtClean="0"/>
          </a:p>
          <a:p>
            <a:r>
              <a:rPr lang="en-US" altLang="ko-KR" sz="1400" smtClean="0"/>
              <a:t>61</a:t>
            </a:r>
            <a:r>
              <a:rPr lang="en-US" altLang="ko-KR" sz="1400"/>
              <a:t>, 62, 63, 64, 66, 67, 68, 69, 70</a:t>
            </a:r>
            <a:r>
              <a:rPr lang="en-US" altLang="ko-KR" sz="1400"/>
              <a:t>, </a:t>
            </a:r>
            <a:endParaRPr lang="en-US" altLang="ko-KR" sz="1400" smtClean="0"/>
          </a:p>
          <a:p>
            <a:r>
              <a:rPr lang="en-US" altLang="ko-KR" sz="1400" smtClean="0"/>
              <a:t>71</a:t>
            </a:r>
            <a:r>
              <a:rPr lang="en-US" altLang="ko-KR" sz="1400"/>
              <a:t>, 72, 73, 74, 75, 77, 78, 79, 80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CRC 오류 검출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3글자의 영어 약자로 이루어진 오류 검출 코드이다. 데이터에 체크섬을 추가하고, 수신 또는 읽을 때 다시 계산하여 변경 여부를 확인한다. 정해진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다항식(x³+x+1)을 기반으로 2진수 나눗셈한 나머지를 값으로 삼는다.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“정해진 다항식”과 “2진수 나눗셈의 나머지”는 CRC의 핵심 단서다.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CRC는 Cyclic Redundancy Check의 약자다.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Parity보다 강력한 오류 검출 방식이며 데이터 링크 계층 문제에도 자주 나온다.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수신 측은 동일 다항식으로 다시 나누어 나머지를 확인한다.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오류 수정이 아니라 오류 검출 중심이다.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CRC는 Cyclic Redundancy Check의 약자다.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“나눗셈의 나머지”를 검사값으로 붙인다는 점이다.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송신 측은 원본 데이터 뒤에 검사 비트를 붙일 공간을 만든 뒤 생성 다항식으로 나눈다.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나머지를 CRC 값으로 붙여 전송한다.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측은 동일한 다항식으로 다시 나누어 나머지가 0인지 확인한다.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나머지가 0이면 전송 중 오류가 없다고 판단하고, 0이 아니면 오류로 판단한다.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x³+x+1은 CRC에서 쓰는 생성 다항식 예시다.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CRC는 오류 “검출” 기법이지, 기본적으로 오류 “수정” 기법은 아니다.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CRC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 Java | 예외 처리와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finally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4477876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a=5,b=0;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System.out.print(a/b);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}catch(ArithmeticException e){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System.out.print("출력1");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}catch(ArrayIndexOutOfBoundsException e)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System.out.print("출력2");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}catch(NumberFormatException e)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System.out.print("출력3");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}catch(Exception e){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System.out.print("출력4");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}finally{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System.out.print("출력5");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79856" y="1132849"/>
            <a:ext cx="5870448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
- 1) a/b는 5/0이므로 ArithmeticException이 발생한다.
- 2) 가장 먼저 일치하는 catch인 ArithmeticException 블록이 실행된다.
- 3) 따라서 출력1이 먼저 출력된다.
- 4) finally 블록은 예외 처리 여부와 관계없이 실행된다.
- 5) 마지막에 출력5가 이어서 출력된다.
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79856" y="6162049"/>
            <a:ext cx="5870448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출력1출력5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SQL/DB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 SQL JOIN + 조건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emp(id,name)와 sal(id,incentives)를 id로 조인한 뒤 incentives &gt;= 500인 행의 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 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incentive를 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SQL: SELECT name, incentive FROM emp, sal WHERE emp.id = sal.id 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incentives  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&gt;= 500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[표/중간 결과]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emp.id |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1001 | 김철수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1002 | 홍길동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1004 | 강감찬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1008 | 이순신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emp의 id와 sal의 id가 같은 행만 조인된다.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sal 테이블에서 incentives가 500 이상인 후보는 id=1008(1000), id=1009(500)이다.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emp 테이블에 존재하는 id는 1001,1002,1004,1008이다.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두 조건을 모두 만족하는 id는 1008뿐이다.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id=1008의 이름은 이순신, incentive는 1000이다.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 테이블: 1001 김철수, 1002 홍길동, 1004 강감찬, 1008 이순신.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 테이블: 1002 300, 1004 300, 1008 1000, 1009 500.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emp.id = sal.id 조건으로 조인하면 공통 id인 1002, 1004, 1008만 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남는다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incentives &gt;= 500 조건을 적용한다.</a:t>
            </a:r>
            <a:endParaRPr lang="en-US" altLang="ko-KR" sz="1300"/>
          </a:p>
          <a:p>
            <a:r>
              <a:rPr lang="en-US" altLang="ko-KR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1002=300 탈락, 1004=300 탈락, 1008=1000 통과.</a:t>
            </a:r>
            <a:endParaRPr lang="en-US" altLang="ko-KR" sz="1300"/>
          </a:p>
          <a:p>
            <a:r>
              <a:rPr lang="en-US" altLang="ko-KR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 SELECT name, incentive 이므로 이름과 인센티브만 출력한다.</a:t>
            </a:r>
            <a:endParaRPr lang="en-US" altLang="ko-KR" sz="1300"/>
          </a:p>
          <a:p>
            <a:r>
              <a:rPr lang="en-US" altLang="ko-KR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결과는 이순신 | 1000 한 행이다.</a:t>
            </a:r>
            <a:endParaRPr lang="en-US" altLang="ko-KR" sz="130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name | incentives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이순신 | 1000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Q9 서브넷 범위 판단 /22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주소 192.168.35.10, 서브넷 마스크 255.255.252.0. 보기의 IP가 같은 브로드캐스트 범위에서 수신 가능한지 모두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고른다. 보기: 192.168.34.1, 192.168.32.19, 192.168.35.200, 192.168.33.138,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192.168.35.50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255.255.252.0은 /22이다. 세 번째 옥텟의 블록 크기는 256-252=4다.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세 번째 옥텟 35는 32~35 블록에 속한다.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네트워크 주소는 192.168.32.0, 브로드캐스트 주소는 192.168.35.255이다.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사용 가능한 호스트 범위는 192.168.32.1 ~ 192.168.35.254이다.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제시된 다섯 IP는 모두 이 범위 안에 있다.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 마스크 255.255.252.0은 세 번째 옥텟 기준으로 252다.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크기 = 256 - 252 = 4다.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옥텟은 0,4,8,...,32,36처럼 4 단위로 네트워크가 나뉜다.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192.168.35.10에서 세 번째 옥텟 35는 32~35 블록에 속한다.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주소는 192.168.32.0, 브로드캐스트 주소는 192.168.35.255다.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가능한 호스트 범위는 192.168.32.1 ~ 192.168.35.254다.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 34.1, 32.19, 35.200, 33.138, 35.50은 모두 이 범위 안이다.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보기 전체가 정답이다.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ㄱ, ㄴ, ㄷ, ㄹ, 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Q10 C | 문자 배열 삽입과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ASCII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3739644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Data[5] = {'B', 'A', 'D', 'E'};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i, temp, temp2;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= 'C';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printf("%d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Data[3]-Data[1]);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for(i=0;i&lt;5;++i){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if(Data[i]&gt;c)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break;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 = Data[i];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Data[i] = c;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i++;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for(;i&lt;5;++i){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temp2 = Data[i];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Data[i] = 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r>
              <a:rPr lang="en-US" altLang="ko-KR" sz="11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temp2;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for(i=0;i&lt;5;i++){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printf("%c", Data[i]);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Q10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431233" y="1138428"/>
            <a:ext cx="7497912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전역 char 배열은 남는 마지막 칸이 으로 초기화된다: B, A, D, E, 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첫 출력은 Data[3] - Data[1] = E - A = 69 - 65 = 4.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c는 C. 배열을 앞에서부터 보며 C보다 큰 첫 문자를 찾는다. B, A는 통과, D에서 중단한다.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D 위치에 C를 넣고, 기존 D와 E를 오른쪽으로 한 칸씩 민다.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최종 배열은 B A C D E가 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Data는 B, A, D, E, 이다. 전역 배열이므로 부족한 마지막 원소는 널 문자로 초기화된다.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출력: Data[3]은 E, Data[1]은 A다. ASCII 값은 E=69, A=65이므로 차이는 4다.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for문은 C보다 큰 첫 문자를 찾는다. B는 C보다 작고, A도 C보다 작다. D는 C보다 크므로 i=2에서 break한다.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temp=Data[2]=D, Data[2]=C가 되어 배열은 B,A,C,E,가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for문에서 i=3부터 기존 값을 오른쪽으로 밀어 넣는다. i=3에서 E를 temp2에 보관하고 Data[3]=D. temp=E.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i=4에서 을 temp2에 보관하고 Data[4]=E. temp=.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배열은 B,A,C,D,E다.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출력은 첫 줄 4, 다음 줄 BACDE다.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431233" y="6167628"/>
            <a:ext cx="7497912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4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BACDE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Q11 C | 2차원 동적 배열 매핑 + 교대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5576833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set(int** arr, int* data, int rows, int cols)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(int i = 0; i &lt; rows * cols; ++i)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arr[((i + 1) / rows) % rows][(i + 1) % cols] = data[i];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rows = 3, cols = 3, sum = 0;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data[] = {5, 2, 7, 4, 1, 8, 3, 6, 9};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int** arr;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 = (int**) malloc(sizeof(int*) * rows);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(int i = 0; i &lt; cols; i++)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arr[i] = (int*) malloc(sizeof(int) * cols);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set(arr, data, rows, cols);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(int i = 0; i &lt; rows * cols; i++)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 += arr[i / rows][i % cols] * (i % 2 == 0 ? 1 : -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for(int i=0; i&lt;rows; i++) free(arr[i]);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free(arr);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printf("%d", sum);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00"/>
          </a:p>
          <a:p>
            <a:pPr marL="0" indent="0">
              <a:buNone/>
            </a:pP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385868" y="1068128"/>
            <a:ext cx="5400665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set()의 위치는 row=((i+1)/3)%3, col=(i+1)%3이다.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data가 채워진 결과: [9,5,2] / [7,4,1] / [8,3,6].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합산은 row-major 순서이며 i가 짝수면 +, 홀수면 -를 적용한다.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9-5+2-7+4-1+8-3+6 = 13.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malloc/free 자체는 출력값에 직접 영향을 주지 않는다.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data가 arr의 어느 위치에 들어가는지 표로 추적하는 것이다.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i=0 -&gt; row=((1)/3)%3=0, col=1 =&gt; arr[0][1]=5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i=1 -&gt; row=0, col=2 =&gt; arr[0][2]=2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i=2 -&gt; row=1, col=0 =&gt; arr[1][0]=7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i=3 -&gt; row=1, col=1 =&gt; arr[1][1]=4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i=4 -&gt; row=1, col=2 =&gt; arr[1][2]=1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i=5 -&gt; row=2, col=0 =&gt; arr[2][0]=8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i=6 -&gt; row=2, col=1 =&gt; arr[2][1]=3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i=7 -&gt; row=2, col=2 =&gt; arr[2][2]=6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i=8 -&gt; row=0, col=0 =&gt; arr[0][0]=9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배열은 [9,5,2] / [7,4,1] / [8,3,6]이다.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합산은 row-major 순서로 + - + - + - + - +를 적용한다.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계산: 9-5+2-7+4-1+8-3+6 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385868" y="6097328"/>
            <a:ext cx="5400665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13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Q12 결합도 구분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보기: 자료 결합도, 스탬프 결합도, 제어 결합도, 공통 결합도, 내용 결합도, 외부 결합도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다른 모듈 내부 변수나 기능 사용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인터페이스로 배열/객체/자료구조 전달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전역 변수 참조·갱신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다른 모듈 내부를 직접 건드리는 것은 가장 강한 결합인 내용 결합도다.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구조체, 배열, 객체 같은 묶음 자료를 넘기면 스탬프 결합도다.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전역 데이터를 함께 쓰면 공통 결합도다.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단순 값만 넘기는 자료 결합도보다 스탬프 결합도가 더 강하다.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결합도는 낮을수록 좋고, 내용 결합도는 피해야 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결합도: 한 모듈이 다른 모듈 내부의 변수나 기능을 직접 참조한다. 결합도 중 가장 나쁘다.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스탬프 결합도: 배열, 레코드, 객체, 구조체 같은 묶음 자료를 통째로 전달한다.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결합도: 여러 모듈이 전역 변수를 공유하고 참조 또는 갱신한다.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결합도는 필요한 데이터만 매개변수로 전달하는 형태이므로 문제 (2)의 “자료구조 통째 전달”과는 다르다.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결합도는 제어 플래그를 전달해 다른 모듈의 흐름을 제어하는 경우다.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545123"/>
            <a:ext cx="11109960" cy="983693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(1) 내용 결합도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스탬프 결합도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공통 결합도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Q13 Java | 상속 생성자와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바인딩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Child();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System.out.println(Parent.total);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static int total = 0;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v = 1;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Parent()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+= (++v);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show();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void show()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+= total;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 extends 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v = 10;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Child() {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 += 2;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+= v++;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show();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@Override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void show() {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+= total * 2;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00"/>
          </a:p>
          <a:p>
            <a:pPr marL="0" indent="0">
              <a:buNone/>
            </a:pP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481567" y="1183183"/>
            <a:ext cx="6759681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new Child()는 먼저 Parent 생성자를 실행한다.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Parent.v는 1에서 ++v로 2가 되고 total=2가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Parent 생성자 안의 show()도 동적 바인딩된다. 실제 객체는 Child이므로 Child.show()가 호출되어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total=2+4=6.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그 뒤 Child.v=10이 초기화되고 Child 생성자에서 v+=2 → 12, total += v++ → 18이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Child.show()가 다시 실행되어 total = 18 + 36 = 54.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Child()를 실행하면 먼저 Parent 생성자가 실행된다.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Parent의 인스턴스 필드 v는 1로 초기화된다. Parent 생성자에서 ++v는 2가 되고 total=2가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Parent 생성자 내부의 show() 호출은 동적 바인딩 때문에 Child.show()가 실행된다. 이 시점에 Child의 필드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초기화는 아직 끝나지 않았지만 메서드는 Child 버전이다.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Child.show(): total += total*2 이므로 total = 2 + 4 = 6.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다음 Child의 필드 v=10이 초기화되고 Child 생성자 본문으로 들어간다.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 += 2 -&gt; Child.v=12.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+= v++ -&gt; total=6+12=18, 이후 Child.v=13.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show()는 Child.show()이고 total = 18 + 36 = 54.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Parent.total 출력값은 54다.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481567" y="6212383"/>
            <a:ext cx="6759681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54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Q15 문장 커버리지와 제어흐름도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코드의 각 문장을 제어흐름도 빈칸에 연결하고 문장 커버리지 순서를 작성한다. 코드 핵심: int a=0; while(a&lt;m || b[a]&lt;x)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{ if(b[a]&lt;0) b[a]=-b[a]; a++; } return 1;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①은 초기화 int a=0이다.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②는 while 조건, ③은 if 조건이다.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④는 b[a] = -b[a]; ⑤는 a++; ⑥은 return 1;이다.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문장 커버리지는 모든 실행문을 최소 1번 실행하면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1→2 후 while 참, if 참 경로로 3→4→5를 실행하고 다시 2로 돌아간 뒤 while 거짓으로 6에 도달한다.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제어흐름도에서 직사각형은 실행문, 마름모는 조건문이다.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①은 최초 실행문 int a = 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②는 while 조건식 a &lt; m || b[a] &lt; x이다. 원문은 ||로 되어 있으나 배열 범위 관점에서는 &amp;&amp;가 자연스럽다는 점은 별도로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주의해야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③은 if 조건식 b[a] &lt; 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④는 if 내부 실행문 b[a] = -b[a]; 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⑤는 반복마다 실행되는 a++; 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⑥은 반복 종료 후 실행되는 return 1; 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커버리지는 모든 실행문을 최소 한 번 통과하면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1 -&gt; 2 -&gt; 3 -&gt; 4 -&gt; 5 -&gt; 2 -&gt; 6 형태가 모든 문장을 지나간다.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561901"/>
            <a:ext cx="11109960" cy="1250379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① int a=0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a&lt;m || b[a]&lt;x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b[a]&lt;0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b[a] = -b[a];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a++;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return 1;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③ → ④ → ⑤ → ② → 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Q16 Java | 재귀 호출과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Math.max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int[] data = {3, 5, 8, 12, 17};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System.out.println(func(data, 0, data.length - 1));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static int func(int[] a, int st, int end)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 &gt;= end)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mid = (st + end) / 2;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a[mid] + Math.max(func(a, st, mid), func(a, mid + 1, end));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Q16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071919" y="1138428"/>
            <a:ext cx="4882393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func(0,4): mid=2, a[2]=8이다.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왼쪽 func(0,2): mid=1, a[1]=5, 다시 func(0,1)=3, func(2,2)=0이므로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5+max(3,0)=8.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오른쪽 func(3,4): mid=3, a[3]=12, 양쪽 재귀는 종료되어 12가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최상위 결과는 8 + max(8,12) = 20이다.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종료 조건 st&gt;=end는 단일 구간에서 0을 반환한다.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func(data,0,4)부터 시작한다. st=0,end=4, mid=2이므로 a[2]=8을 더한다.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호출 func(0,2): mid=1, a[1]=5를 더한다.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func(0,1): mid=0, a[0]=3을 더한다. 하위 호출 func(0,0), func(1,1)은 0을 반환하므로 결과는 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func(2,2)는 0이므로 func(0,2)는 5 + max(3,0) = 8이다.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호출 func(3,4): mid=3, a[3]=12를 더한다. 하위 호출은 둘 다 0이므로 결과는 12다.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결과는 8 + max(8,12) = 20이다.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 문제는 호출 트리를 그리면 실수가 줄어든다.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071919" y="6167628"/>
            <a:ext cx="4882393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20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Q17 Python | 완전 이진 트리 구성과 레벨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Node: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__init__(self, value):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self.value </a:t>
            </a: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value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self.children </a:t>
            </a: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tree(li):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nodes </a:t>
            </a: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[Node(i) for i in li]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</a:t>
            </a: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in range(1, len(li)):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nodes</a:t>
            </a: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[(i - 1) // 2].children.append(nodes[i])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</a:t>
            </a: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nodes[0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calc(node, level=0):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</a:t>
            </a: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is None: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  <a:p>
            <a:pPr marL="0" indent="0">
              <a:buNone/>
            </a:pP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</a:t>
            </a: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(node.value if level % 2 == 1 else 0) + sum(calc(n, level + 1) for n in </a:t>
            </a:r>
            <a:r>
              <a:rPr lang="en-US" sz="12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node.children</a:t>
            </a:r>
            <a:r>
              <a:rPr lang="en-US" sz="12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= [3, 5, 8, 12, 15, 18, 21]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tree(li)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print(calc(root))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2993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Q17 Python | 완전 이진 트리 구성과 레벨 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부모 인덱스는 (i-1)//2이다. 배열을 완전 이진 트리처럼 연결한다.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루트 3은 level 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level 1에는 5와 8이 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calc는 level이 홀수일 때만 node.value를 더한다.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level 1의 합 5+8=13이 출력된다. level 3은 없으므로 추가 합은 없다.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nodes[(i-1)//2].children.append(nodes[i])는 배열을 완전 이진 트리처럼 연결한다.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3은 루트, 5와 8은 레벨 1, 12,15,18,21은 레벨 2가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calc는 level이 홀수일 때만 node.value를 더한다.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레벨 0은 더하지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1의 값 5와 8만 더한다.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2는 짝수 레벨이므로 더하지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결과는 5+8=13이다.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45208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Q18 C | 단일 연결 리스트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재연결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4947659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Data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value;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Data *next;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Data;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Data* insert(Data* head, int value)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Data* new_node = (Data*)malloc(sizeof(Data));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new_node-&gt;value = value;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new_node-&gt;next = head;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new_node;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Data* reconnect(Data* head, int value)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(head == NULL || head-&gt;value == value) return head;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*prev = NULL, *curr = head;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 (curr != NULL &amp;&amp; curr-&gt;value != value)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prev = curr;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 = curr-&gt;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(curr != NULL &amp;&amp; prev != NULL) {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prev-&gt;next = curr-&gt;next;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curr-&gt;next = head;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 = curr;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head;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*head = NULL, *curr;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(int i = 1; i &lt;= 5; i++)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 = insert(head, i);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 = reconnect(head, 3);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(curr = head; curr != NULL; curr = curr-&gt;next)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printf("%d", curr-&gt;value);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altLang="ko-KR" sz="1140"/>
          </a:p>
          <a:p>
            <a:r>
              <a:rPr lang="en-US" altLang="ko-KR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40"/>
          </a:p>
          <a:p>
            <a:pPr marL="0" indent="0">
              <a:buNone/>
            </a:pP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Q18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857362" y="1115568"/>
            <a:ext cx="5618778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insert는 새 노드를 항상 head 앞에 붙인다.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1부터 5까지 삽입하면 리스트는 5 → 4 → 3 → 2 → 1이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reconnect(head, 3)은 값 3인 노드를 찾아 기존 위치에서 떼어낸다.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이전 노드 4의 next를 2로 바꾸고, 3의 next를 기존 head인 5로 바꾼다.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새 head는 3이므로 3 → 5 → 4 → 2 → 1 순서로 출력된다.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insert는 새 노드를 head 앞에 붙인다. for문이 1부터 5까지 돌면 리스트는 5-&gt;4-&gt;3-&gt;2-&gt;1이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reconnect(head,3)은 값이 3인 노드를 찾아 맨 앞으로 이동한다.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중 prev는 4, curr는 3이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prev-&gt;next = curr-&gt;next 실행 후 4의 다음은 2가 되어 기존 3이 리스트에서 빠진다.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curr-&gt;next = head 실행 후 3의 다음은 기존 head인 5가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= curr로 갱신하면 리스트는 3-&gt;5-&gt;4-&gt;2-&gt;1이다.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순회 출력은 35421이다.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857361" y="6144768"/>
            <a:ext cx="5618779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35421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Q19 C | 구조체 배열 + 16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진수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student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char* name;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score[3];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Student;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dec(int enc)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enc &amp; 0xA5;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sum(Student* p)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dec(p-&gt;score[0]) + dec(p-&gt;score[1]) + dec(p-&gt;score[2]);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 s[2] = { "Kim", {0xA0, 0xA5, 0xDB}, "Lee", {0xA0, 0xED, 0x81} 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Student* p = s;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result = 0;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(int i = 0; i &lt; 2; i++)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+= sum(&amp;s[i]);</a:t>
            </a:r>
            <a:endParaRPr lang="en-US" sz="1140" dirty="0"/>
          </a:p>
          <a:p>
            <a:pPr marL="0" indent="0">
              <a:buNone/>
            </a:pP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printf("%d", result);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00"/>
          </a:p>
          <a:p>
            <a:pPr marL="0" indent="0">
              <a:buNone/>
            </a:pP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Q19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956319" y="1141238"/>
            <a:ext cx="4779879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dec(x)는 x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0xA5를 비트 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Kim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0xA0&amp;0xA5=160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0xA5&amp;0xA5=165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0xDB&amp;0xA5=129 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합 454.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Lee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0xA0&amp;0xA5=160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0xED&amp;0xA5=165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0x81&amp;0xA5=129 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합 454.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전체 result = 454 + 454 = 908.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Student* p = s는 선언만 되어 있고 실제 계산에는 쓰이지 않는다.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dec(enc)는 enc &amp; 0xA5이다. 16진수 AND를 각 점수에 적용한다.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Kim: 0xA0 &amp; 0xA5 = 0xA0 = 160, 0xA5 &amp; 0xA5 = 0xA5 = 165, 0xDB &amp; 0xA5 = 0x81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= 129.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 합계 = 160+165+129 = 454.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Lee: 0xA0 &amp; 0xA5 = 160, 0xED &amp; 0xA5 = 0xA5 = 165, 0x81 &amp; 0xA5 = 0x81 = 129.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Lee 합계 = 454.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result = 454 + 454 = 908.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연산은 두 비트가 모두 1인 자리만 남긴다.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956319" y="6170438"/>
            <a:ext cx="4779879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908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Q20 Java | 오버로딩과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System.out.println(calc("5"));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static int calc(int value)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(value &lt;= 1) return value;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calc(value - 1) + calc(value - 2);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static int calc(String str)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value = Integer.valueOf(str);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(value &lt;= 1) return value;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calc(value - 1) + calc(value - 3);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Q20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303688" y="1170432"/>
            <a:ext cx="5954338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main은 calc("5")를 호출하므로 처음에는 String 버전이 실행된다.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value=5이고 return calc(4)+calc(2)가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calc(4), calc(2)는 인수가 int이므로 int 버전이 호출된다.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int 버전은 피보나치 형태다. calc(4)=3, calc(2)=1.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최종 결과는 3+1=4이다.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calc("5") 호출은 매개변수가 String이므로 calc(String str)이 선택된다.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 버전 내부에서 value=5로 변환한다.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 &gt; 1이므로 calc(value-1) + calc(value-3) = calc(4) + calc(2)를 계산한다.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여기서 인수는 int이므로 두 호출 모두 calc(int value)로 들어간다.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calc(int)는 피보나치 형태다. calc(4)=calc(3)+calc(2)=2+1=3.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calc(2)=calc(1)+calc(0)=1+0=1.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calc("5") = 3 + 1 = 4다.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03688" y="6199632"/>
            <a:ext cx="5954338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4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Q21 DB 파일 구조: 인덱스/색인 접근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
물리 설계에서 레코드 접근 방법은 순차 접근, [ ] 접근, 해싱 접근이 있다.
[ ] 접근은 &lt;키 값, 포인터&gt; 쌍으로 구성된 자료 구조를 사용해 키가 가리키는 주소로 원하는 레코드를 직접 찾는다.
[기본 풀이]
- 1) 순차 접근은 처음부터 차례대로 검사한다.
- 2) 해싱 접근은 해시 함수로 주소를 계산한다.
- 3) 키 값과 포인터 쌍을 보관해 빠르게 검색하는 구조는 인덱스다.
- 4) 한국어 시험 답안에서는 인덱스 또는 색인이 모두 자연스럽다.
- 5) 핵심 키워드는 “키-포인터 쌍”과 “빠른 검색”이다.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</a:t>
            </a:r>
            <a:r>
              <a:rPr lang="en-US" sz="1350" b="1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</a:t>
            </a:r>
            <a:r>
              <a:rPr lang="en-US" sz="1350" b="1" smtClean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(또는 색인)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Q22 릴레이션 구성요소: Attribute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
릴레이션에서 열(Column)을 의미하며 데이터 항목의 속성 또는 특성을 나타낸다. 예: 학생 릴레이션의 학번, 이름, 전공. 보기:
  Cardinality, Domain, Attribute, Degree, Schema, Tuple
[기본 풀이]
- 1) Relation의 행은 Tuple이다.
- 2) Relation의 열은 Attribute이다.
- 3) Domain은 속성이 가질 수 있는 값의 범위다.
- 4) Cardinality는 튜플 수, Degree는 속성 수다.
- 5) 문제의 “열(Column), 필드(Field)”라는 표현이 Attribute를 가리킨다.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ㄷ. Attribute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Q24 SJF와 SRT 스케줄링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CPU burst 시간이 짧은 프로세스를 우선 처리한다.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위 방식을 선점형으로 구현하여 실행 중인 프로세스보다 더 짧은 burst 시간이 도착하면 현재 CPU를 선점한다.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CPU burst가 가장 짧은 작업을 먼저 고르는 방식은 SJF다.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SJF는 보통 비선점형 의미로 사용된다.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선점형으로 바꾸면 남은 실행 시간이 가장 짧은 프로세스를 우선한다.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이 방식은 SRT 또는 SRTF라고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시험에서는 “선점형 SJF”라는 표현이 나오면 SRT/SRTF를 답하면 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SJF는 Shortest Job First로, 다음 CPU burst 시간이 가장 짧은 프로세스를 먼저 선택한다.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일반적으로 SJF는 비선점형으로 설명한다. 한 번 CPU를 잡으면 해당 CPU burst를 끝낼 때까지 계속 실행한다.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SRT 또는 SRTF는 Shortest Remaining Time First로, SJF의 선점형 형태다.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도착한 프로세스의 남은 실행 시간이 현재 실행 중인 프로세스의 남은 시간보다 짧으면 선점한다.</a:t>
            </a:r>
            <a:endParaRPr lang="en-US" sz="1300" dirty="0"/>
          </a:p>
          <a:p>
            <a:pPr marL="0" indent="0">
              <a:buNone/>
            </a:pP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SJF, (2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SRTF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(1) SJF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</a:t>
            </a:r>
            <a:r>
              <a:rPr lang="en-US" sz="1350" b="1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350" b="1" smtClean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SRTF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Q25 Java | 배열 참조와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String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재대입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change(String[] data, String s){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data[0] = 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= "Z";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data[] = { "A" 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s = "B";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change(data, s);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System.out.print(data[0] + s);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Q25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729429" y="1158016"/>
            <a:ext cx="5929171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data는 배열 객체의 참조가 전달된다.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change 안에서 data[0]=s는 원본 배열의 첫 값을 B로 바꾼다.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s="Z"는 change 메서드의 지역 변수 s만 새 문자열을 가리키게 만든다.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main의 s는 여전히 "B"이다.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data[0] + s = "B" + "B" = "BB".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data는 String 배열 객체를 가리키는 참조다. s는 별도의 String 참조다.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change(data, s) 호출 시 배열 참조는 복사되어 넘어간다. 복사된 참조도 같은 배열 객체를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data[0] = s는 배열 첫 원소를 "B"로 바꾼다. 이 변경은 원본 배열에도 반영된다.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= "Z"는 change 메서드 안의 지역 변수 s만 새 문자열을 가리키게 바꾼다.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main의 s는 여전히 "B"다.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data[0] + s = "B" + "B" = BB다.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729429" y="6187216"/>
            <a:ext cx="5929171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BB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Q26 서브넷 /26 계산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주소 223.13.234.132, 서브넷 마스크 255.255.255.192.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네트워크 주소의 마지막 옥텟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사용 가능한 호스트 수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255.255.255.192는 /26이다.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마지막 옥텟의 블록 크기는 256-192=64다.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블록은 0~63, 64~127, 128~191, 192~255이다.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132는 128~191 블록에 있으므로 네트워크 주소는 223.13.234.128이다.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/26의 호스트 비트는 6개이므로 전체 주소 2^6=64개, 네트워크/브로드캐스트 제외 62개다.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 마스크 255.255.255.192는 마지막 옥텟 기준 /26이다.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옥텟의 블록 크기 = 256 - 192 = 64다.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블록은 0~63, 64~127, 128~191, 192~255로 나뉜다.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IP의 마지막 옥텟 132는 128~191 블록에 속한다.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네트워크 주소는 223.13.234.128이다.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비트는 32-26=6비트이므로 전체 주소 수는 2^6=64개다.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주소와 브로드캐스트 주소를 제외하면 사용 가능한 호스트 수는 64-2=62개다.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① 128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62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Q29 Java | 람다와 예외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static interface F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apply(int x) throws Exception;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int run(F f)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return f.apply(3);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(Exception e)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return 7;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 f = (x) -&gt;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(x &gt; 2)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Exception();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return x * 2;</a:t>
            </a:r>
            <a:endParaRPr lang="en-US" sz="1140" dirty="0"/>
          </a:p>
          <a:p>
            <a:pPr marL="0" indent="0">
              <a:buNone/>
            </a:pP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System.out.print(run(f) + run((int n) -&gt; n + 9));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Q29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32039" y="1170432"/>
            <a:ext cx="6180841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run(f)는 f.apply(3)을 실행한다.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첫 번째 람다는 x&gt;2이면 예외를 던진다. x=3이므로 예외 발생, catch에서 7 반환.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두 번째 람다는 n+9를 반환한다. n=3이므로 12.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System.out.print는 7+12를 출력한다.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람다의 throws Exception은 인터페이스 F의 apply 선언에 의해 허용된다.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F는 apply(int x)를 가진 함수형 인터페이스다.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run(f): f.apply(3)을 호출한다. 람다는 x&gt;2이면 Exception을 던진다. x=3이므로 예외 발생.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run은 예외를 catch하고 7을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run((int n)-&gt;n+9): n=3이 전달되고 3+9=12를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합은 7+12=19다.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 자체가 throws Exception을 가질 수 있으므로 run에서 try-catch로 처리한다.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32039" y="6199632"/>
            <a:ext cx="6180841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19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Q30 Java | 오버라이딩과 static 메서드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숨김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class Parent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x(int i) { return i + 2;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String id() { return "P";}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class Child extends Parent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x(int i) { return i + 3;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x(String s) { return s + "R";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String id() { return "C";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Parent ref = new Child();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System.out.println(ref.x(2) + ref.id());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Q30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222315" y="1170432"/>
            <a:ext cx="6390565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ref의 선언 타입은 Parent지만 실제 객체는 Child이다.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x(int)는 Child에서 오버라이딩되었으므로 ref.x(2)는 Child.x(int)를 실행한다.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결과는 2+3=5이다.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id()는 static 메서드다. static은 오버라이딩이 아니라 숨김(hiding)이며 참조 타입 기준으로 결정된다.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ref.id()는 Parent.id()가 되어 P가 붙는다.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Parent ref = new Child();에서 참조 타입은 Parent, 실제 객체 타입은 Child다.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ref.x(2)는 인자가 int이고 Parent에 x(int)가 있으므로 컴파일된다.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x(int)는 Child에서 오버라이딩되었으므로 실행 시 Child.x(int)가 호출된다.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Child.x(2)는 2+3=5를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ref.id()에서 id는 static 메서드다. static 메서드는 오버라이딩되지 않고 숨김 처리된다.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메서드는 참조 변수의 선언 타입 기준으로 선택되므로 Parent.id()가 실행되어 "P"가 붙는다.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5P다.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222315" y="6199632"/>
            <a:ext cx="6390565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5P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Q31 분기 커버리지 경로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흐름 그래프에서 분기 커버리지를 만족하는 테스트 순서를 작성한다. 핵심 분기: ②의 X&gt;K?는 YES/NO가 모두 필요하고, ⑥의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RESULT&gt;1?도 YES/NO가 모두 필요하다.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분기 커버리지는 각 결정 노드의 참/거짓 방향을 모두 최소 1회 수행해야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②에서 YES로 ③을 거치는 경로가 필요하다.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②에서 NO로 ④를 거치는 경로도 필요하다.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⑥에서 YES로 반복되는 경로와 NO로 ⑦ 출력되는 경로도 필요하다.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따라서 한 번은 반복 경로, 한 번은 종료 경로를 조합해 커버한다.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커버리지는 각 조건 분기의 YES와 NO를 모두 최소 한 번씩 수행해야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X&gt;K? 조건은 YES 경로 2-&gt;3과 NO 경로 2-&gt;4가 모두 필요하다.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RESULT&gt;1? 조건도 YES 경로 6-&gt;1과 NO 경로 6-&gt;7이 모두 필요하다.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테스트 경로만으로 모든 분기를 채우기 어렵기 때문에 보통 두 개의 경로를 제시한다.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1: 1-&gt;2-&gt;3-&gt;4-&gt;5-&gt;6-&gt;1 : ② YES, ⑥ YES를 포함한다.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2: 1-&gt;2-&gt;4-&gt;5-&gt;6-&gt;7 : ② NO, ⑥ NO를 포함한다.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경로를 합치면 모든 분기 결과를 최소 한 번씩 통과한다.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r>
              <a:rPr lang="en-US" sz="1350" b="1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350" b="1" smtClean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→2→3→4→5→6→1, 1→2→4→5→6→7</a:t>
            </a:r>
            <a:endParaRPr lang="en-US" sz="1350" dirty="0"/>
          </a:p>
          <a:p>
            <a:pPr marL="0" indent="0">
              <a:buNone/>
            </a:pPr>
            <a:r>
              <a:rPr lang="en-US" sz="1350" b="1" smtClean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(또는 </a:t>
            </a: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1→2→3→4→5→6→7, 1→2→4→5→6</a:t>
            </a:r>
            <a:r>
              <a:rPr lang="en-US" sz="1350" b="1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r>
              <a:rPr lang="en-US" sz="1350" b="1" smtClean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Q31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Q32 C | 원형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enqueue/dequeue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3947859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SIZE 3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a[SIZE];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front;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rear;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Queue;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enq(Queue* q, int val){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q-&gt;a[q-&gt;rear] = val;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q-&gt;rear = (q-&gt;rear + 1) % SIZE;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deq(Queue* q)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val = q-&gt;a[q-&gt;front];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q-&gt;front = (q-&gt;front + 1) % SIZE;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val;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 q = {{0}, 0, 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enq(&amp;q,1); enq(&amp;q,2); deq(&amp;q); enq(&amp;q, 3);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first = deq(&amp;q);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second = deq(&amp;q);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printf("%d 그리고 %d", first, second);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00"/>
          </a:p>
          <a:p>
            <a:pPr marL="0" indent="0">
              <a:buNone/>
            </a:pP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Q32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253354" y="1115568"/>
            <a:ext cx="4654044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초기 front=0, rear=0.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enq(1): a[0]=1, rear=1. enq(2): a[1]=2, rear=2.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deq(): a[0]의 1을 꺼내고 front=1.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enq(3): a[2]=3, rear=(2+1)%3=0.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first=deq()는 a[1]의 2, second=deq()는 a[2]의 3이다.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 크기는 3이고 rear/front는 원형으로 움직인다.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front=0, rear=0, 배열=[0,0,0].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enq(1): a[0]=1, rear=1.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enq(2): a[1]=2, rear=2.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deq(): front=0의 값 1을 꺼내고 front=1.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enq(3): a[2]=3, rear=(2+1)%3=0.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first=deq(): front=1의 값 2, front=2.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second=deq(): front=2의 값 3, front=0.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형식까지 포함하면 2 그리고 3이다.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253354" y="6144768"/>
            <a:ext cx="4654044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2 그리고 3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Q33 라운드로빈 평균 대기시간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프로세스: P1(도착0, 실행8), P2(도착1, 실행4), P3(도착2, 실행9), P4(도착3, 실행5).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Quantum=4ms, Context Switching 무시. 평균 대기시간을 구한다.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간트 차트: 0-4 P1, 4-8 P2, 8-12 P3, 12-16 P4, 16-20 P1, 20-24 P3, 24-25 P4,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25-26 P3.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완료시간: P1=20, P2=8, P3=26, P4=25.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반환시간 = 완료시간 - 도착시간: P1=20, P2=7, P3=24, P4=22.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대기시간 = 반환시간 - 실행시간: P1=12, P2=3, P3=15, P4=17.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평균 = (12+3+15+17)/4 = 47/4 = 11.75ms.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라운드로빈은 준비 큐에서 순서대로 최대 4ms씩 실행한다.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간트 차트는 다음과 같다: 0-4 P1, 4-8 P2, 8-12 P3, 12-16 P4, 16-20 P1, 20-24 P3, 24-25 P4,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25-26 P3.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시간: P1=20, P2=8, P3=26, P4=25.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시간 = 완료 시간 - 도착 시간이다.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P1=20-0=20, P2=8-1=7, P3=26-2=24, P4=25-3=22.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시간 = 반환 시간 - 실행 시간이다.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P1=20-8=12, P2=7-4=3, P3=24-9=15, P4=22-5=17.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대기 시간 = (12+3+15+17)/4 = 47/4 = 11.75ms.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11.75ms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Q33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Q34 C | 구조체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4301707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dat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y;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dat a[] = {{1, 2}, {3, 4}, {5, 6}};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dat* ptr = a;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dat** pptr = &amp;ptr;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(*pptr)[1] = (*pptr)[2];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printf("%d 그리고 %d", a[1].x, a[1].y);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Q34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253354" y="1148872"/>
            <a:ext cx="5392276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ptr은 배열 a의 첫 원소 주소를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pptr은 ptr 변수의 주소다. 따라서 *pptr은 ptr과 같다.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(*pptr)[1]은 a[1], (*pptr)[2]는 a[2]이다.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구조체 대입은 필드 전체를 복사한다.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a[1]이 a[2]의 값 {5,6}으로 바뀐다.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배열은 {{1,2},{3,4},{5,6}}이다.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ptr은 a[0]을 가리키고, pptr은 ptr 변수의 주소를 가진다.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(*pptr)은 ptr과 같으므로 a 배열의 첫 원소 주소다.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(*pptr)[1]은 a[1], (*pptr)[2]는 a[2]다.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대입 (*pptr)[1] = (*pptr)[2]는 a[2]의 x,y 값을 a[1]에 복사한다.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a[1]은 {5,6}이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a[1].x=5, a[1].y=6이다.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253354" y="6178072"/>
            <a:ext cx="5392276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5 그리고 6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Q35 Java | 객체 배열과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class BO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v;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BO(int v)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this.v = v;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 a = new BO(1);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 b = new BO(2);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 c = new BO(3);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BO[] arr = {a, b, c};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 t = arr[0];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arr[0] = arr[2];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arr[2] = 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arr[1].v = arr[0].v;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System.out.println(a.v + "a" + b.v + "b" + c.v);</a:t>
            </a:r>
            <a:endParaRPr lang="en-US" sz="1140" dirty="0"/>
          </a:p>
          <a:p>
            <a:pPr marL="0" indent="0">
              <a:buNone/>
            </a:pP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buNone/>
            </a:pPr>
            <a:r>
              <a:rPr lang="en-US" sz="1140">
                <a:solidFill>
                  <a:srgbClr val="111111"/>
                </a:solidFill>
                <a:latin typeface="Courier New" pitchFamily="34" charset="0"/>
                <a:cs typeface="Courier New" pitchFamily="34" charset="-120"/>
              </a:rPr>
              <a:t>}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Q35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647637" y="1115568"/>
            <a:ext cx="485538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처음 arr은 [a, b, c]이다.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arr[0]과 arr[2]를 바꾸면 [c, b, a]가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arr[1]은 b 객체이고 arr[0]은 c 객체다.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arr[1].v = arr[0].v이므로 b.v가 c.v인 3으로 바뀐다.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a.v=1, b.v=3, c.v=3이므로 문자열 결합 결과는 1a3b3이다.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a,b,c는 각각 BO 객체를 가리킨다. 값은 a.v=1, b.v=2, c.v=3이다.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arr={a,b,c}이므로 arr[0]은 a 객체, arr[1]은 b 객체, arr[2]는 c 객체를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 t=arr[0]은 t가 a 객체를 가리키게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arr[0]=arr[2]로 arr[0]은 c 객체를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arr[2]=t로 arr[2]는 a 객체를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arr[1].v = arr[0].v는 b.v = c.v를 의미하므로 b.v=3이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a.v=1, b.v=3, c.v=3이고 출력 문자열은 1a3b3이다.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47637" y="6144768"/>
            <a:ext cx="485538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1a3b3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Q36 C | 연결 포인터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재설정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3" y="1078992"/>
            <a:ext cx="5241274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p;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node* 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 a = {1, NULL};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 b = {2, NULL};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 c = {3, NULL};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a.n = &amp;b; b.n = &amp;c; c.n = NULL;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c.n = &amp;a; a.n = &amp;b; b.n = NULL;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node* head = &amp;c;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printf("%d %d %d", head-&gt;p, head-&gt;n-&gt;p, head-&gt;n-&gt;n-&gt;p);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Q36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972961" y="1083354"/>
            <a:ext cx="6065241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첫 연결은 a→b→c지만, 이후 다시 연결이 덮어써진다.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최종 연결은 c.n=&amp;a, a.n=&amp;b, b.n=NULL이다.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head는 c를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head-&gt;p = 3, head-&gt;n-&gt;p = a.p = 1, head-&gt;n-&gt;n-&gt;p = b.p = 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중간에 만들어진 a→b→c 연결은 최종 포인터 대입으로 의미가 사라진다.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a-&gt;b-&gt;c 형태를 만든 뒤, 다시 c.n=&amp;a, a.n=&amp;b, b.n=NULL로 바꾼다.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연결은 c -&gt; a -&gt; b -&gt; NULL이다.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head=&amp;c이므로 head-&gt;p는 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head-&gt;n은 a이므로 head-&gt;n-&gt;p는 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head-&gt;n-&gt;n은 b이므로 head-&gt;n-&gt;n-&gt;p는 2다.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형식은 3 1 2이다.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972961" y="6112554"/>
            <a:ext cx="6065241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3 1 2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Q37 Python | dict/set 독립성과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교집합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[1,2,3]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 = {i : i* 2 for i in lst}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set(dst.values())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lst[0] = 99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dst[2]=7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s.add(99)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 &amp; set(dst.values())))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Q37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716459" y="1232678"/>
            <a:ext cx="6055006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처음 dst는 {1:2, 2:4, 3:6}이다.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s는 dst의 값으로 만든 집합이므로 {2,4,6}이다.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lst[0]=99는 이미 만들어진 dst에 영향을 주지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dst[2]=7 이후 dst 값 집합은 {2,7,6}이다.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s.add(99) 후 s={2,4,6,99}. 교집합은 {2,6}이므로 길이는 2이다.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dst = {1:2, 2:4, 3:6}이다.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= set(dst.values()) 이므로 s={2,4,6}이다. 이 시점 이후 dst가 변해도 s는 자동 갱신되지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lst[0]=99는 dst에 영향을 주지 않는다. dict comprehension은 이미 만들어졌기 때문이다.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dst[2]=7로 dst는 {1:2, 2:7, 3:6}이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s.add(99)로 s={2,4,6,99}가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set(dst.values())는 {2,7,6}이다.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교집합은 {2,6}이므로 길이는 2다.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716459" y="6124718"/>
            <a:ext cx="6055006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2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Q38 C | 문자열을 연결 리스트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스택처럼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4318485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 c;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node* p;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node* func(char* 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node* h = NULL, *n;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while(*s)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= malloc(sizeof(struct node));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n-&gt;c = *s++;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n-&gt;p = h;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 = n;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h;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node* n = func("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while(n) {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putchar(n-&gt;c);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node* t = n;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= n-&gt;p;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free(t);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00"/>
          </a:p>
          <a:p>
            <a:pPr marL="0" indent="0">
              <a:buNone/>
            </a:pP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Q38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21134" y="1170432"/>
            <a:ext cx="5912393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func는 문자를 읽을 때마다 새 노드를 head 앞에 붙인다.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B 삽입: B, E 삽입: E→B, S 삽입: S→E→B, T 삽입: T→S→E→B.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반환된 head는 T를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while문은 head부터 next(p)를 따라가며 문자만 출력한다.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따라서 원 문자열 BEST가 역순 TSEB로 출력된다.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func("BEST")는 문자를 읽을 때마다 새 노드를 head 앞에 붙인다.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B를 넣으면 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E를 앞에 넣으면 E-&gt;B.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S를 앞에 넣으면 S-&gt;E-&gt;B.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T를 앞에 넣으면 T-&gt;S-&gt;E-&gt;B.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반환된 head부터 출력하면 TSEB가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구조는 연결 리스트를 스택처럼 사용해 문자열을 뒤집는 전형적인 패턴이다.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21134" y="6199632"/>
            <a:ext cx="5912393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TSEB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Q40 관계대수 프로젝션 πTTL(employee)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 테이블에서 TTL 속성만 추출하는 관계대수 연산이다.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테이블: AGE/TTL 행은 55/부장, 35/대리, 42/과장, 45/차장.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π는 Projection, 즉 특정 속성만 선택하는 연산이다.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πTTL(employee)는 employee 테이블에서 TTL 열만 남긴다.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관계대수의 프로젝션은 일반적으로 중복을 제거한다.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이 문제의 TTL 값은 부장, 대리, 과장, 차장으로 모두 다르다.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결과는 TTL 한 열과 네 값이다.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πTTL(employee)는 employee 릴레이션에서 TTL 속성만 추출하는 프로젝션이다.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관계대수의 프로젝션은 특정 열만 남긴다.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employee의 TTL 값은 부장, 대리, 과장, 차장이다.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보기 번호가 결과 테이블의 각 셀을 가리키므로 1은 속성명 TTL, 2~5는 각 튜플의 값이다.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1 TTL, 2 부장, 3 대리, 4 과장, 5 차장.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243119"/>
            <a:ext cx="11109960" cy="1285697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TTL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부장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과장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Q40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Q42 조건 커버리지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
화이트박스 테스트 중 결정문 내부의 모든 개별 조건식이 True와 False를 각각 한 번 이상 만족하도록 테스트 케이스를 설계하는 기준을
  묻는다. 단, 전체 결정식의 True/False가 모두 보장되지는 않는다.
[기본 풀이]
- 1) 문장 커버리지는 실행문을 최소 1회 실행하는 기준이다.
- 2) 분기/결정 커버리지는 결정식 전체의 True/False를 모두 수행하는 기준이다.
- 3) 조건 커버리지는 결정문 내부의 개별 조건식 각각에 대해 True/False를 모두 수행한다.
- 4) 조건/결정 커버리지는 개별 조건과 결정 결과를 모두 본다.
- 5) 문제는 개별 조건식에 초점이 있으므로 조건 커버리지다.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ㅇ. 조건(Condition)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Q42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Q44 오류제어: Hamming/FEC/BEC/Parity/CRC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(①) 코드는 여러 검사 비트를 추가하여 오류 검출과 수정까지 가능하다. 이 코드는 재전송 없이 수신 측에서 자체 수정하는 (②) 방식이다.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오류 발생 시 재전송 요구 방식은 (③)이며, 대표 검출 기법은 (④) 검사와 (⑤) 검사이다.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오류 검출과 수정까지 가능한 대표 코드는 Hamming 코드다.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수신 측에서 자체 수정하는 방식은 FEC(Forward Error Correction)다.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오류가 발생하면 뒤로 돌아가 재전송하는 방식은 BEC(Backward Error Correction)다.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1비트 검사 비트를 추가하는 것은 Parity 검사다.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다항식을 사용해 오류를 검출하는 것은 CRC다.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Hamming 코드는 여러 검사 비트를 사용해 오류 위치를 찾아 수정할 수 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측에서 자체 수정하는 방식은 FEC다. Forward Error Correction의 의미다.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BEC는 Backward Error Correction으로, 오류가 있으면 송신 측 재전송을 요구한다.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Parity 검사는 데이터 블록 끝에 검사 비트를 붙여 1의 개수 홀짝을 맞춘다.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CRC는 생성 다항식으로 나눈 나머지를 검사값으로 사용한다.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검출만 하는 Parity/CRC와 수정까지 가능한 Hamming을 구분해야 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444455"/>
            <a:ext cx="11109960" cy="1084361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① Hamming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FEC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BEC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Parity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CRC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Q45 C | 구조체 포인터와 문자열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45127" y="1132094"/>
            <a:ext cx="535872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Test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i;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char *g;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Test test[] = {{1, "AB"}, {2, "DC"}, {3, "EB"}};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Test *p = &amp;test[1];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printf("%s", p-&gt;g + (p-&gt;i - 1));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Q45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664415" y="1132094"/>
            <a:ext cx="6415732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p는 test[1]을 가리키므로 p-&gt;i는 2, p-&gt;g는 문자열 "DC"의 시작 주소다.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p-&gt;i - 1 = 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p-&gt;g + 1은 "DC"의 두 번째 문자 C 위치를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%s는 해당 주소부터 널 문자 전까지 출력한다.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따라서 출력은 C이다.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p는 test[1]을 가리킨다. test[1]은 {2,"DC"}이다.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p-&gt;g는 문자열 "DC"의 첫 주소를 의미한다.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p-&gt;i - 1 = 2 - 1 = 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p-&gt;g + 1은 문자열 "DC"에서 두 번째 문자 C를 가리킨다.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printf("%s", p-&gt;g + 1)은 그 위치부터 널 문자 전까지 출력한다.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출력은 C다.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4415" y="6161294"/>
            <a:ext cx="6415732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C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Q46 C | 문자열 길이와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 str[] = "REPUBLICOFKOREA";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a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 (str[a] != '')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++a;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putchar(str[a - 2]);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Q46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203020" y="1170432"/>
            <a:ext cx="5350331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while문이 끝났을 때 a는 문자열 길이와 같다.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"REPUBLICOFKOREA"의 길이는 15이다.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출력 위치는 str[a-2] = str[13]이다.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인덱스 12는 R, 인덱스 13은 E, 인덱스 14는 A이다.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putchar는 문자 E 하나를 출력한다.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str은 "REPUBLICOFKOREA"이다.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while문은 널 문자를 만날 때까지 a를 증가시켜 문자열 길이를 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길이는 15다.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a-2는 13이다.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13의 문자는 E다. 마지막 문자는 A, 그 앞 문자가 E다.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putchar는 문자 하나만 출력하므로 결과는 E다.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203020" y="6199632"/>
            <a:ext cx="5350331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E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Q47 C | 연결 리스트 순회 + 누적식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Node* next;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unsigned int x;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 t1 = { 0, 5u 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 t2 = { 0, 7u 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 t3 = { 0, 11u };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t3.next = &amp;t2;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t2.next = &amp;t1;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Node* curr = &amp;t3;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sum = 0;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 (curr)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 = sum * 3 + curr-&gt;x;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 = curr-&gt;next;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 = (sum ^ 42u) + 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100u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</a:t>
            </a:r>
            <a:r>
              <a:rPr lang="en-US" altLang="ko-KR" sz="110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u", </a:t>
            </a:r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00"/>
          </a:p>
          <a:p>
            <a:pPr marL="0" indent="0">
              <a:buNone/>
            </a:pP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Q47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901017" y="1261872"/>
            <a:ext cx="5794947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순회 순서는 t3 → t2 → t1, 값은 11, 7, 5이다.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sum=0에서 시작한다.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1회: 0*3+11=11. 2회: 11*3+7=40. 3회: 40*3+5=125.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125 ^ 42 = 87이다. 비트 XOR은 같은 비트는 0, 다른 비트는 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최종값은 87 + 100 = 187이다.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순서는 t3 -&gt; t2 -&gt; t1이다. x 값 순서는 11, 7, 5다.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 초기값은 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번째: sum = 0*3 + 11 = 11.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번째: sum = 11*3 + 7 = 40.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번째: sum = 40*3 + 5 = 125.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다음 sum = (sum ^ 42u) + 100u를 계산한다.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125 ^ 42 = 87이다. 이진수로 서로 다른 비트가 1로 남는다.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+ 100 = 187. printf("%u")이므로 187을 출력한다.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901017" y="6291072"/>
            <a:ext cx="5794947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187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Q48 Java | 인터페이스 구현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Machine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void run();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WashingMachine (____빈칸____) Machine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private String name;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WashingMachine()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this.name = "LG Washer";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void run()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System.out.println("Washing machine running");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WashingMachine wm = new WashingMachine();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wm.run();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Q48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639248" y="1170432"/>
            <a:ext cx="5593611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Machine은 interface이다.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클래스가 인터페이스를 구현할 때는 extends가 아니라 implements를 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implements를 사용하면 인터페이스의 추상 메서드 run()을 구현해야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WashingMachine에는 public void run()이 있으므로 구현 조건을 만족한다.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올바른 형태는 class WashingMachine implements Machine 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Java에서 클래스가 인터페이스를 구현할 때는 implements를 사용한다.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extends는 클래스 상속에 쓰거나 인터페이스가 다른 인터페이스를 상속할 때 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Machine은 interface이고 WashingMachine은 class다.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class WashingMachine implements Machine 형태가 맞다.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run() 메서드를 구현했으므로 인터페이스 계약도 만족한다.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39248" y="6199632"/>
            <a:ext cx="5593611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implements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Q49 Python | enumerate와 딕셔너리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[3, 5, 2, 4, 1],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[4, 5, 1],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[4, 4, 1, 5, 4],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[4, 5]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{}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index, lis in enumerate(data):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list_sum = sum(lis)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list_len = len(lis)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result[index] = (list_sum, list_len)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출력 형식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{0: (①, ②), 1: (③, ④), 2: (⑤, ⑥), 3: (⑦, ⑧)}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Q49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681193" y="1100845"/>
            <a:ext cx="568589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enumerate(data)는 index와 내부 리스트를 함께 꺼낸다.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index 0: [3,5,2,4,1] → 합 15, 길이 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index 1: [4,5,1] → 합 10, 길이 3.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index 2: [4,4,1,5,4] → 합 18, 길이 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index 3: [4,5] → 합 9, 길이 2.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enumerate(data)는 각 내부 리스트의 인덱스와 리스트를 함께 준다.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0: [3,5,2,4,1], sum=15, len=5 -&gt; 0:(15,5).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1: [4,5,1], sum=10, len=3 -&gt; 1:(10,3).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2: [4,4,1,5,4], sum=18, len=5 -&gt; 2:(18,5).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3: [4,5], sum=9, len=2 -&gt; 3:(9,2).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 출력은 삽입 순서를 유지하므로 인덱스 0,1,2,3 순서로 나온다.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81193" y="6130045"/>
            <a:ext cx="568589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①=15, ②=5, ③=10, ④=3, ⑤=18, ⑥=5, ⑦=9, ⑧=2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SQL/DB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Q50 SQL LIKE + CROSS JOIN COUNT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 NAME: smith, allen, scott. T2 RULE: s%, %t%.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SQL: SELECT COUNT(*) CNT FROM T1 A CROSS JOIN T2 B WHERE A.NAME LIKE B.RULE;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[표/중간 결과]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 | s% | %t%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smith | 일치 | 일치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allen | 불일치 | 불일치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scott | 일치 | 일치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CROSS JOIN은 T1 3행 × T2 2행 = 6개 조합을 만든다.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RULE s%는 s로 시작하는 이름을 찾는다: smith, scott → 2개.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RULE %t%는 t를 포함하는 이름을 찾는다: smith, scott → 2개.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allen은 두 조건 모두 만족하지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COUNT(*)는 만족한 조합 수 4를 센다.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 JOIN은 T1 3행과 T2 2행을 모두 조합하므로 우선 6행이 만들어진다.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s%는 s로 시작하는 문자열을 의미한다. smith, scott가 매칭된다.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%t%는 t가 포함된 문자열을 의미한다. smith, scott가 매칭된다.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allen은 두 조건 모두 매칭되지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NAME은 두 RULE 각각과 비교된다. smith는 2건, scott는 2건, allen은 0건이다.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COUNT(*)는 매칭된 행 수 4를 반환한다.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4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Q52 Java | 부모 생성자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Rectangle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width, height;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Rectangle(int width, int height)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this.width = width;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this.height = height;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Square extends Rectangle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Square(int a)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____(a,a);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getSquareArea()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width * height;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Square sq = new 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Square(10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System.out.println(sq.getSquareArea());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Q52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318201" y="1115568"/>
            <a:ext cx="5511986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Rectangle에는 기본 생성자가 없고 Rectangle(int, int) 생성자만 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자식 생성자에서 부모의 특정 생성자를 호출하려면 super(...)를 사용한다.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Square는 한 변 a를 받아 width와 height에 모두 a를 넘겨야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빈칸은 super가 되어 super(a,a); 형태가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출력 자체는 10*10=100이지만 문제는 빈칸 키워드를 묻는다.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Square는 Rectangle을 상속한다.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Rectangle에는 기본 생성자가 없고 Rectangle(int width, int height)만 존재한다.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생성자에서 부모 생성자를 명시적으로 호출해야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생성자 호출 키워드는 super다.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Square(int a)에서 super(a,a)를 호출하면 width=a, height=a로 초기화된다.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getSquareArea는 width*height를 반환하므로 a=10일 때 100이 출력된다.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45633" y="6094476"/>
            <a:ext cx="5511986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super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Q54 관계대수 나눗셈 R ÷ 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R(A,B): (a1,b1), (a2,b2), (a1,b3)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S(B): b1, b3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R÷S의 결과를 테이블 형태로 작성한다.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R÷S는 “S에 있는 모든 B값과 짝을 이루는 A값”을 찾는다.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S에는 b1, b3이 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A=a1은 (a1,b1), (a1,b3)이 모두 R에 존재한다.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A=a2는 (a2,b2)만 있고 b1, b3 조합이 없다.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따라서 결과는 A 열의 a1 하나다.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R(A,B)는 (a1,b1), (a2,b2), (a1,b3)이다.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S(B)는 b1, b3이다.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R÷S는 “S의 모든 B 값과 짝을 이루는 A 값”을 찾는다.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a1은 (a1,b1)과 (a1,b3)이 모두 존재한다. 따라서 통과한다.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a2는 (a2,b2)만 있고 b1, b3 둘 다 만족하지 못한다.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결과는 A 속성 하나와 값 a1이다.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A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Q54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Q55 C | 삼항 연산자 + 비트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시프트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x=7, y=4, z;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 = y%3&lt;3 ? 2 : 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 = z &amp; z &gt;&gt; 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 = x&gt;5 &amp;&amp; z&lt;=3 ? z*x : z/x;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printf("%d", z);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Q55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127519" y="1176304"/>
            <a:ext cx="5929171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y%3 = 4%3 = 1이고 1&lt;3은 참이므로 z=2.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&gt;&gt; 연산자의 우선순위가 &amp;보다 높다. z &gt;&gt; 1 = 2 &gt;&gt; 1 = 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z = 2 &amp; 1 = 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x&gt;5는 참, z&lt;=3도 참이므로 조건식 전체가 참이다.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z*x = 0*7 = 0이 출력된다.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y=4이므로 y%3=1이다. 1&lt;3은 참이므로 z=2가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 = z &amp; z &gt;&gt; 1에서 &gt;&gt;가 &amp;보다 우선순위가 높다. 따라서 z &amp; (z&gt;&gt;1)이다.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2는 이진수 10, 2&gt;&gt;1은 1, 이진수 01이다.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&amp; 01 = 00이므로 z=0이다.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식 x&gt;5 &amp;&amp; z&lt;=3은 7&gt;5 참, 0&lt;=3 참이므로 전체 참이다.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삼항식은 z*x를 선택한다. 0*7=0.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출력은 0이다.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156880" y="6129416"/>
            <a:ext cx="5870448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0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Q57 Java | enum values와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Tri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A("A"), B("AB"), C("ABC");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private String code;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Tri(String code)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this.code = code;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String code()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code;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 t = Tri.values()[Tri.A.name().length()];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System.out.print(t.code());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Q57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71468" y="1188720"/>
            <a:ext cx="4737934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Tri.values()는 선언 순서대로 [A, B, C] 배열을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Tri.A.name()은 문자열 "A"이다.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"A".length()는 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values()[1]은 두 번째 enum 상수인 B이다.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B의 code 값은 "AB"이다.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Tri.values()는 [A, B, C] 순서의 배열을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Tri.A.name()은 문자열 "A"다.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"A".length()는 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Tri.values()[1]은 두 번째 enum 상수 B다.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B의 code 값은 생성자에서 "AB"로 저장되어 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t.code()는 "AB"를 반환한다.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71468" y="6124257"/>
            <a:ext cx="4737934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AB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Q58 접근통제 모델 MAC/RBAC/DAC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보기: DAC, MAC, RBAC.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ㄱ: 중앙 보안 정책, 사용자가 임의 변경 불가, 군사 기밀 등 등급 기반.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ㄴ: 직무나 역할(Role)에 따라 권한 부여.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ㄷ: 자원 소유자가 권한을 자유롭게 부여/회수.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중앙에서 강제로 통제하고 보안 등급에 따라 접근을 정하면 MAC이다.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역할(Role)에 권한을 묶어 사용자에게 적용하면 RBAC이다.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소유자(Owner)가 권한을 재량으로 설정하면 DAC이다.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MAC은 보안성 높고 유연성 낮음, DAC은 유연하지만 보안성 상대적으로 낮음.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RBAC은 조직 업무 권한 관리에 적합하다.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MAC은 Mandatory Access Control이다. 중앙 정책과 보안 등급에 따라 접근을 강제한다.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RBAC은 Role-Based Access Control이다. 사용자에게 직접 권한을 주는 대신 역할에 권한을 묶는다.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DAC은 Discretionary Access Control이다. 소유자가 자원 권한을 재량으로 부여하거나 회수한다.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군사 기밀/보안 등급 단서는 MAC, 직무/역할 단서는 RBAC, 소유자 단서는 DAC이다.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461233"/>
            <a:ext cx="11109960" cy="1067583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ㄱ MAC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 RBAC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 DAC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Q58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Q59 테스트케이스 구성요소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테스트케이스 표에서 빈칸 세 개를 보기 중에서 고른다. 표의 열은 식별자 ID, 테스트 항목, 사용자 초기 화면, 사용자 아이디/비밀번호,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로그인 성공/실패 형태다.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“사용자 초기 화면”은 테스트를 수행하기 위해 필요한 사전 조건 또는 상태다.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“사용자 아이디/비밀번호”는 테스트에 투입되는 값이므로 테스트 데이터다.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“로그인 성공/실패”는 실행 후 기대되는 결과다.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수행 단계는 실제 조작 순서가 나와야 하므로 이 표의 빈칸에는 맞지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성공/실패 기준은 판정 기준 전체를 뜻하므로 여기서는 예상 결과가 더 직접적이다.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표에서 “사용자 초기 화면”은 테스트를 시작하기 위해 만족되어야 하는 조건이다. 따라서 테스트 조건이다.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“사용자 아이디, 비밀번호”는 테스트에 입력하는 값이다. 따라서 테스트 데이터다.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“로그인 성공/로그인 실패”는 실행 후 기대하는 결과다. 따라서 예상 결과다.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단계는 클릭, 입력, 버튼 누르기처럼 절차가 나와야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성공/실패 기준은 예상 결과와 실제 결과를 비교해 통과 여부를 판단하는 기준이다.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939406"/>
            <a:ext cx="11109960" cy="589410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왼쪽부터: 테스트 조건, 테스트 데이터, 예상 결과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기호: ㄱ, ㄹ, 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Q59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SQL/DB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Q60 COUNT(col2)와 NULL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테이블에서 다음 SQL의 결과를 구한다.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count(col2) FROM A WHERE col1 IN (2, 3) OR col2 IN (3, 5)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[표/중간 결과]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col1 | col2 | 조건 | COUNT 대상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| NULL | O |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| 6 | O | 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| 3 | O | 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| 3 | O | 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| 5 | O | 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WHERE 조건을 만족하는 행부터 찾는다.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(2,NULL)은 col1=2라서 조건은 만족하지만 col2가 NULL이다.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(3,6), (2,3), (NULL,3), (4,5)는 조건을 만족하고 col2가 NULL이 아니다.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COUNT(col2)는 NULL을 세지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따라서 조건 만족 행 5개 중 col2가 있는 4개만 카운트한다.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조건은 col1 IN (2,3) OR col2 IN (3,5)이다.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행1: col1=2, col2=NULL. col1 조건이 참이므로 선택된다. 하지만 COUNT(col2)는 NULL을 세지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행2: col1=3, col2=6. 선택되고 col2가 NULL이 아니므로 카운트된다.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행3: col1=2, col2=3. 선택되고 </a:t>
            </a:r>
            <a:r>
              <a:rPr lang="en-US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카운트된다</a:t>
            </a:r>
            <a:r>
              <a:rPr lang="en-US" sz="130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행4: col1=NULL, col2=3. col2 조건이 참이므로 선택되고 카운트된다.</a:t>
            </a:r>
            <a:endParaRPr lang="en-US" altLang="ko-KR" sz="1300"/>
          </a:p>
          <a:p>
            <a:r>
              <a:rPr lang="en-US" altLang="ko-KR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행5: col1=4, col2=5. col2 조건이 참이므로 선택되고 카운트된다.</a:t>
            </a:r>
            <a:endParaRPr lang="en-US" altLang="ko-KR" sz="1300"/>
          </a:p>
          <a:p>
            <a:r>
              <a:rPr lang="en-US" altLang="ko-KR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선택된 행은 5개지만 col2가 NULL인 첫 행은 COUNT(col2)에서 제외된다.</a:t>
            </a:r>
            <a:endParaRPr lang="en-US" altLang="ko-KR" sz="1300"/>
          </a:p>
          <a:p>
            <a:r>
              <a:rPr lang="en-US" altLang="ko-KR" sz="130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결과는 4다.</a:t>
            </a:r>
            <a:endParaRPr lang="en-US" altLang="ko-KR" sz="130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4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Q61 C | 배열 평균 함수 2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arr1(int p[], int len)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double av = 0;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i;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(i = 0; i &lt; len; i++)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 += (double) p[i];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av / len;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arr2(int * p, int len)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double av = 0;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i;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(i = 0; i &lt; len; i++)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 += (double)( * (p + i));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av / len;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arr[10] = { 80, 20, 50, 55, 45, 95, 55, 10, 40, 80 };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len = 10;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printf("%.2f", arr1(arr, len) + arr2(arr, len));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altLang="ko-KR" sz="1100"/>
          </a:p>
          <a:p>
            <a:pPr marL="0" indent="0">
              <a:buNone/>
            </a:pP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578678" y="1166405"/>
            <a:ext cx="6417577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arr1(p[])와 arr2(*p)는 표현만 다르고 같은 배열을 순회한다.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배열 합은 80+20+50+55+45+95+55+10+40+80 = 530이다.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평균은 530/10 = 53.0이다.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두 함수가 같은 평균을 반환하므로 합은 106.0이다.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%.2f 형식이므로 소수 둘째 자리까지 106.00으로 출력된다.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arr1과 arr2는 둘 다 같은 배열의 평균을 구한다. 차이는 배열 표기 p[i]와 포인터 표기 *(p+i)뿐이다.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합은 80+20+50+55+45+95+55+10+40+80 = 530이다.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평균은 530/10 = 53.0이다.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arr1(arr,len)=53.0, arr2(arr,len)=53.0이다.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값을 더하면 106.0이다.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printf("%.2f")이므로 소수점 둘째 자리까지 106.00으로 출력된다.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578678" y="6195605"/>
            <a:ext cx="6417578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106.00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Q62 디자인 패턴 Bridge / Observer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
(ㄱ) 기능의 클래스 계층과 구현의 클래스 계층을 연결한다.
(ㄴ) 한 객체의 상태가 바뀌면 그 객체에 의존하는 다른 객체들에게 자동으로 통지되고 갱신된다.
[기본 풀이]
- 1) 기능 계층과 구현 계층을 분리하고 연결하는 패턴은 Bridge다.
- 2) Bridge는 추상화와 구현을 독립적으로 확장할 수 있게 한다.
- 3) 객체 상태 변화가 의존 객체들에게 전달되는 패턴은 Observer다.
- 4) Observer는 Subject-Observer 구조를 갖는다.
- 5) MVC, 이벤트 리스너, 구독/발행 구조에서 Observer 개념이 자주 쓰인다.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972961"/>
            <a:ext cx="11109960" cy="555855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ㄱ Bridge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 Observer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Q62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Q63 DB 설계 절차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 절차의 빈칸을 순서대로 채운다.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보기: 구현 / 개념적 설계 / 논리적 설계 / 요구사항 분석 / 물리적 설계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먼저 사용자가 원하는 데이터와 처리 조건을 수집한다: 요구사항 분석.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현실 세계를 개념 모델로 표현한다: 개념적 설계.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DBMS에 맞는 논리 스키마로 변환한다: 논리적 설계.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저장 구조와 접근 방법을 정한다: 물리적 설계.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실제 DB를 생성하고 운용한다: 구현.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 절차는 요구사항 분석에서 시작한다. 사용자가 무엇을 원하는지 파악하는 단계다.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다음은 개념적 설계다. ERD처럼 업무 개념과 관계를 추상적으로 표현한다.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다음은 논리적 설계다. 관계형 모델의 테이블, 속성, 키, 정규화 등을 정한다.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다음은 물리적 설계다. 인덱스, 저장 구조, 접근 경로 등 실제 DBMS 구현 방식을 정한다.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마지막은 구현이다. 실제 SQL DDL로 데이터베이스를 생성한다.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요구사항 분석 → 개념적 설계 → 논리적 설계 → 물리적 설계 → 구현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Q63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Q64 비기능 요구사항 유형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
1. 시스템 운영 중 로그 관리 및 모니터링 기능 제공
2. 시스템 운영 시 최소 메모리 용량 확보, 자원 사용량 제한
3. 사용자 요청에 대한 응답 시간은 최대 1분 초과 금지
보기: 신뢰성, 가용성, 운영, 유지보수성, 자원, 성능, 이식성, 보안, 품질
[기본 풀이]
- 1) 로그 관리와 모니터링은 시스템 운영 과정의 요구이므로 운영 요구사항이다.
- 2) 메모리 용량과 사용량 제한은 자원 요구사항이다.
- 3) 응답 시간 제한은 처리 속도와 관련되어 성능 요구사항이다.
- 4) 가용성은 중단 없이 이용 가능한 정도, 신뢰성은 장애 없이 수행하는 정도다.
- 5) 보안은 인증, 접근통제, 암호화 등 보호 요구에 해당한다.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662569"/>
            <a:ext cx="11109960" cy="866247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1. 운영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자원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성능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Q64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Q66 HDLC 프레임과 모드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HDLC는 비트 중심 데이터 링크 제어 프로토콜이다.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사용자 데이터를 전송하는 프레임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흐름 관리, 오류 제어, 통신 상태 감시 프레임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순서 번호 없이 링크 설정/해제/모드 설정 수행 프레임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두 국이 동등하게 명령/응답하는 모드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종국이 주국 허가 없이 자발적 응답 전송 가능 모드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사용자 데이터 전송은 정보 프레임, I-frame이다.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흐름 제어와 오류 제어는 감독 프레임, S-frame이다.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링크 설정, 해제, 모드 설정 등 비번호 제어는 U-frame이다.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양쪽이 동등한 위치에서 통신하는 모드는 ABM, 비동기 균형 모드다.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종국이 허가 없이도 응답 가능한 모드는 ARM, 비동기 응답 모드다.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I-frame은 Information frame이다. 실제 사용자 데이터를 싣는다.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S-frame은 Supervisory frame이다. 흐름 제어, 오류 제어, ACK/NAK 성격의 제어에 사용된다.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U-frame은 Unnumbered frame이다. 번호 없이 링크 설정/해제, 모드 설정 같은 관리 기능을 수행한다.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ABM은 Asynchronous Balanced Mode로 양쪽 국이 동등한 복합국처럼 명령과 응답을 주고받는다.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ARM은 Asynchronous Response Mode로 종국이 주국의 허가 없이도 자발적 응답을 할 수 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511567"/>
            <a:ext cx="11109960" cy="1017249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1. 정보 프레임(I-frame)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감독 프레임(S-frame)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비번호 프레임(U-frame)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비동기 균형 모드(ABM)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비동기 응답 모드(ARM)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Q66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Q67 Java | 오버로딩 선택 후 오버라이딩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f(Object x)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"1";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g()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f("a");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 extends A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f(Object x)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"2";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f(String x)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"3";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</a:t>
            </a:r>
            <a:r>
              <a:rPr lang="en-US" sz="114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140" smtClean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a = new B();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System.out.println(a.g());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altLang="ko-KR" sz="1100"/>
          </a:p>
          <a:p>
            <a:r>
              <a:rPr lang="en-US" altLang="ko-KR" sz="11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Q67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46302" y="1170432"/>
            <a:ext cx="6038228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a.g()는 A 클래스에 정의된 g()를 실행한다.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g() 내부의 f("a")는 A 타입 관점에서 컴파일된다.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A에는 f(Object)만 있으므로 오버로딩 선택은 f(Object)이다.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실행 시점에는 실제 객체가 B이므로 f(Object)는 B의 오버라이딩 메서드가 실행된다.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B.f(String)은 선택되지 않는다. 정답은 B.f(Object)의 반환값 2이다.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a의 선언 타입은 A, 실제 객체는 B다.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a.g()를 호출하면 A 클래스의 g()가 실행된다. B는 g()를 오버라이딩하지 않았다.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A.g() 내부 코드는 return f("a"); 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컴파일 시점의 this 타입은 A 문맥이므로 A에 존재하는 f(Object)가 선택된다. B의 f(String)은 오버로딩 후보로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정적으로 선택되지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선택된 f(Object)는 B에서 오버라이딩되어 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 동적 바인딩으로 B.f(Object)가 실행되어 "2"를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출력은 2다.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46302" y="6199632"/>
            <a:ext cx="6038228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2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Q68 Python | 역순 문자열과 문자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input()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 in i.split():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x.append(word)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''.join(x)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''.join(c for c in y[::-1] if c not in 'ong')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print(z)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입력값: HumanDev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Q68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708876" y="1261872"/>
            <a:ext cx="5904004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입력 HumanDev에는 공백이 없으므로 split 결과는 ["HumanDev"]이다.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x에 "HumanDev"가 들어가고, y는 join 결과 "HumanDev"이다.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y[::-1]은 문자열을 역순으로 만든다: "veDnamuH".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if c not in "ong" 조건은 o, n, g 문자를 제거한다.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"veDnamuH"에서 n만 제거되어 "veDamuH"가 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HumanDev에는 공백이 없으므로 split() 결과는 ["HumanDev"]이다.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y는 "HumanDev"가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y[::-1]은 문자열을 뒤집어 "veDnamuH"가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if c not in "ong"은 문자 o, n, g를 제거한다.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뒤집힌 문자열 veDnamuH에서 n이 제거된다.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문자열은 veDamuH이다.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708876" y="6291072"/>
            <a:ext cx="5904004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veDamuH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Q69 SELECT / DISTINCT / COUNT(DISTINCT)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 테이블에는 컴퓨터과 50명, 인터넷과 100명, 사무자동화과 50명이 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SELECT DEPT FROM STUDENT;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SELECT DISTINCT DEPT FROM STUDENT;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SELECT COUNT(DISTINCT DEPT) FROM STUDENT WHERE DEPT = '컴퓨터과';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전체 학생 수는 50+100+50=200명이다.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SELECT DEPT는 학생 행마다 학과명을 반환하므로 200행이다.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DISTINCT DEPT는 중복 학과명을 제거한다.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존재 학과는 컴퓨터과, 인터넷과, 사무자동화과 3개다.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WHERE DEPT=컴퓨터과로 필터링한 뒤 DISTINCT DEPT는 컴퓨터과 1개만 남는다.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학생 수는 컴퓨터과 50명 + 인터넷과 100명 + 사무자동화과 50명 = 200명이다.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DEPT FROM STUDENT;는 모든 행의 DEPT를 출력하므로 200행을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DISTINCT DEPT FROM STUDENT;는 중복 학과명을 제거한다.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학과 종류는 컴퓨터과, 인터넷과, 사무자동화과 총 3개다.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COUNT(DISTINCT DEPT) WHERE DEPT="컴퓨터과"는 조건에 맞는 행의 학과 종류 수를 센다.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컴퓨터과만 남으므로 DISTINCT DEPT 수는 1이다.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603846"/>
            <a:ext cx="11109960" cy="924970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1) 200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3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Q69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Q70 SQL DDL | 외래키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제약조건 </a:t>
            </a:r>
            <a:r>
              <a:rPr lang="en-US" sz="2000" b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PLAYER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PLAYER_ID CHAR(7)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PLAYER_NAME VARCHAR2(20)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TEAM_ID CHAR(3)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PRIMARY KEY (PLAYER_ID),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(1) TEAM_TF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(2) KEY (3)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(4) TEAM (5)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Q70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291137" y="1149627"/>
            <a:ext cx="7321743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제약조건 이름을 지정할 때는 CONSTRAINT 제약조건명 형식을 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외래키는 FOREIGN KEY (컬럼명)으로 선언한다.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PLAYER 테이블에서 외래키 역할을 하는 컬럼은 TEAM_ID다.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참조 대상 테이블은 TEAM이고, 참조 대상 컬럼은 TEAM_ID2다.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완성 형태: CONSTRAINT TEAM_TF FOREIGN KEY (TEAM_ID) REFERENCES TEAM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(TEAM_ID2).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외래키 제약조건 이름을 지정하려면 CONSTRAINT 제약조건명 형식을 사용한다.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외래키 자체는 FOREIGN KEY (컬럼명)으로 선언한다.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 테이블에서 외래키 역할을 하는 컬럼은 TEAM_ID다.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대상 테이블을 지정할 때는 REFERENCES TEAM(...)을 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대상 컬럼은 TEAM 테이블의 TEAM_ID2다.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CONSTRAINT TEAM_TF FOREIGN KEY (TEAM_ID) REFERENCES TEAM (TEAM_ID2)가 된다.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291137" y="6178827"/>
            <a:ext cx="7321743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① CONSTRAINT, ② FOREIGN, ③ TEAM_ID, ④ REFERENCES, ⑤ TEAM_ID2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Q71 CIDR 네트워크 주소 /23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a: 192.168.11.20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b: 192.168.12.200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 마스크: 255.255.254.0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호스트가 속한 네트워크 주소를 CIDR 표기법으로 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255.255.254.0은 /23이다.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세 번째 옥텟의 블록 크기는 256-254=2다.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11은 10~11 블록에 속하므로 a의 네트워크는 192.168.10.0/23이다.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12는 12~13 블록에 속하므로 b의 네트워크는 192.168.12.0/23이다.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/23은 두 개의 /24 대역을 하나로 묶는다고 생각하면 빠르다.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255.255.254.0은 /23이다. 세 번째 옥텟에서 7비트가 네트워크, 1비트가 호스트 쪽으로 넘어간다.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옥텟의 블록 크기는 256-254=2다.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옥텟 11은 10~11 블록에 속한다. 따라서 a는 192.168.10.0/23이다.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옥텟 12는 12~13 블록에 속한다. 따라서 b는 192.168.12.0/23이다.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/23 네트워크는 두 개의 /24 대역을 묶는다. 10.0/23은 10.*와 11.*를 포함하고, 12.0/23은 12.*와 13.*를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포함한다.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062472"/>
            <a:ext cx="11109960" cy="46634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a. 192.168.10.0/23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192.168.12.0/23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Q71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Q72 C | 함수 포인터와 16진수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3899035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fns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int* (*fn)(int*);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mine;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dummy(int *d)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d + 1;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struct fns mine;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n[] = {16, 32};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mine.fn = dummy;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printf("%x", *mine.fn(n));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Q72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312077" y="1158016"/>
            <a:ext cx="5492943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struct fns의 fn은 int*를 받아 int*를 반환하는 함수 포인터다.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mine.fn = dummy이므로 mine.fn(n)은 dummy(n)과 같다.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dummy는 d+1을 반환하므로 n[1]의 주소를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*mine.fn(n)은 n[1] 값인 32이다.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%x는 10진수 32를 16진수로 출력하므로 20이 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mine.fn은 int*를 받아 int*를 반환하는 함수 포인터다.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dummy(int *d)는 d+1을 반환한다. int 포인터에서 +1은 다음 int 원소 주소로 이동한다.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배열은 {16,32}다.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mine.fn(n)은 dummy(n)과 같고, n+1을 반환한다.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*mine.fn(n)은 *(n+1)이므로 n[1]인 32다.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printf("%x")는 10진수 32를 16진수로 출력한다.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32의 16진수는 20이다.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12077" y="6187216"/>
            <a:ext cx="5492943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20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Q73 Python | 역방향 슬라이싱 step -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list(range(10))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lst[::-2]: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print(c, end='A')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362411" y="1170432"/>
            <a:ext cx="5182551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list(range(10))은 [0,1,2,3,4,5,6,7,8,9]이다.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lst[::-2]는 뒤에서부터 2칸씩 이동한다.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결과는 [9, 7, 5, 3, 1]이다.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print(c, end="A")이므로 각 숫자 뒤에 A가 붙는다.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마지막 print()는 줄바꿈만 추가한다.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 = list(range(10))은 [0,1,2,3,4,5,6,7,8,9]이다.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lst[::-2]는 뒤에서부터 두 칸씩 이동한다.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선택되는 값은 9,7,5,3,1이다.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print(c, end="A")는 각 숫자 뒤에 A를 붙이고 줄바꿈하지 않는다.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반복이 끝난 뒤 print()가 줄바꿈만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출력은 9A7A5A3A1A다.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62411" y="6199632"/>
            <a:ext cx="5182551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9A7A5A3A1A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Q74 Python | 얕은 복사와 내부 리스트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f(a):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= [[x] for x in a]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= m[:]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i in range(len(b) - 1):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b[i+1] += b[i]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sum(len(x) for x in 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print(f([1, 2, 3, 4]))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Q74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867460" y="1158016"/>
            <a:ext cx="5971116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m은 [[1],[2],[3],[4]]이다.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b=m[:]는 바깥 리스트만 복사한다. 내부 리스트 객체는 m과 b가 공유한다.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i=0: b[1]+=b[0] → [2,1], i=1: b[2]+=b[1] → [3,2,1].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i=2: b[3]+=b[2] → [4,3,2,1].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m의 내부 리스트도 같은 객체라 길이는 1,2,3,4가 되고 합은 10이다.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= [[x] for x in a]는 각 값을 하나의 내부 리스트로 감싼다. m = [[1],[2],[3],[4]]이다.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= m[:]는 바깥 리스트만 복사하는 얕은 복사다. 내부 리스트 객체는 m과 b가 공유한다.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for문 i=0: b[1] += b[0] 실행. b[1] 내부 리스트가 [2,1]로 늘어나고 m[1]도 같은 객체라 함께 변한다.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i=1: b[2] += b[1], b[2]는 [3,2,1]이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i=2: b[3] += b[2], b[3]은 [4,3,2,1]이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m 내부 리스트 길이는 1,2,3,4다.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sum(len(x) for x in m) = 1+2+3+4 = 10이다.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867460" y="6187216"/>
            <a:ext cx="5971116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10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Q75 심볼릭 링크 공격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
공격자는 실제 데이터 파일 경로를 가리키는 특수 파일을 미리 만들고, 프로그램이 임시 파일을 생성하는 순간 임시 파일을 해당 특수 파일로
  교체한다. 이후 프로그램이 임시 파일을 정상으로 인식하고 동작하게 만든다. 보기: 하드링크, 심볼릭링크, 소프트링크, 정적링크, 동적링크
[기본 풀이]
- 1) 실제 파일이 아니라 다른 파일의 경로를 가리키는 특수 파일은 심볼릭 링크다.
- 2) 소프트링크는 심볼릭 링크와 같은 의미로 쓰이기도 하지만, 보기에서는 심볼릭링크가 더 직접적이다.
- 3) 하드링크는 같은 inode를 가리키며 경로 참조 방식과 구분된다.
- 4) 임시 파일 생성 시점의 경쟁 조건과 결합되면 보안 취약점이 된다.
- 5) 핵심 단서는 “특수 파일”, “경로 참조”, “임시 파일 교체”다.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심볼릭링크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Q75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Q77 Java | 숫자 덧셈과 문자열 </a:t>
            </a:r>
            <a:r>
              <a:rPr lang="en-US" sz="200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1109960" cy="5440680"/>
          </a:xfrm>
          <a:prstGeom prst="rect">
            <a:avLst/>
          </a:prstGeom>
          <a:solidFill>
            <a:srgbClr val="F6F8FA"/>
          </a:solidFill>
          <a:ln w="7620">
            <a:solidFill>
              <a:srgbClr val="D1D5D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main(String[] args)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x1 = 9;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x2 = 2;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x3 = "3";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System.out.println(x1 + x2 + "2" + x3);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Q77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672804" y="1141238"/>
            <a:ext cx="5568444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접근]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+ 연산은 왼쪽에서 오른쪽으로 평가된다.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x1 + x2는 둘 다 int이므로 산술 덧셈: 9+2=11.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그 다음 11 + "2"에서 문자열이 등장하므로 문자열 결합으로 바뀐다.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결과는 "112"이고, 다시 + x3은 "112" + "3"이다.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최종 출력은 1123이다.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추적]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x1+x2는 둘 다 int이므로 먼저 숫자 덧셈이 수행된다. 9+2=11이다.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다음 + "2"를 만나면 문자열 결합으로 바뀐다.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+ "2"는 문자열 "112"가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"112" + x3이고 x3="3"이므로 "1123"이 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Java에서 + 연산은 왼쪽부터 평가되며, 문자열이 한 번 등장하면 이후는 문자열 결합으로 진행된다.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72804" y="6170438"/>
            <a:ext cx="5568444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1123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Q78 JOIN + 서브쿼리 평균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employee(dep_id): 10, 20, 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dept(dept_id,budget): (10,100), (20,300), (30,200)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COUNT(*) FROM employee e JOIN dept d ON e.dep_id=d.dept_id WHERE d.budget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&gt; (SELECT AVG(budget) FROM dept);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dept의 평균 budget은 (100+300+200)/3 = 200이다.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조건 d.budget &gt; 200을 만족하는 부서는 dept_id=20뿐이다.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employee에서 dep_id=20인 행은 2개다.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JOIN 조건 e.dep_id=d.dept_id로 연결하면 dep_id=20 직원 두 행만 남는다.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COUNT(*)는 남은 행의 개수 2를 반환한다.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 예산은 100, 300, 200이다. 평균은 (100+300+200)/3 = 200이다.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d.budget &gt; 평균이므로 budget &gt; 200인 부서만 남는다.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20의 budget 300만 조건을 만족한다.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 테이블의 dep_id는 10,20,20이다.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후 부서 20에 속한 employee 행은 2개다.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COUNT(*)는 그 두 행을 세므로 결과는 2다.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Q78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Q79 통합 테스트 더미 모듈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하위 모듈을 대신하여 단순한 결과값만 반환하도록 임시 작성된 더미 모듈. 하향식 통합 테스트 수행 시 필요.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상위 모듈을 대신하여 하위 모듈의 데이터 입력과 출력을 확인하기 위한 더미 모듈. 상향식 통합 테스트 수행 시 필요.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하향식 통합 테스트는 상위 모듈부터 테스트한다.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아직 없는 하위 모듈을 대신하는 임시 모듈이 스텁(Stub)이다.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상향식 통합 테스트는 하위 모듈부터 테스트한다.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하위 모듈을 호출해 줄 상위 모듈 역할의 임시 모듈이 드라이버(Driver)다.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암기 포인트: 하향식=스텁, 상향식=드라이버.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하향식 통합 테스트는 상위 모듈을 먼저 테스트한다. 아직 작성되지 않은 하위 모듈은 가짜 모듈로 대체해야 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이때 하위 모듈을 대신해 단순 값만 반환하는 모듈이 스텁(Stub)이다.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상향식 통합 테스트는 하위 모듈을 먼저 테스트한다.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모듈을 호출해 주는 상위 모듈 역할의 가짜 모듈이 필요하다.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모듈이 드라이버(Driver)다.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암기: 하향식은 아래쪽이 비어 있으므로 스텁, 상향식은 위에서 호출해 줄 드라이버.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1109960" cy="329184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(1) 스텁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드라이버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Q79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이론/계산 해설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Q80 응집도: 절차·교환·기능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11109960" cy="48920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 조건]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모듈이 다수의 관련 기능을 가질 때 구성요소들이 그 기능을 순차적으로 수행한다.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동일한 입력과 출력을 사용하여 서로 다른 기능을 수행하는 활동들이 모여 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모듈 내부의 모든 기능이 단일 목적을 위해 수행된다.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[기본 풀이]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- 1) 순서대로 수행되는 관련 기능이 모이면 절차적 응집도다.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- 2) 동일 입출력을 공유하지만 서로 다른 기능이 모이면 교환적 응집도다.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- 3) 단일 목적을 위해 모든 기능이 모이면 기능적 응집도다.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- 4) 응집도는 높을수록 좋고, 기능적 응집도가 가장 바람직하다.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- 5) 결합도는 낮게, 응집도는 높게 설계하는 것이 기본 원칙이다.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 해설]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절차적 응집도는 모듈 내부 기능들이 순서 관계를 갖고 수행되는 경우다.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교환적 응집도는 같은 입력 또는 같은 출력을 공유하는 여러 기능이 모인 경우다.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기능적 응집도는 모듈의 모든 요소가 하나의 명확한 기능을 수행하는 경우다.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응집도는 기능적 응집도에 가까울수록 좋다.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절차는 “순서”, 교환은 “입출력 공유”, 기능은 “하나의 목적”으로 구분하면 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5788404"/>
            <a:ext cx="11109960" cy="740412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(1) 절차적 응집도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교환적 응집도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기능적 응집도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Q80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점검: 유형별 풀이 체크리스트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155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──────────────────────────────────────────────────────────────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11155680" cy="310896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출력형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08176"/>
            <a:ext cx="11155680" cy="1014984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주소/포인터/구조체 대입/비트 연산을 표로 적는다.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Java: 오버로딩은 컴파일 타입, 오버라이딩은 실제 객체 타입, static은 선언 타입.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Python: 슬라이싱과 얕은 복사, dict/set 독립성을 구분한다.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11155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/ 관계대수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962656"/>
            <a:ext cx="11155680" cy="9235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→ WHERE → SELECT → DISTINCT/COUNT 순서로 중간 결과를 만든다.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COUNT(*)는 NULL 포함 행 수, COUNT(컬럼)은 NULL 제외.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R÷S는 “S의 모든 값과 짝을 이루는 A”를 찾는 연산이다.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1155680" cy="310896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계산형 이론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425696"/>
            <a:ext cx="11155680" cy="923544"/>
          </a:xfrm>
          <a:prstGeom prst="rect">
            <a:avLst/>
          </a:prstGeom>
          <a:solidFill>
            <a:srgbClr val="F8FAFC"/>
          </a:solidFill>
          <a:ln w="7620">
            <a:solidFill>
              <a:srgbClr val="E5E7EB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서브넷: prefix → 블록 크기 → 네트워크/브로드캐스트 → 호스트 범위.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스케줄링: 간트 차트 → 완료시간 → 반환시간 → 대기시간.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커버리지: 문장/분기/조건/조건결정 기준을 구분한다.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5870448"/>
            <a:ext cx="11155680" cy="438912"/>
          </a:xfrm>
          <a:prstGeom prst="rect">
            <a:avLst/>
          </a:prstGeom>
          <a:solidFill>
            <a:srgbClr val="F0FFF4"/>
          </a:solidFill>
          <a:ln w="7620">
            <a:solidFill>
              <a:srgbClr val="C6F6D5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ko-KR" altLang="en-US" sz="1350" b="1" smtClean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1350" b="1" smtClean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350" b="1" dirty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출제되는 것은 “용어 암기”보다 “중간 과정 </a:t>
            </a:r>
            <a:r>
              <a:rPr lang="en-US" sz="1350" b="1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r>
              <a:rPr lang="en-US" sz="1350" b="1" smtClean="0">
                <a:solidFill>
                  <a:srgbClr val="006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702552"/>
            <a:ext cx="11201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16378</Words>
  <Application>Microsoft Office PowerPoint</Application>
  <PresentationFormat>와이드스크린</PresentationFormat>
  <Paragraphs>2020</Paragraphs>
  <Slides>66</Slides>
  <Notes>66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1" baseType="lpstr">
      <vt:lpstr>맑은 고딕</vt:lpstr>
      <vt:lpstr>맑은 고딕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정보처리기사 실기 복원문제 80선 상세 해설자료</dc:title>
  <dc:subject>정보처리기사 실기 복원문제 상세 해설자료</dc:subject>
  <dc:creator>OpenAI</dc:creator>
  <cp:lastModifiedBy>adminn</cp:lastModifiedBy>
  <cp:revision>110</cp:revision>
  <dcterms:created xsi:type="dcterms:W3CDTF">2026-07-11T22:49:10Z</dcterms:created>
  <dcterms:modified xsi:type="dcterms:W3CDTF">2026-07-12T01:39:01Z</dcterms:modified>
</cp:coreProperties>
</file>