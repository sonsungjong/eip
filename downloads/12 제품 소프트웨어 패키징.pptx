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72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063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EF3A2-AD05-B1AE-690D-8263BB8A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54C8D-DD07-2D4B-2E24-5A003A032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9FACE-27E7-3A17-ADAA-88E707856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3481D-014A-C801-D57E-2210003B10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43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265176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472C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[12과목]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제품 소프트웨어 패키징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정보처리기사 핵심 정리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777240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제품 소프트웨어 패키징 + 릴리즈 노트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79576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17957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179576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 매뉴얼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581912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58191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581912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디지털 저작권 관리 (DRM) 구성 요소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984248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198424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1984248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DRM 패키징 도구 기술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386584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38658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386584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오픈소스 라이선스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57200" y="278892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2788920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 형상 관리 (SCM) 절차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191256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19125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3191256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버전 관리 주요 용어 + 방식 분류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593592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" y="359359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593592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Git 주요 명령어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995928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57200" y="399592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3995928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빌드 자동화 도구 + CI/CD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398264"/>
            <a:ext cx="548640" cy="347472"/>
          </a:xfrm>
          <a:prstGeom prst="roundRect">
            <a:avLst>
              <a:gd name="adj" fmla="val 13158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57200" y="439826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" y="4398264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핵심 암기 포인트 ★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  제품 소프트웨어 패키징 + 릴리즈 노트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75658"/>
            <a:ext cx="8229600" cy="809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i="1" dirty="0"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제품 소프트웨어 패키징</a:t>
            </a:r>
            <a:r>
              <a:rPr lang="ko-KR" altLang="en-US" sz="13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3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: </a:t>
            </a:r>
            <a:endParaRPr lang="en-US" sz="1300" i="1" dirty="0">
              <a:solidFill>
                <a:srgbClr val="6B7280"/>
              </a:solidFill>
              <a:latin typeface="NanumGothic" pitchFamily="34" charset="0"/>
              <a:ea typeface="NanumGothic" pitchFamily="34" charset="-122"/>
              <a:cs typeface="NanumGothic" pitchFamily="34" charset="-120"/>
            </a:endParaRPr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     </a:t>
            </a:r>
            <a:r>
              <a:rPr lang="en-US" sz="1300" i="1" dirty="0" err="1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개발이</a:t>
            </a:r>
            <a:r>
              <a:rPr lang="en-US" sz="13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완료된 소프트웨어를 고객에게 전달하기 위해 </a:t>
            </a:r>
            <a:r>
              <a:rPr lang="en-US" sz="1300" i="1" dirty="0" err="1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패키징하는</a:t>
            </a:r>
            <a:r>
              <a:rPr lang="en-US" sz="13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300" i="1" dirty="0" err="1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과정</a:t>
            </a:r>
            <a:endParaRPr lang="en-US" sz="1300" i="1" dirty="0">
              <a:solidFill>
                <a:srgbClr val="6B7280"/>
              </a:solidFill>
              <a:latin typeface="NanumGothic" pitchFamily="34" charset="0"/>
              <a:ea typeface="NanumGothic" pitchFamily="34" charset="-122"/>
              <a:cs typeface="NanumGothic" pitchFamily="34" charset="-120"/>
            </a:endParaRPr>
          </a:p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</a:rPr>
              <a:t>         </a:t>
            </a:r>
            <a:r>
              <a:rPr lang="ko-KR" altLang="en-US" sz="13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</a:rPr>
              <a:t>사용자 중심으로 작성하며</a:t>
            </a:r>
            <a:r>
              <a:rPr lang="en-US" altLang="ko-KR" sz="13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</a:rPr>
              <a:t>, </a:t>
            </a:r>
            <a:r>
              <a:rPr lang="ko-KR" altLang="en-US" sz="13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</a:rPr>
              <a:t>다양한 환경에서 구동될 수 있도록 작성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33750"/>
            <a:ext cx="8229600" cy="2645226"/>
          </a:xfrm>
          <a:prstGeom prst="roundRect">
            <a:avLst>
              <a:gd name="adj" fmla="val 2222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277585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 배포 시 추가, 변경, 버그 수정 사항 등을 상세히 담아 고객에게 제공하는 문서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41616"/>
            <a:ext cx="7955280" cy="15675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구성 항목: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머릿말, 개요, 목적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문제 요약, 재현 항목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수정/개선 내용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사용자 영향도, SW 지원 영향도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면책 조항, 연락처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485209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릴리즈 노트 (Release Note)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  소프트웨어 매뉴얼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종류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설치 매뉴얼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소프트웨어를 설치하기 위한 설치 절차, 설치 환경, 패키지 내용 등을 기술한 문서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 매뉴얼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소프트웨어를 사용하는 데 필요한 기능, 사용법, 주의사항 등을 기술한 문서</a:t>
                      </a:r>
                      <a:endParaRPr lang="en-US" sz="14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29260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94360" y="30175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구분 포인트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3429000"/>
            <a:ext cx="7955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설치 매뉴얼: 설치 절차·환경·패키지 내용 중심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사용자 매뉴얼: 기능·사용법·주의사항 중심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패키징 시 사용자 중심으로 작성하며, 다양한 환경(OS, 하드웨어)에서 구동될 수 있도록 해야 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  디지털 저작권 관리 (DRM) 구성 요소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디지털 콘텐츠의 불법 복제를 막고, 합법적인 사용자만 사용하도록 제어하는 기술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950625"/>
              </p:ext>
            </p:extLst>
          </p:nvPr>
        </p:nvGraphicFramePr>
        <p:xfrm>
          <a:off x="457200" y="1143000"/>
          <a:ext cx="8229600" cy="36576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구성 요소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콘텐츠</a:t>
                      </a: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제공자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콘텐츠를 제작하고 권리를 부여하는 주체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콘텐츠</a:t>
                      </a: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분배자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암호화된 콘텐츠를 유통하는 주체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클리어링</a:t>
                      </a: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하우스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저작권 권한 정책, 라이선스 발급, 결제/정산 관리를 수행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DRM 컨트롤러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배포된 콘텐츠의 이용 권한을 통제하는 프로그램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보안 컨테이너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콘텐츠 원본을 안전하게 유통하기 위한 전자적 보안 장치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  DRM 패키징 도구 기술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29260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암호화 (Encryption)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공개키/비밀키 방식을 사용하여 콘텐츠 보호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식별 기술 (Identification)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콘텐츠에 식별 체계 부여 (DOI, URI 등)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크랙 방지 (Anti-Cracking)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리버스 엔지니어링 방지. 코드 난독화, Secure DB 적용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정책 관리 (Policy Management)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라이선스 발급 및 사용 정책 표현 (XrML, MPEG-21 등)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저작권 표현 (Rights Expression)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라이선스의 내용을 표현하는 언어 (XrML, ODRL)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워터마킹 (Watermarking)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콘텐츠에 저작권 정보를 삽입하여 불법 복제 추적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핑거프린팅 (Fingerprinting)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콘텐츠에 구매자 정보를 삽입하여 불법 배포자를 추적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94360" y="3931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워터마킹 vs </a:t>
            </a:r>
            <a:r>
              <a:rPr lang="en-US" sz="1300" b="1" dirty="0" err="1">
                <a:solidFill>
                  <a:srgbClr val="991B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핑거프린팅</a:t>
            </a:r>
            <a:endParaRPr lang="en-US" sz="1300" dirty="0"/>
          </a:p>
        </p:txBody>
      </p:sp>
      <p:sp>
        <p:nvSpPr>
          <p:cNvPr id="4" name="Text 4"/>
          <p:cNvSpPr/>
          <p:nvPr/>
        </p:nvSpPr>
        <p:spPr>
          <a:xfrm>
            <a:off x="594360" y="42976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워터마킹 = 저작권자 정보 삽입 (불법 복제 추적)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핑거프린팅 = 구매자 정보 삽입 (불법 배포자 추적)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  오픈소스 라이선스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169179"/>
              </p:ext>
            </p:extLst>
          </p:nvPr>
        </p:nvGraphicFramePr>
        <p:xfrm>
          <a:off x="457200" y="822960"/>
          <a:ext cx="8229600" cy="3200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라이선스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특징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GPL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가장 강한 제약. 소스 코드 공개 의무. 파생 저작물도 반드시 GPL </a:t>
                      </a:r>
                      <a:r>
                        <a:rPr lang="en-US" sz="1100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적용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(카피레프트)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LGPL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GPL보다 완화. 라이브러리 링크(사용)는 소스 공개 의무 없음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Apache License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소스 코드 수정 후 수정 사항 안내 의무. 소스 공개 의무 없음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MIT License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가장 자유로운 라이선스 중 하나. 저작권 표시만 하면 자유롭게 사용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BSD License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MIT와 유사. 저작권 표시 필수. 재배포 시 소스 공개 의무 없음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94360" y="41605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카피레프트 (Copyleft): 저작물의 자유로운 사용을 보장하되, 파생 저작물에도 같은 조건을 적용하도록 요구 (GPL의 핵심)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  소프트웨어 형상 관리 (SCM) 절차  (암기: 식·통·상·감)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 개발 과정에서 발생하는 모든 변경 사항을 추적하고 통제하는 체계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540332"/>
              </p:ext>
            </p:extLst>
          </p:nvPr>
        </p:nvGraphicFramePr>
        <p:xfrm>
          <a:off x="457200" y="1143000"/>
          <a:ext cx="8229600" cy="36576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절차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형상</a:t>
                      </a: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식별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관리 대상(베이스라인)을 식별하고 고유한 이름과 번호 부여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형상</a:t>
                      </a: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통제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변경 요청에 대한 검토 및 승인. 형상 통제 위원회(CCB) 승인 필요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형상 </a:t>
                      </a:r>
                      <a:r>
                        <a:rPr lang="en-US" sz="12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상태</a:t>
                      </a: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보고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변경 상태의 진행 정도를 기록하고 관련자에게 보고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형상</a:t>
                      </a: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감사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기준선(Baseline)에 맞게 요구사항이 잘 반영되었는지 객관적으로 검증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  버전 관리 주요 용어 + 방식 분류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3017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용어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저장소 (Repository)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소프트웨어 형상 항목이 저장되는 공간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가져오기 (Import)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빈 저장소에 최초로 파일을 복사하는 작업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체크아웃 (Checkout)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저장소에서 로컬로 파일을 받아오는 작업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체크인 / 커밋 (Checkin/Commit)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변경한 파일을 저장소에 반영하면서 변경 이력 기록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업데이트 (Update)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저장소의 최신 내용을 로컬로 갱신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브랜치 (Branch)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 개발 라인(Trunk)에서 분기하여 독립적인 개발 라인 생성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머지 (Merge)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브랜치의 변경 사항을 주 개발 라인에 통합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태그 (Tag)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특정 시점의 버전에 이름표를 붙여 관리 (릴리즈 버전 등)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86200"/>
            <a:ext cx="8229600" cy="116586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94360" y="3931920"/>
            <a:ext cx="7955280" cy="992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버전 관리 </a:t>
            </a:r>
            <a:r>
              <a:rPr lang="en-US" sz="13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방식</a:t>
            </a: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3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분류</a:t>
            </a:r>
            <a:endParaRPr lang="en-US" sz="1300" b="1" dirty="0">
              <a:solidFill>
                <a:srgbClr val="1F4E79"/>
              </a:solidFill>
              <a:latin typeface="NanumGothic" pitchFamily="34" charset="0"/>
              <a:ea typeface="NanumGothic" pitchFamily="34" charset="-122"/>
              <a:cs typeface="NanumGothic" pitchFamily="34" charset="-120"/>
            </a:endParaRPr>
          </a:p>
          <a:p>
            <a:pPr marL="0" indent="0">
              <a:buNone/>
            </a:pPr>
            <a:endParaRPr lang="en-US" sz="1300" b="1" dirty="0">
              <a:solidFill>
                <a:srgbClr val="1F4E79"/>
              </a:solidFill>
              <a:latin typeface="NanumGothic" pitchFamily="34" charset="0"/>
              <a:ea typeface="NanumGothic" pitchFamily="34" charset="-122"/>
              <a:cs typeface="NanumGothic" pitchFamily="34" charset="-120"/>
            </a:endParaRPr>
          </a:p>
          <a:p>
            <a:pPr marL="342900" indent="-342900">
              <a:buAutoNum type="arabicPeriod"/>
            </a:pPr>
            <a:r>
              <a:rPr lang="en-US" sz="13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공유</a:t>
            </a: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3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폴더</a:t>
            </a: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방식</a:t>
            </a: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– </a:t>
            </a:r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로컬 공유 폴더에 버전 관리 </a:t>
            </a: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(SCCS, RCS)</a:t>
            </a:r>
          </a:p>
          <a:p>
            <a:pPr marL="342900" indent="-342900">
              <a:buAutoNum type="arabicPeriod"/>
            </a:pPr>
            <a:r>
              <a:rPr lang="en-US" sz="13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클라이언트</a:t>
            </a: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/</a:t>
            </a:r>
            <a:r>
              <a:rPr lang="en-US" sz="13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서버</a:t>
            </a: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방식</a:t>
            </a: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– </a:t>
            </a:r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중앙 서버에 마스터 저장소 </a:t>
            </a: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(CVS, SVN) </a:t>
            </a:r>
          </a:p>
          <a:p>
            <a:pPr marL="342900" indent="-342900">
              <a:buAutoNum type="arabicPeriod"/>
            </a:pPr>
            <a:r>
              <a:rPr lang="en-US" sz="1300" b="1" dirty="0" err="1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분산</a:t>
            </a: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저장소</a:t>
            </a: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방식</a:t>
            </a: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– </a:t>
            </a:r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로컬</a:t>
            </a:r>
            <a:r>
              <a:rPr lang="en-US" altLang="ko-KR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</a:t>
            </a:r>
            <a:r>
              <a:rPr lang="ko-KR" alt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원격 저장소 모두 보유 </a:t>
            </a:r>
            <a:r>
              <a:rPr lang="en-US" sz="13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(Git)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  Git 주요 명령어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4023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명령어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git clone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원격 저장소를 로컬로 복제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git add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변경 파일을 스테이징 영역에 추가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git commit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스테이징 영역의 변경 사항을 로컬 저장소에 기록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git push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로컬 저장소의 변경 사항을 원격 저장소에 반영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git pull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원격 저장소의 변경 사항을 로컬로 가져와 자동 병합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git fetch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원격 저장소의 변경 사항을 가져오되 병합하지 않음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git branch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브랜치 생성/조회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git merge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브랜치를 현재 브랜치에 병합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git fork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다른 사람의 원격 저장소를 자신의 원격 저장소로 복제 (GitHub 기능)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32902-9FDA-E9B8-18D3-0D288C829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44AE7B-6BE3-C52B-927D-1F7838E0FA89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26270C-0ADF-E0E9-19C8-20D622A95926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  SVN 주요 명령어</a:t>
            </a:r>
            <a:endParaRPr lang="en-US" sz="2200" dirty="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ED59059F-632E-1324-3EC7-DA910B78E9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854944"/>
              </p:ext>
            </p:extLst>
          </p:nvPr>
        </p:nvGraphicFramePr>
        <p:xfrm>
          <a:off x="457200" y="822960"/>
          <a:ext cx="8229600" cy="241401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명령어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latin typeface="NanumGothic" charset="0"/>
                          <a:ea typeface="NanumGothic" charset="0"/>
                          <a:cs typeface="NanumGothic" charset="0"/>
                        </a:rPr>
                        <a:t>svn</a:t>
                      </a:r>
                      <a:r>
                        <a:rPr lang="en-US" sz="13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 checkout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저장소에서 로컬로 소스 받기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latin typeface="NanumGothic" charset="0"/>
                          <a:ea typeface="NanumGothic" charset="0"/>
                          <a:cs typeface="NanumGothic" charset="0"/>
                        </a:rPr>
                        <a:t>svn</a:t>
                      </a:r>
                      <a:r>
                        <a:rPr lang="en-US" sz="13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 commit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변경 사항을 저장소에 반영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latin typeface="NanumGothic" charset="0"/>
                          <a:ea typeface="NanumGothic" charset="0"/>
                          <a:cs typeface="NanumGothic" charset="0"/>
                        </a:rPr>
                        <a:t>svn</a:t>
                      </a:r>
                      <a:r>
                        <a:rPr lang="en-US" sz="13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 update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저장소의 최신 내용으로 갱신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latin typeface="NanumGothic" charset="0"/>
                          <a:ea typeface="NanumGothic" charset="0"/>
                          <a:cs typeface="NanumGothic" charset="0"/>
                        </a:rPr>
                        <a:t>svn</a:t>
                      </a:r>
                      <a:r>
                        <a:rPr lang="en-US" sz="13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 add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새 파일을 버전 관리에 추가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latin typeface="NanumGothic" charset="0"/>
                          <a:ea typeface="NanumGothic" charset="0"/>
                          <a:cs typeface="NanumGothic" charset="0"/>
                        </a:rPr>
                        <a:t>svn</a:t>
                      </a:r>
                      <a:r>
                        <a:rPr lang="en-US" sz="13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 diff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NanumGothic" charset="0"/>
                          <a:ea typeface="NanumGothic" charset="0"/>
                          <a:cs typeface="NanumGothic" charset="0"/>
                        </a:rPr>
                        <a:t>변경 사항 비교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928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  빌드 자동화 도구 + CI/CD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2286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도구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Ant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Java 기반. XML 기반 빌드 스크립트 (build.xml). 규칙이 없어 유연하지만 복잡해질 수 있음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Maven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Java 기반. XML 기반 (pom.xml). 규칙과 라이프사이클 기반으로 표준화된 빌드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Gradle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Java 기반. Groovy/Kotlin DSL 기반 (build.gradle). Ant의 유연함 + Maven의 규칙성 결합. Android 공식 빌드 도구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Jenkins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CI/CD 도구. 빌드, 테스트, 배포를 자동화하는 서버. 다양한 플러그인 지원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4612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94360" y="33375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CI/CD 개념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3703320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CI (Continuous Integration): 개발자가 변경한 코드를 지속적으로 통합하고 빌드·테스트하는 개발 방식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CD (Continuous Delivery/Deployment): CI의 확장으로, 빌드·테스트 후 자동으로 배포까지 수행하는 방식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핵심 암기 포인트 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형상 관리 절차: 식별 → 통제(CCB 승인) → 상태 보고 → 감사 (식·통·상·감)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124712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1247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버전 관리 방식: 공유 폴더(RCS) → 클라이언트/서버(CVS, SVN) → 분산형(Git)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472184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" y="1472184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Git 핵심 명령어: clone(복제), add(스테이징), commit(로컬 기록), push(원격 반영), pull(원격→로컬+병합), fetch(원격→로컬, 병합X)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819656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181965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DRM 클리어링 하우스: 라이선스 발급, 결제/정산 관리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1671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5. 워터마킹=저작권자 정보, 핑거프린팅=구매자 정보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25146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6. 오픈소스 라이선스: GPL(소스 공개 의무, 카피레프트) &gt; LGPL &gt; Apache &gt; MIT/BSD(자유로움)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62072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86207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7. 빌드 도구: Ant(XML/유연), Maven(XML/표준), Gradle(Groovy/Android), Jenkins(CI/CD)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209544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3209544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8. 릴리즈 노트: 소프트웨어 배포 시 변경·수정 사항을 담은 고객 제공 문서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57016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55701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9. 설치 매뉴얼=설치 절차·환경 중심, 사용자 매뉴얼=기능·사용법 중심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904488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" y="390448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10. 형상 통제: CCB(형상 통제 위원회) 승인 필요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" y="4251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11. 브랜치=독립 개발 라인 생성, 머지=주 라인에 통합, 태그=특정 시점 이름표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599432"/>
            <a:ext cx="841248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920" y="459943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12. CI=지속적 통합·빌드·테스트, CD=자동 배포까지 수행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1284</Words>
  <Application>Microsoft Office PowerPoint</Application>
  <PresentationFormat>화면 슬라이드 쇼(16:9)</PresentationFormat>
  <Paragraphs>207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NanumGothic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[12과목] 제품 소프트웨어 패키징</dc:title>
  <dc:subject>정보처리기사 시험 대비 핵심 요약</dc:subject>
  <dc:creator>정보처리기사 핵심 정리</dc:creator>
  <cp:lastModifiedBy>성종 손</cp:lastModifiedBy>
  <cp:revision>16</cp:revision>
  <dcterms:created xsi:type="dcterms:W3CDTF">2026-06-27T20:54:19Z</dcterms:created>
  <dcterms:modified xsi:type="dcterms:W3CDTF">2026-06-27T21:22:43Z</dcterms:modified>
</cp:coreProperties>
</file>