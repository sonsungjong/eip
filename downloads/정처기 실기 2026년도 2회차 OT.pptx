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77" r:id="rId2"/>
    <p:sldId id="271" r:id="rId3"/>
    <p:sldId id="273" r:id="rId4"/>
    <p:sldId id="275" r:id="rId5"/>
    <p:sldId id="274" r:id="rId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" id="{B9B51309-D148-4332-87C2-07BE32FBCA3B}">
          <p14:sldIdLst>
            <p14:sldId id="277"/>
            <p14:sldId id="271"/>
            <p14:sldId id="273"/>
            <p14:sldId id="275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652" autoAdjust="0"/>
  </p:normalViewPr>
  <p:slideViewPr>
    <p:cSldViewPr snapToGrid="0">
      <p:cViewPr varScale="1">
        <p:scale>
          <a:sx n="75" d="100"/>
          <a:sy n="75" d="100"/>
        </p:scale>
        <p:origin x="90" y="2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2026-05-09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2026-05-09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E8ED-6989-5011-23AD-88C996D4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303CB7-4DF3-DEF4-3C2C-E4000C783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69BAD5-D7FD-F60A-A741-F741F8F1F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BA409F-1C01-35D1-0936-6C10A9A67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8210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24DF-A741-B321-35C7-1C2CEAF31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789A41-4FCC-D62B-D74E-BD82D0041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D4AB1F-4782-CA3F-9559-85800C852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146B5-6A69-3C15-7991-312E05995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3127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468C1-5552-BD7F-9A31-62AAF68D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4F45BD-7AE7-DFB0-6ED6-1E47E07E0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5F0A87-95F4-F8D8-41C9-92F3BD35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3A99C-B20F-EA33-0403-DEAB89544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436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8A05DDD-DBD6-4880-90DB-80726A170D63}" type="datetime1">
              <a:rPr lang="ko-KR" altLang="en-US" noProof="0" smtClean="0"/>
              <a:t>2026-05-09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C48B989-0AC6-43D9-95B5-DB76B2CC2531}" type="datetime1">
              <a:rPr lang="ko-KR" altLang="en-US" noProof="0" smtClean="0"/>
              <a:t>2026-05-09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0208B3-9069-7995-6DB0-85C78BE85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087344"/>
              </p:ext>
            </p:extLst>
          </p:nvPr>
        </p:nvGraphicFramePr>
        <p:xfrm>
          <a:off x="1505918" y="2494371"/>
          <a:ext cx="9180164" cy="307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0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7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8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순   번</a:t>
                      </a: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800" dirty="0"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내           용</a:t>
                      </a:r>
                    </a:p>
                  </a:txBody>
                  <a:tcPr marL="0" marR="0" marT="0" marB="0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133">
                <a:tc>
                  <a:txBody>
                    <a:bodyPr/>
                    <a:lstStyle/>
                    <a:p>
                      <a:pPr marL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1</a:t>
                      </a:r>
                      <a:endParaRPr lang="en-US" altLang="ko-KR" sz="1800" b="0" i="0" u="none" strike="noStrike" dirty="0">
                        <a:effectLst/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강사 소개</a:t>
                      </a:r>
                      <a:endParaRPr lang="ko-KR" altLang="en-US" sz="1800" b="0" i="0" u="none" strike="noStrike" dirty="0">
                        <a:effectLst/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marL="0" marR="0" marT="0" marB="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133">
                <a:tc>
                  <a:txBody>
                    <a:bodyPr/>
                    <a:lstStyle/>
                    <a:p>
                      <a:pPr marL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2</a:t>
                      </a:r>
                      <a:endParaRPr lang="en-US" altLang="ko-KR" sz="1800" b="0" i="0" u="none" strike="noStrike" dirty="0">
                        <a:effectLst/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시험 과목</a:t>
                      </a:r>
                      <a:endParaRPr lang="ko-KR" altLang="en-US" sz="1800" b="0" i="0" u="none" strike="noStrike" dirty="0">
                        <a:effectLst/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marL="0" marR="0" marT="0" marB="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133">
                <a:tc>
                  <a:txBody>
                    <a:bodyPr/>
                    <a:lstStyle/>
                    <a:p>
                      <a:pPr marL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3</a:t>
                      </a:r>
                      <a:endParaRPr lang="en-US" altLang="ko-KR" sz="1800" b="0" i="0" u="none" strike="noStrike" dirty="0">
                        <a:effectLst/>
                        <a:latin typeface="Arial Unicode MS" panose="020B0604020202020204" pitchFamily="50" charset="-127"/>
                        <a:ea typeface="Arial Unicode MS" panose="020B0604020202020204" pitchFamily="50" charset="-127"/>
                        <a:cs typeface="Arial Unicode MS" panose="020B0604020202020204" pitchFamily="50" charset="-127"/>
                      </a:endParaRP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i="0" u="none" strike="noStrike" dirty="0"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시험 특징</a:t>
                      </a:r>
                    </a:p>
                  </a:txBody>
                  <a:tcPr marL="0" marR="0" marT="0" marB="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133">
                <a:tc>
                  <a:txBody>
                    <a:bodyPr/>
                    <a:lstStyle/>
                    <a:p>
                      <a:pPr marL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i="0" u="none" strike="noStrike" dirty="0"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4</a:t>
                      </a:r>
                    </a:p>
                  </a:txBody>
                  <a:tcPr marL="0" marR="0" marT="0" marB="0" anchor="ctr" anchorCtr="1"/>
                </a:tc>
                <a:tc>
                  <a:txBody>
                    <a:bodyPr/>
                    <a:lstStyle/>
                    <a:p>
                      <a:pPr marL="0" algn="ctr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i="0" u="none" strike="noStrike" dirty="0">
                          <a:effectLst/>
                          <a:latin typeface="Arial Unicode MS" panose="020B0604020202020204" pitchFamily="50" charset="-127"/>
                          <a:ea typeface="Arial Unicode MS" panose="020B0604020202020204" pitchFamily="50" charset="-127"/>
                          <a:cs typeface="Arial Unicode MS" panose="020B0604020202020204" pitchFamily="50" charset="-127"/>
                        </a:rPr>
                        <a:t>강의 소개</a:t>
                      </a:r>
                    </a:p>
                  </a:txBody>
                  <a:tcPr marL="0" marR="0" marT="0" marB="0" anchor="ctr" anchorCtr="1"/>
                </a:tc>
                <a:extLst>
                  <a:ext uri="{0D108BD9-81ED-4DB2-BD59-A6C34878D82A}">
                    <a16:rowId xmlns:a16="http://schemas.microsoft.com/office/drawing/2014/main" val="1918726799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014A584C-FFE5-D882-1967-D4A65B788381}"/>
              </a:ext>
            </a:extLst>
          </p:cNvPr>
          <p:cNvGrpSpPr/>
          <p:nvPr/>
        </p:nvGrpSpPr>
        <p:grpSpPr>
          <a:xfrm>
            <a:off x="1505918" y="1276583"/>
            <a:ext cx="9180164" cy="1147678"/>
            <a:chOff x="1889460" y="1367507"/>
            <a:chExt cx="7580812" cy="1548172"/>
          </a:xfrm>
          <a:solidFill>
            <a:srgbClr val="002060"/>
          </a:solidFill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927FA64-DBCB-4C01-4B4A-81AA59E56978}"/>
                </a:ext>
              </a:extLst>
            </p:cNvPr>
            <p:cNvSpPr/>
            <p:nvPr/>
          </p:nvSpPr>
          <p:spPr>
            <a:xfrm>
              <a:off x="1889460" y="1367507"/>
              <a:ext cx="7580812" cy="15481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8" name="TextBox 3">
              <a:extLst>
                <a:ext uri="{FF2B5EF4-FFF2-40B4-BE49-F238E27FC236}">
                  <a16:creationId xmlns:a16="http://schemas.microsoft.com/office/drawing/2014/main" id="{807B1A57-65CE-8FCC-202B-BA41C324324F}"/>
                </a:ext>
              </a:extLst>
            </p:cNvPr>
            <p:cNvSpPr txBox="1"/>
            <p:nvPr/>
          </p:nvSpPr>
          <p:spPr>
            <a:xfrm>
              <a:off x="3355606" y="1747173"/>
              <a:ext cx="4765738" cy="788838"/>
            </a:xfrm>
            <a:prstGeom prst="rect">
              <a:avLst/>
            </a:prstGeom>
            <a:grp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1270" h="1270"/>
                <a:bevelB w="1270" h="1270"/>
                <a:extrusionClr>
                  <a:schemeClr val="tx1">
                    <a:lumMod val="75000"/>
                    <a:lumOff val="25000"/>
                  </a:schemeClr>
                </a:extrusionClr>
              </a:sp3d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+mn-ea"/>
                  <a:cs typeface="Arial Unicode MS" panose="020B0604020202020204" pitchFamily="50" charset="-127"/>
                </a:rPr>
                <a:t>2026</a:t>
              </a:r>
              <a:r>
                <a:rPr lang="ko-KR" altLang="en-US" sz="3200" b="1" dirty="0">
                  <a:solidFill>
                    <a:schemeClr val="bg1"/>
                  </a:solidFill>
                  <a:latin typeface="+mn-ea"/>
                  <a:cs typeface="Arial Unicode MS" panose="020B0604020202020204" pitchFamily="50" charset="-127"/>
                </a:rPr>
                <a:t>년 정보처리기사 </a:t>
              </a:r>
              <a:r>
                <a:rPr lang="en-US" altLang="ko-KR" sz="3200" b="1" dirty="0">
                  <a:solidFill>
                    <a:schemeClr val="bg1"/>
                  </a:solidFill>
                  <a:latin typeface="+mn-ea"/>
                  <a:cs typeface="Arial Unicode MS" panose="020B0604020202020204" pitchFamily="50" charset="-127"/>
                </a:rPr>
                <a:t>(</a:t>
              </a:r>
              <a:r>
                <a:rPr lang="ko-KR" altLang="en-US" sz="3200" b="1">
                  <a:solidFill>
                    <a:schemeClr val="bg1"/>
                  </a:solidFill>
                  <a:latin typeface="+mn-ea"/>
                  <a:cs typeface="Arial Unicode MS" panose="020B0604020202020204" pitchFamily="50" charset="-127"/>
                </a:rPr>
                <a:t>실기</a:t>
              </a:r>
              <a:r>
                <a:rPr lang="en-US" altLang="ko-KR" sz="3200" b="1" smtClean="0">
                  <a:solidFill>
                    <a:schemeClr val="bg1"/>
                  </a:solidFill>
                  <a:latin typeface="+mn-ea"/>
                  <a:cs typeface="Arial Unicode MS" panose="020B0604020202020204" pitchFamily="50" charset="-127"/>
                </a:rPr>
                <a:t>)</a:t>
              </a:r>
              <a:endParaRPr lang="ko-KR" altLang="en-US" sz="3200" b="1" dirty="0">
                <a:solidFill>
                  <a:schemeClr val="bg1"/>
                </a:solidFill>
                <a:latin typeface="+mn-ea"/>
                <a:cs typeface="Arial Unicode MS" panose="020B06040202020202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1347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2026 </a:t>
            </a:r>
            <a:r>
              <a:rPr lang="ko-KR" altLang="en-US" dirty="0">
                <a:cs typeface="Segoe UI Light" panose="020B0502040204020203" pitchFamily="34" charset="0"/>
              </a:rPr>
              <a:t>정보처리기사 </a:t>
            </a:r>
            <a:r>
              <a:rPr lang="en-US" altLang="ko-KR" dirty="0">
                <a:cs typeface="Segoe UI Light" panose="020B0502040204020203" pitchFamily="34" charset="0"/>
              </a:rPr>
              <a:t>(</a:t>
            </a:r>
            <a:r>
              <a:rPr lang="ko-KR" altLang="en-US" dirty="0">
                <a:cs typeface="Segoe UI Light" panose="020B0502040204020203" pitchFamily="34" charset="0"/>
              </a:rPr>
              <a:t>실기</a:t>
            </a:r>
            <a:r>
              <a:rPr lang="en-US" altLang="ko-KR" dirty="0">
                <a:cs typeface="Segoe UI Light" panose="020B0502040204020203" pitchFamily="34" charset="0"/>
              </a:rPr>
              <a:t>)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38" name="내용 개체 틀 17"/>
          <p:cNvSpPr txBox="1">
            <a:spLocks/>
          </p:cNvSpPr>
          <p:nvPr/>
        </p:nvSpPr>
        <p:spPr>
          <a:xfrm>
            <a:off x="521207" y="1390237"/>
            <a:ext cx="4217767" cy="5127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강사 소개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0058CD-FFA5-2563-C023-225DF2B9D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79" y="1860003"/>
            <a:ext cx="3345221" cy="4460294"/>
          </a:xfrm>
          <a:prstGeom prst="rect">
            <a:avLst/>
          </a:prstGeom>
        </p:spPr>
      </p:pic>
      <p:sp>
        <p:nvSpPr>
          <p:cNvPr id="7" name="내용 개체 틀 17">
            <a:extLst>
              <a:ext uri="{FF2B5EF4-FFF2-40B4-BE49-F238E27FC236}">
                <a16:creationId xmlns:a16="http://schemas.microsoft.com/office/drawing/2014/main" id="{7E7F0436-88DC-DEAD-07C3-1D4070F7FA24}"/>
              </a:ext>
            </a:extLst>
          </p:cNvPr>
          <p:cNvSpPr txBox="1">
            <a:spLocks/>
          </p:cNvSpPr>
          <p:nvPr/>
        </p:nvSpPr>
        <p:spPr>
          <a:xfrm>
            <a:off x="4589013" y="1860003"/>
            <a:ext cx="6450462" cy="45499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국방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SI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기업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7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년차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개발자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정보처리기사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NCS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출제 기준의 파트들을 매년 실제로 경험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/>
            </a:r>
            <a:b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요구사항 확인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화면 설계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구축 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2023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회차 합격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D3AA1-A0B7-449C-785D-FF3F7EBC3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A7AA833-B3B2-C375-F2D0-CD3460EA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2026 </a:t>
            </a:r>
            <a:r>
              <a:rPr lang="ko-KR" altLang="en-US" dirty="0">
                <a:cs typeface="Segoe UI Light" panose="020B0502040204020203" pitchFamily="34" charset="0"/>
              </a:rPr>
              <a:t>정보처리기사 </a:t>
            </a:r>
            <a:r>
              <a:rPr lang="en-US" altLang="ko-KR" dirty="0">
                <a:cs typeface="Segoe UI Light" panose="020B0502040204020203" pitchFamily="34" charset="0"/>
              </a:rPr>
              <a:t>(</a:t>
            </a:r>
            <a:r>
              <a:rPr lang="ko-KR" altLang="en-US" dirty="0">
                <a:cs typeface="Segoe UI Light" panose="020B0502040204020203" pitchFamily="34" charset="0"/>
              </a:rPr>
              <a:t>실기</a:t>
            </a:r>
            <a:r>
              <a:rPr lang="en-US" altLang="ko-KR" dirty="0">
                <a:cs typeface="Segoe UI Light" panose="020B0502040204020203" pitchFamily="34" charset="0"/>
              </a:rPr>
              <a:t>)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38" name="내용 개체 틀 17">
            <a:extLst>
              <a:ext uri="{FF2B5EF4-FFF2-40B4-BE49-F238E27FC236}">
                <a16:creationId xmlns:a16="http://schemas.microsoft.com/office/drawing/2014/main" id="{59584EB4-305E-2A33-8527-F6B3E289128C}"/>
              </a:ext>
            </a:extLst>
          </p:cNvPr>
          <p:cNvSpPr txBox="1">
            <a:spLocks/>
          </p:cNvSpPr>
          <p:nvPr/>
        </p:nvSpPr>
        <p:spPr>
          <a:xfrm>
            <a:off x="521207" y="1390237"/>
            <a:ext cx="4217767" cy="5127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시험 과목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259B88B-F699-46A5-6D37-E46C3CF2276E}"/>
              </a:ext>
            </a:extLst>
          </p:cNvPr>
          <p:cNvGrpSpPr/>
          <p:nvPr/>
        </p:nvGrpSpPr>
        <p:grpSpPr>
          <a:xfrm>
            <a:off x="987373" y="1829731"/>
            <a:ext cx="4561947" cy="544661"/>
            <a:chOff x="6410853" y="1705719"/>
            <a:chExt cx="4561947" cy="54466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0D7F7B3-DA0A-30D0-239F-B29B7E6E20A2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1DB5448-BCC7-27FE-1E57-E7D9E83123B2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3B8C03-B29E-AAC0-DA01-A4291CC8030F}"/>
              </a:ext>
            </a:extLst>
          </p:cNvPr>
          <p:cNvSpPr/>
          <p:nvPr/>
        </p:nvSpPr>
        <p:spPr>
          <a:xfrm>
            <a:off x="1948694" y="1939465"/>
            <a:ext cx="1519647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요구사항 확인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99ADE-991A-DEFB-94C9-3A7C53938CDA}"/>
              </a:ext>
            </a:extLst>
          </p:cNvPr>
          <p:cNvSpPr txBox="1"/>
          <p:nvPr/>
        </p:nvSpPr>
        <p:spPr>
          <a:xfrm>
            <a:off x="1172053" y="196880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7B23661-B78B-456C-70CF-52178F435677}"/>
              </a:ext>
            </a:extLst>
          </p:cNvPr>
          <p:cNvGrpSpPr/>
          <p:nvPr/>
        </p:nvGrpSpPr>
        <p:grpSpPr>
          <a:xfrm>
            <a:off x="993469" y="2636841"/>
            <a:ext cx="4561947" cy="544661"/>
            <a:chOff x="6410853" y="1705719"/>
            <a:chExt cx="4561947" cy="544661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C5589DC-FC2B-EE04-3133-2C3071AD4534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E1703C2-6574-3E65-CA38-B236DB0F6AA0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278AF5-8FE4-2C34-C2CC-9D37F8D37CFA}"/>
              </a:ext>
            </a:extLst>
          </p:cNvPr>
          <p:cNvSpPr/>
          <p:nvPr/>
        </p:nvSpPr>
        <p:spPr>
          <a:xfrm>
            <a:off x="1954790" y="2746575"/>
            <a:ext cx="2064668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데이터 입출력 구현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523813-4663-7D51-D4BA-BCA012527AD4}"/>
              </a:ext>
            </a:extLst>
          </p:cNvPr>
          <p:cNvSpPr txBox="1"/>
          <p:nvPr/>
        </p:nvSpPr>
        <p:spPr>
          <a:xfrm>
            <a:off x="1178149" y="277591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D0085A8-3BA2-418E-F221-B1FB5480EB83}"/>
              </a:ext>
            </a:extLst>
          </p:cNvPr>
          <p:cNvGrpSpPr/>
          <p:nvPr/>
        </p:nvGrpSpPr>
        <p:grpSpPr>
          <a:xfrm>
            <a:off x="987373" y="3443951"/>
            <a:ext cx="4561947" cy="544661"/>
            <a:chOff x="6410853" y="1705719"/>
            <a:chExt cx="4561947" cy="544661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79231FA-5776-5487-8A98-F1C60A86B426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05D76C1-A3F8-EB24-033A-EB301799A925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3A90130-E063-7AAD-4108-3B5744E4C73A}"/>
              </a:ext>
            </a:extLst>
          </p:cNvPr>
          <p:cNvSpPr/>
          <p:nvPr/>
        </p:nvSpPr>
        <p:spPr>
          <a:xfrm>
            <a:off x="1948694" y="3553685"/>
            <a:ext cx="1032334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통합 구현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32262A-EB0A-10B9-67BC-BED9999C4466}"/>
              </a:ext>
            </a:extLst>
          </p:cNvPr>
          <p:cNvSpPr txBox="1"/>
          <p:nvPr/>
        </p:nvSpPr>
        <p:spPr>
          <a:xfrm>
            <a:off x="1172053" y="358302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BACE8A4-01CC-8533-7085-BCD822BAC117}"/>
              </a:ext>
            </a:extLst>
          </p:cNvPr>
          <p:cNvGrpSpPr/>
          <p:nvPr/>
        </p:nvGrpSpPr>
        <p:grpSpPr>
          <a:xfrm>
            <a:off x="987373" y="4251061"/>
            <a:ext cx="4561947" cy="544661"/>
            <a:chOff x="6410853" y="1705719"/>
            <a:chExt cx="4561947" cy="544661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B8A4FD3-25EE-4855-582F-42862BEC0534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0C26B8C-5768-A7E0-AE79-CC9AF0C4FF77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A31B14-E3BE-6165-047E-A9EB6B1340A5}"/>
              </a:ext>
            </a:extLst>
          </p:cNvPr>
          <p:cNvSpPr/>
          <p:nvPr/>
        </p:nvSpPr>
        <p:spPr>
          <a:xfrm>
            <a:off x="1948694" y="4360795"/>
            <a:ext cx="2064668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서버 프로그램 구현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01EA7E-6FFB-6790-5309-8A09FEAA00C2}"/>
              </a:ext>
            </a:extLst>
          </p:cNvPr>
          <p:cNvSpPr txBox="1"/>
          <p:nvPr/>
        </p:nvSpPr>
        <p:spPr>
          <a:xfrm>
            <a:off x="1172053" y="439013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53989D0-7510-25B0-6ACC-7FE65AC75446}"/>
              </a:ext>
            </a:extLst>
          </p:cNvPr>
          <p:cNvGrpSpPr/>
          <p:nvPr/>
        </p:nvGrpSpPr>
        <p:grpSpPr>
          <a:xfrm>
            <a:off x="987373" y="5058171"/>
            <a:ext cx="4561947" cy="544661"/>
            <a:chOff x="6410853" y="1705719"/>
            <a:chExt cx="4561947" cy="544661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177C620-E0A5-C1DB-3271-51CAFB5193A5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CC0C23B-6518-3D66-646F-FB0A7A0C2BA5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BAB6C1B-BD5F-BB9C-3EC6-FDEA9EDEC41E}"/>
              </a:ext>
            </a:extLst>
          </p:cNvPr>
          <p:cNvSpPr/>
          <p:nvPr/>
        </p:nvSpPr>
        <p:spPr>
          <a:xfrm>
            <a:off x="1948694" y="5167905"/>
            <a:ext cx="1763303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인터페이스 구현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7AE528-8822-4240-BC9C-ABD6257FCCD9}"/>
              </a:ext>
            </a:extLst>
          </p:cNvPr>
          <p:cNvSpPr txBox="1"/>
          <p:nvPr/>
        </p:nvSpPr>
        <p:spPr>
          <a:xfrm>
            <a:off x="1172053" y="519724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5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5CCD6D6-369D-308A-C90F-27D22E7C2999}"/>
              </a:ext>
            </a:extLst>
          </p:cNvPr>
          <p:cNvGrpSpPr/>
          <p:nvPr/>
        </p:nvGrpSpPr>
        <p:grpSpPr>
          <a:xfrm>
            <a:off x="987373" y="5865283"/>
            <a:ext cx="4561947" cy="544661"/>
            <a:chOff x="6410853" y="1705719"/>
            <a:chExt cx="4561947" cy="54466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E62F01C-93CC-A09A-0321-34672981B703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777B861E-770E-74BF-155C-B49EA018D26E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A9F636F-1124-86CF-7EAC-38AF98EAF6BD}"/>
              </a:ext>
            </a:extLst>
          </p:cNvPr>
          <p:cNvSpPr/>
          <p:nvPr/>
        </p:nvSpPr>
        <p:spPr>
          <a:xfrm>
            <a:off x="1948694" y="5975017"/>
            <a:ext cx="1032334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화면 설계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9591C5-73F1-D82D-5BC8-0AB853C57867}"/>
              </a:ext>
            </a:extLst>
          </p:cNvPr>
          <p:cNvSpPr txBox="1"/>
          <p:nvPr/>
        </p:nvSpPr>
        <p:spPr>
          <a:xfrm>
            <a:off x="1172053" y="6004361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6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CC0733B-6AC7-3018-E655-1E2C65354648}"/>
              </a:ext>
            </a:extLst>
          </p:cNvPr>
          <p:cNvGrpSpPr/>
          <p:nvPr/>
        </p:nvGrpSpPr>
        <p:grpSpPr>
          <a:xfrm>
            <a:off x="6473774" y="1829731"/>
            <a:ext cx="4561947" cy="544661"/>
            <a:chOff x="6410853" y="1705719"/>
            <a:chExt cx="4561947" cy="544661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18102B0-E96C-B168-0AD5-A5C4BFB55CEF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6ECEDE7-AD3F-C1F8-F940-93E6256C5740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D59F2A3-2239-DFAE-EA2E-D4D52FF11E45}"/>
              </a:ext>
            </a:extLst>
          </p:cNvPr>
          <p:cNvSpPr/>
          <p:nvPr/>
        </p:nvSpPr>
        <p:spPr>
          <a:xfrm>
            <a:off x="7435095" y="1939465"/>
            <a:ext cx="2795637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애플리케이션 테스트 관리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91C882-865E-DDE9-CCA0-6A555430F8BA}"/>
              </a:ext>
            </a:extLst>
          </p:cNvPr>
          <p:cNvSpPr txBox="1"/>
          <p:nvPr/>
        </p:nvSpPr>
        <p:spPr>
          <a:xfrm>
            <a:off x="6658454" y="196880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7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FF66F8F-7EAF-297E-AFBC-B1D3785A4549}"/>
              </a:ext>
            </a:extLst>
          </p:cNvPr>
          <p:cNvGrpSpPr/>
          <p:nvPr/>
        </p:nvGrpSpPr>
        <p:grpSpPr>
          <a:xfrm>
            <a:off x="6479870" y="2636841"/>
            <a:ext cx="4561947" cy="544661"/>
            <a:chOff x="6410853" y="1705719"/>
            <a:chExt cx="4561947" cy="544661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1F2FE42-15C2-62DC-3792-5809F9CEB4D2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803BAD7-B494-1B8F-058A-E533A1278DA0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72D3CB6-2907-D872-FDB5-9856671F50C5}"/>
              </a:ext>
            </a:extLst>
          </p:cNvPr>
          <p:cNvSpPr/>
          <p:nvPr/>
        </p:nvSpPr>
        <p:spPr>
          <a:xfrm>
            <a:off x="7441191" y="2746575"/>
            <a:ext cx="1010020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en-US" altLang="ko-KR" sz="2000" spc="-100" dirty="0">
                <a:solidFill>
                  <a:srgbClr val="FF0000"/>
                </a:solidFill>
                <a:latin typeface="+mn-ea"/>
              </a:rPr>
              <a:t>SQL </a:t>
            </a:r>
            <a:r>
              <a:rPr lang="ko-KR" altLang="en-US" sz="2000" spc="-100" dirty="0">
                <a:solidFill>
                  <a:srgbClr val="FF0000"/>
                </a:solidFill>
                <a:latin typeface="+mn-ea"/>
              </a:rPr>
              <a:t>응용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F9E02E-37AB-0B34-B60E-86E334E74C51}"/>
              </a:ext>
            </a:extLst>
          </p:cNvPr>
          <p:cNvSpPr txBox="1"/>
          <p:nvPr/>
        </p:nvSpPr>
        <p:spPr>
          <a:xfrm>
            <a:off x="6664550" y="277591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8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54C6C85-6401-096F-8D0F-61BC74DB3AEB}"/>
              </a:ext>
            </a:extLst>
          </p:cNvPr>
          <p:cNvGrpSpPr/>
          <p:nvPr/>
        </p:nvGrpSpPr>
        <p:grpSpPr>
          <a:xfrm>
            <a:off x="6473774" y="3443951"/>
            <a:ext cx="4561947" cy="544661"/>
            <a:chOff x="6410853" y="1705719"/>
            <a:chExt cx="4561947" cy="544661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FA667A7-AC74-D3D9-3869-30F923C7392A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B2BD66DD-07F0-CC09-F00F-91014501F0A6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F372D75-BDA4-C093-527F-CDDFC4103E78}"/>
              </a:ext>
            </a:extLst>
          </p:cNvPr>
          <p:cNvSpPr/>
          <p:nvPr/>
        </p:nvSpPr>
        <p:spPr>
          <a:xfrm>
            <a:off x="7435095" y="3553685"/>
            <a:ext cx="2853345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소프트웨어 개발 보안 구축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A94DF6-8E5D-254C-823B-B618009023D3}"/>
              </a:ext>
            </a:extLst>
          </p:cNvPr>
          <p:cNvSpPr txBox="1"/>
          <p:nvPr/>
        </p:nvSpPr>
        <p:spPr>
          <a:xfrm>
            <a:off x="6658454" y="358302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9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E7E13DA-69ED-88DA-8851-4EAF75FDA5B3}"/>
              </a:ext>
            </a:extLst>
          </p:cNvPr>
          <p:cNvGrpSpPr/>
          <p:nvPr/>
        </p:nvGrpSpPr>
        <p:grpSpPr>
          <a:xfrm>
            <a:off x="6473774" y="4251061"/>
            <a:ext cx="4561947" cy="544661"/>
            <a:chOff x="6410853" y="1705719"/>
            <a:chExt cx="4561947" cy="544661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94E3CE20-5944-1F08-7B87-AE78A6B66F15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1C6A0136-F765-EE07-E7FC-FC2CA7702443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D857812-58FA-3380-086D-44577A14A92A}"/>
              </a:ext>
            </a:extLst>
          </p:cNvPr>
          <p:cNvSpPr/>
          <p:nvPr/>
        </p:nvSpPr>
        <p:spPr>
          <a:xfrm>
            <a:off x="7435095" y="4360795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FF0000"/>
                </a:solidFill>
                <a:latin typeface="+mn-ea"/>
              </a:rPr>
              <a:t>프로그래밍 언어 활용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980710-A59E-F4BB-F75D-6EB1C8238D28}"/>
              </a:ext>
            </a:extLst>
          </p:cNvPr>
          <p:cNvSpPr txBox="1"/>
          <p:nvPr/>
        </p:nvSpPr>
        <p:spPr>
          <a:xfrm>
            <a:off x="6658454" y="439013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10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4BA0943-606F-9703-9FDD-21C5637B9452}"/>
              </a:ext>
            </a:extLst>
          </p:cNvPr>
          <p:cNvGrpSpPr/>
          <p:nvPr/>
        </p:nvGrpSpPr>
        <p:grpSpPr>
          <a:xfrm>
            <a:off x="6473774" y="5058171"/>
            <a:ext cx="4561947" cy="544661"/>
            <a:chOff x="6410853" y="1705719"/>
            <a:chExt cx="4561947" cy="544661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8A6EDD4-B729-3349-3D82-54861728FCC4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FF3C2D9C-4A18-3B6A-7707-3FA71A880BBA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381C79B-E313-4AA9-EA6B-75396A254A2D}"/>
              </a:ext>
            </a:extLst>
          </p:cNvPr>
          <p:cNvSpPr/>
          <p:nvPr/>
        </p:nvSpPr>
        <p:spPr>
          <a:xfrm>
            <a:off x="7435095" y="5167905"/>
            <a:ext cx="2568011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응용 </a:t>
            </a:r>
            <a:r>
              <a:rPr lang="en-US" altLang="ko-KR" sz="2000" spc="-100" dirty="0">
                <a:solidFill>
                  <a:srgbClr val="2A3D85"/>
                </a:solidFill>
                <a:latin typeface="+mn-ea"/>
              </a:rPr>
              <a:t>SW </a:t>
            </a: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기초 기술 활용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D7BAE3-1305-1E56-3F33-3BCB20045276}"/>
              </a:ext>
            </a:extLst>
          </p:cNvPr>
          <p:cNvSpPr txBox="1"/>
          <p:nvPr/>
        </p:nvSpPr>
        <p:spPr>
          <a:xfrm>
            <a:off x="6658454" y="5197249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11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8F20689-2ED8-9491-0E9A-177EDBAD3C2D}"/>
              </a:ext>
            </a:extLst>
          </p:cNvPr>
          <p:cNvGrpSpPr/>
          <p:nvPr/>
        </p:nvGrpSpPr>
        <p:grpSpPr>
          <a:xfrm>
            <a:off x="6473774" y="5865283"/>
            <a:ext cx="4561947" cy="544661"/>
            <a:chOff x="6410853" y="1705719"/>
            <a:chExt cx="4561947" cy="544661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3E787F6-9F0A-19DA-CE54-D6544464C77D}"/>
                </a:ext>
              </a:extLst>
            </p:cNvPr>
            <p:cNvSpPr/>
            <p:nvPr userDrawn="1"/>
          </p:nvSpPr>
          <p:spPr>
            <a:xfrm>
              <a:off x="6410853" y="1705719"/>
              <a:ext cx="4561947" cy="5446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D12B23B-023C-1810-6C45-17333B6D11AC}"/>
                </a:ext>
              </a:extLst>
            </p:cNvPr>
            <p:cNvSpPr/>
            <p:nvPr/>
          </p:nvSpPr>
          <p:spPr>
            <a:xfrm>
              <a:off x="6410853" y="1705719"/>
              <a:ext cx="778403" cy="544661"/>
            </a:xfrm>
            <a:prstGeom prst="rect">
              <a:avLst/>
            </a:prstGeom>
            <a:gradFill>
              <a:gsLst>
                <a:gs pos="100000">
                  <a:srgbClr val="3B3D83"/>
                </a:gs>
                <a:gs pos="0">
                  <a:srgbClr val="2D55A6"/>
                </a:gs>
              </a:gsLst>
              <a:lin ang="2700000" scaled="0"/>
            </a:gra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273F32B-B91D-6CD4-8C55-8198007E443F}"/>
              </a:ext>
            </a:extLst>
          </p:cNvPr>
          <p:cNvSpPr/>
          <p:nvPr/>
        </p:nvSpPr>
        <p:spPr>
          <a:xfrm>
            <a:off x="7435095" y="5975017"/>
            <a:ext cx="2551981" cy="30777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lvl="0" defTabSz="875445" fontAlgn="base">
              <a:spcBef>
                <a:spcPts val="784"/>
              </a:spcBef>
              <a:spcAft>
                <a:spcPct val="0"/>
              </a:spcAft>
              <a:buClr>
                <a:sysClr val="windowText" lastClr="000000">
                  <a:lumMod val="75000"/>
                  <a:lumOff val="25000"/>
                </a:sysClr>
              </a:buClr>
              <a:buSzPct val="80000"/>
              <a:tabLst>
                <a:tab pos="5532556" algn="l"/>
              </a:tabLst>
              <a:defRPr/>
            </a:pPr>
            <a:r>
              <a:rPr lang="ko-KR" altLang="en-US" sz="2000" spc="-100" dirty="0">
                <a:solidFill>
                  <a:srgbClr val="2A3D85"/>
                </a:solidFill>
                <a:latin typeface="+mn-ea"/>
              </a:rPr>
              <a:t>제품 소프트웨어 패키징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C42D8F-4B1E-AA1F-7D43-77FCFBA6D1FE}"/>
              </a:ext>
            </a:extLst>
          </p:cNvPr>
          <p:cNvSpPr txBox="1"/>
          <p:nvPr/>
        </p:nvSpPr>
        <p:spPr>
          <a:xfrm>
            <a:off x="6658454" y="6004361"/>
            <a:ext cx="409043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2000" b="1" spc="-100" dirty="0">
                <a:solidFill>
                  <a:schemeClr val="bg1"/>
                </a:solidFill>
                <a:latin typeface="+mn-ea"/>
              </a:rPr>
              <a:t>12</a:t>
            </a:r>
            <a:endParaRPr lang="ko-KR" altLang="en-US" sz="2000" b="1" spc="-1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295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C75E5-120B-1931-3BCB-728665AC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FDCC730-26B9-081A-B7C5-34E440A9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2026 </a:t>
            </a:r>
            <a:r>
              <a:rPr lang="ko-KR" altLang="en-US" dirty="0">
                <a:cs typeface="Segoe UI Light" panose="020B0502040204020203" pitchFamily="34" charset="0"/>
              </a:rPr>
              <a:t>정보처리기사 </a:t>
            </a:r>
            <a:r>
              <a:rPr lang="en-US" altLang="ko-KR" dirty="0">
                <a:cs typeface="Segoe UI Light" panose="020B0502040204020203" pitchFamily="34" charset="0"/>
              </a:rPr>
              <a:t>(</a:t>
            </a:r>
            <a:r>
              <a:rPr lang="ko-KR" altLang="en-US" dirty="0">
                <a:cs typeface="Segoe UI Light" panose="020B0502040204020203" pitchFamily="34" charset="0"/>
              </a:rPr>
              <a:t>실기</a:t>
            </a:r>
            <a:r>
              <a:rPr lang="en-US" altLang="ko-KR" dirty="0">
                <a:cs typeface="Segoe UI Light" panose="020B0502040204020203" pitchFamily="34" charset="0"/>
              </a:rPr>
              <a:t>)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38" name="내용 개체 틀 17">
            <a:extLst>
              <a:ext uri="{FF2B5EF4-FFF2-40B4-BE49-F238E27FC236}">
                <a16:creationId xmlns:a16="http://schemas.microsoft.com/office/drawing/2014/main" id="{191CF005-A59F-F62B-B34A-F8557934B013}"/>
              </a:ext>
            </a:extLst>
          </p:cNvPr>
          <p:cNvSpPr txBox="1">
            <a:spLocks/>
          </p:cNvSpPr>
          <p:nvPr/>
        </p:nvSpPr>
        <p:spPr>
          <a:xfrm>
            <a:off x="521207" y="1390237"/>
            <a:ext cx="4217767" cy="5127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시험 특징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" name="내용 개체 틀 17">
            <a:extLst>
              <a:ext uri="{FF2B5EF4-FFF2-40B4-BE49-F238E27FC236}">
                <a16:creationId xmlns:a16="http://schemas.microsoft.com/office/drawing/2014/main" id="{23C2181D-4200-0B20-DAFB-E7DD433836D0}"/>
              </a:ext>
            </a:extLst>
          </p:cNvPr>
          <p:cNvSpPr txBox="1">
            <a:spLocks/>
          </p:cNvSpPr>
          <p:nvPr/>
        </p:nvSpPr>
        <p:spPr>
          <a:xfrm>
            <a:off x="685415" y="1808630"/>
            <a:ext cx="7284209" cy="46013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필기 합격 서류 제출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05.11(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월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 ~ 06.19(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금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 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졸업증명서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경력증명서 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원서 접수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06.22 (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월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 ~ 06.25 (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목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시험일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07.18 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토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 ~ 08.05 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수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中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일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잠정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7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월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19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일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합격자발표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09.11 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금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합격 조건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과락없이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60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점 이상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(12/20)</a:t>
            </a: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종이 시험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150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분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/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검정 볼펜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+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신분증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+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수험표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/ 20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문제 중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60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점 이상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2025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년 실기 평균 합격률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약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22%</a:t>
            </a: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  <a:buFontTx/>
              <a:buChar char="-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Tip : 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프로그래밍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(C, Java, Python)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+ SQL    90%</a:t>
            </a:r>
            <a:r>
              <a:rPr lang="ko-KR" alt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정답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(7 /8~11)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/>
            </a:r>
            <a:b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                                +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암기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5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문제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이상 정답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(5 /9~12)</a:t>
            </a:r>
            <a:b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    </a:t>
            </a:r>
            <a:b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      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sym typeface="Wingdings" panose="05000000000000000000" pitchFamily="2" charset="2"/>
              </a:rPr>
              <a:t>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sym typeface="Wingdings" panose="05000000000000000000" pitchFamily="2" charset="2"/>
              </a:rPr>
              <a:t>합격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sym typeface="Wingdings" panose="05000000000000000000" pitchFamily="2" charset="2"/>
              </a:rPr>
              <a:t/>
            </a:r>
            <a:b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sym typeface="Wingdings" panose="05000000000000000000" pitchFamily="2" charset="2"/>
              </a:rPr>
            </a:b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18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EA365-92F9-4512-36CF-A1688B36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CBC5B34-AA67-AEBD-8A53-ED55576BC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2026 </a:t>
            </a:r>
            <a:r>
              <a:rPr lang="ko-KR" altLang="en-US" dirty="0">
                <a:cs typeface="Segoe UI Light" panose="020B0502040204020203" pitchFamily="34" charset="0"/>
              </a:rPr>
              <a:t>정보처리기사 </a:t>
            </a:r>
            <a:r>
              <a:rPr lang="en-US" altLang="ko-KR" dirty="0">
                <a:cs typeface="Segoe UI Light" panose="020B0502040204020203" pitchFamily="34" charset="0"/>
              </a:rPr>
              <a:t>(</a:t>
            </a:r>
            <a:r>
              <a:rPr lang="ko-KR" altLang="en-US" dirty="0">
                <a:cs typeface="Segoe UI Light" panose="020B0502040204020203" pitchFamily="34" charset="0"/>
              </a:rPr>
              <a:t>실기</a:t>
            </a:r>
            <a:r>
              <a:rPr lang="en-US" altLang="ko-KR" dirty="0">
                <a:cs typeface="Segoe UI Light" panose="020B0502040204020203" pitchFamily="34" charset="0"/>
              </a:rPr>
              <a:t>)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38" name="내용 개체 틀 17">
            <a:extLst>
              <a:ext uri="{FF2B5EF4-FFF2-40B4-BE49-F238E27FC236}">
                <a16:creationId xmlns:a16="http://schemas.microsoft.com/office/drawing/2014/main" id="{BBAD56A5-C6B0-E46B-5F8B-4C2B3BCD5082}"/>
              </a:ext>
            </a:extLst>
          </p:cNvPr>
          <p:cNvSpPr txBox="1">
            <a:spLocks/>
          </p:cNvSpPr>
          <p:nvPr/>
        </p:nvSpPr>
        <p:spPr>
          <a:xfrm>
            <a:off x="521207" y="1390237"/>
            <a:ext cx="4217767" cy="5127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>
              <a:spcAft>
                <a:spcPts val="60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강의 소개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lnSpc>
                <a:spcPct val="100000"/>
              </a:lnSpc>
              <a:spcAft>
                <a:spcPts val="600"/>
              </a:spcAft>
              <a:buFontTx/>
              <a:buChar char="-"/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358" name="내용 개체 틀 17">
            <a:extLst>
              <a:ext uri="{FF2B5EF4-FFF2-40B4-BE49-F238E27FC236}">
                <a16:creationId xmlns:a16="http://schemas.microsoft.com/office/drawing/2014/main" id="{0AEB2CE2-C020-0C8D-DBE5-11356F845AAA}"/>
              </a:ext>
            </a:extLst>
          </p:cNvPr>
          <p:cNvSpPr txBox="1">
            <a:spLocks/>
          </p:cNvSpPr>
          <p:nvPr/>
        </p:nvSpPr>
        <p:spPr>
          <a:xfrm>
            <a:off x="750522" y="2050758"/>
            <a:ext cx="10690955" cy="32407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개월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프로그래밍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+ SQL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집중 학습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(8~11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문제 출제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2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개월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SW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개발과정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+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프로그래밍 문제풀이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이론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9~12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문제 출제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범위 넓음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강의시간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09:00 ~ 13:00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lvl="0" rtl="0">
              <a:spcAft>
                <a:spcPts val="600"/>
              </a:spcAft>
              <a:buFontTx/>
              <a:buChar char="-"/>
              <a:defRPr/>
            </a:pPr>
            <a:r>
              <a:rPr lang="ko-KR" altLang="en-US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강의자료 </a:t>
            </a:r>
            <a:r>
              <a:rPr lang="en-US" altLang="ko-KR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en-US" altLang="ko-KR" sz="20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eipkorea.vercel.app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25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{AE5947F5-05A4-44EC-B5D4-0142AED913E1}TF2989475c-5427-4edb-9ec1-00f4ce72165be756b0ce_win32-2ff1dad8fff0</Template>
  <TotalTime>95</TotalTime>
  <Words>303</Words>
  <Application>Microsoft Office PowerPoint</Application>
  <PresentationFormat>와이드스크린</PresentationFormat>
  <Paragraphs>66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Arial Unicode MS</vt:lpstr>
      <vt:lpstr>맑은 고딕</vt:lpstr>
      <vt:lpstr>Arial</vt:lpstr>
      <vt:lpstr>Segoe UI</vt:lpstr>
      <vt:lpstr>Segoe UI Light</vt:lpstr>
      <vt:lpstr>Wingdings</vt:lpstr>
      <vt:lpstr>WelcomeDoc</vt:lpstr>
      <vt:lpstr>PowerPoint 프레젠테이션</vt:lpstr>
      <vt:lpstr>2026 정보처리기사 (실기)</vt:lpstr>
      <vt:lpstr>2026 정보처리기사 (실기)</vt:lpstr>
      <vt:lpstr>2026 정보처리기사 (실기)</vt:lpstr>
      <vt:lpstr>2026 정보처리기사 (실기)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성종 손</dc:creator>
  <cp:keywords/>
  <cp:lastModifiedBy>adminn</cp:lastModifiedBy>
  <cp:revision>135</cp:revision>
  <dcterms:created xsi:type="dcterms:W3CDTF">2026-02-06T17:46:15Z</dcterms:created>
  <dcterms:modified xsi:type="dcterms:W3CDTF">2026-05-09T00:00:17Z</dcterms:modified>
  <cp:version/>
</cp:coreProperties>
</file>