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80160"/>
            <a:ext cx="8229600" cy="265176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[7과목]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애플리케이션 테스트 관리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정보처리기사 핵심 정리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472C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59436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86868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 테스트 기본 원칙 (7가지)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271016"/>
            <a:ext cx="59436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71016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27101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정적 테스트 vs 동적 테스트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673352"/>
            <a:ext cx="59436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7335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67335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화이트박스 테스트 (커버리지)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075688"/>
            <a:ext cx="59436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07568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07568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블랙박스 테스트 기법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478024"/>
            <a:ext cx="59436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78024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247802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V-모델 및 인수 테스트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59436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88036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28803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통합 테스트 종류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282696"/>
            <a:ext cx="59436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82696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28269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회귀 테스트 &amp; 테스트 오라클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685032"/>
            <a:ext cx="59436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8503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368503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테스트 하네스 &amp; 테스트 케이스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087368"/>
            <a:ext cx="59436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08736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88720" y="408736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결함 관련 용어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4489704"/>
            <a:ext cx="59436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489704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88720" y="448970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핵심 암기 포인트 ★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  소프트웨어 테스트 기본 원칙 (7가지)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EBF5FB"/>
          </a:solidFill>
          <a:ln w="12700">
            <a:solidFill>
              <a:srgbClr val="D1E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완벽한 테스팅은 불가능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모든 경로와 입력 조합을 100% 테스트하는 것은 불가능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08176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1E7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538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결함 집중 (Defect Clustering)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0078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결함의 대부분은 소수의 특정 모듈에 집중 (파레토 80:20 법칙)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EBF5FB"/>
          </a:solidFill>
          <a:ln w="12700">
            <a:solidFill>
              <a:srgbClr val="D1E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살충제 패러독스 (Pesticide Paradox)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동일 테스트 케이스 반복 시 새로운 결함 발견 어려움 → 주기적 리뷰 필요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1E7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243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오류-부재의 궤변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87121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결함을 모두 제거해도 요구사항 미충족 시 품질이 높다고 볼 수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63824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EBF5FB"/>
          </a:solidFill>
          <a:ln w="12700">
            <a:solidFill>
              <a:srgbClr val="D1E7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095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5. 테스팅은 정황에 의존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4564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 특성, 환경, 리스크에 따라 테스트 방법이 달라져야 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1E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94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6. 조기 테스팅 (Early Testing)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40416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개발 초기에 테스팅 시작 → 결함 수정 비용 대폭 감소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334256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EBF5FB"/>
          </a:solidFill>
          <a:ln w="12700">
            <a:solidFill>
              <a:srgbClr val="D1E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3799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7. 독립적 테스트 수행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62686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개발자가 아닌 독립적인 테스트 전문가가 수행하는 것이 효과적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  정적 테스트 vs 동적 테스트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28016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정적 테스트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동적 테스트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정의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프로그램을 실행하지 않고 소스 코드나 산출물을 검토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프로그램을 실행하여 결함을 발견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리뷰, 인스펙션, 워크스루, 정적 분석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화이트박스 테스트, 블랙박스 테스트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정적 테스트 - 리뷰 기법</a:t>
            </a:r>
            <a:endParaRPr lang="en-US" sz="15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8229600" cy="219456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기법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동료 검토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(Peer Review)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작성자가 동료에게 내용을 설명하고, 동료들이 결함을 발견하는 비공식적 검토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워크스루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(Walk Through)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작성자가 직접 산출물을 설명하면서 이해관계자들이 질문하고 결함을 찾는 검토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인스펙션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(Inspection)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전문 검토자(Moderator)가 주도하여 체크리스트 기반으로 공식적·체계적으로 결함을 검출하는 가장 엄격한 방법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  화이트박스 테스트 (커버리지)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개발자 관점에서 소스 코드의 내부 논리 구조와 동작을 검사하는 구조 기반 테스트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/>
              <a:tblGrid>
                <a:gridCol w="3474720"/>
                <a:gridCol w="47548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커버리지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구문(Statement) 커버리지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코드의 모든 문장이 최소 한 번 이상 실행되도록 설계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결정/분기(Decision/Branch) 커버리지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조건식의 전체 결과가 참(T)과 거짓(F)을 각각 최소 한 번 이상 갖도록 설계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조건(Condition) 커버리지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조건식 내부의 개별 조건들이 참과 거짓을 각각 최소 한 번 이상 갖도록 설계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조건/결정(Condition/Decision) 커버리지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개별 조건식과 전체 조건식이 모두 참/거짓을 한 번 이상 갖도록 설계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MC/DC 커버리지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각 개별 조건이 전체 조건식의 결과에 독립적으로 영향을 미치는지 확인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다중 조건(Multiple Condition) 커버리지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모든 개별 조건의 가능한 조합을 테스트 (가장 강력, 케이스 수 기하급수적 증가)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947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38862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기본 경로 검사 (Base Path Testing) &amp; McCabe 순환 복잡도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420624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V(G) = E - N + 2   (E: 간선 수, N: 노드 수)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순환 복잡도 = 독립적인 경로의 수 = 최소 테스트 케이스 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커버리지 강도: 구문 &lt; 결정 &lt; 조건/결정 &lt; MC/DC &lt; 다중 조건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  블랙박스 테스트 기법  (암기: 동·경·원·오·비·결)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 관점에서 입력에 대한 올바른 출력이 나오는지 기능(명세서)을 검사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74904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5355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기법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동치 분할 검사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(Equivalence Partitioning)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입력 데이터 영역을 유효값/무효값으로 나누어 대표값으로 테스트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경계값 분석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(Boundary Value Analysis)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입력 조건의 경계값에서 오류 발생 확률이 높음을 이용하여 테스트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원인-효과 그래프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(Cause-Effect Graphing)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입력(원인)과 출력(효과)의 관계를 논리적 그래프로 표현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오류 예측 검사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(Error Guessing)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테스터의 경험과 직관을 바탕으로 오류를 예측하여 테스트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비교 검사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(Comparison Testing)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여러 버전의 프로그램에 동일 데이터를 제공하여 결과를 비교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결정 테이블 검사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(Decision Table Testing)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입력 조건과 행위의 모든 조합을 테이블로 작성하여 테스트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  V-모델 및 인수 테스트  (암기: 단→통→시→인)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286000"/>
        </p:xfrm>
        <a:graphic>
          <a:graphicData uri="http://schemas.openxmlformats.org/drawingml/2006/table">
            <a:tbl>
              <a:tblPr/>
              <a:tblGrid>
                <a:gridCol w="2560320"/>
                <a:gridCol w="384048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테스트 레벨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대응 개발 단계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단위 테스트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(Unit Test)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모듈/컴포넌트 단위로 수행. 주로 화이트박스 테스트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코딩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통합 테스트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(Integration Test)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모듈 결합 시 인터페이스 연동 오류를 찾는 테스트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시스템 테스트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(System Test)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전체 시스템이 요구사항에 맞게 수행되는지 점검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분석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인수 테스트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(Acceptance Test)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 요구사항 충족 여부를 최종 확인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요구사항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인수 테스트 유형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36576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알파 테스트 (Alpha Test)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40690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개발자 환경에서 사용자가 개발자 앞에서(통제하에) 수행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36576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EF3C7"/>
          </a:solidFill>
          <a:ln/>
        </p:spPr>
      </p:sp>
      <p:sp>
        <p:nvSpPr>
          <p:cNvPr id="10" name="Text 7"/>
          <p:cNvSpPr/>
          <p:nvPr/>
        </p:nvSpPr>
        <p:spPr>
          <a:xfrm>
            <a:off x="489204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베타 테스트 (Beta Test)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92040" y="40690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실제 사용자 환경에서 다수의 사용자가 통제 없이 수행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  통합 테스트 종류  (암기: 하-스 / 상-드)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37744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  <a:gridCol w="18288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방식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가짜 모듈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하향식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(Top-Down)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상위 모듈 → 하위 모듈 방향으로 통합. 깊이 우선/넓이 우선 방식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스텁(Stub) 사용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상향식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(Bottom-Up)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하위 모듈 → 상위 모듈 방향으로 통합. 클러스터 단위로 결합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드라이버(Driver) 사용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샌드위치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(Sandwich)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하향식 + 상향식을 결합한 하이브리드 방식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스텁 + 드라이버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빅뱅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(Big Bang)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모든 모듈을 한꺼번에 통합하여 테스트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결함 위치 파악 어려움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8328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34747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하향식 vs 상향식 핵심 암기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384048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하-스 (하향식 - 스텁) : 상위 모듈부터 테스트 → 스텁(가짜 하위 모듈) 필요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상-드 (상향식 - 드라이버) : 하위 모듈부터 테스트 → 드라이버(가짜 상위 모듈) 필요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샌드위치 : 하향식 + 상향식 하이브리드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빅뱅 : 모든 모듈 동시 통합 (결함 위치 파악 어려움)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  회귀 테스트 &amp; 테스트 오라클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회귀 테스트 (Regression Test)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 변경(수정, 추가) 후 변경 부분이 기존 기능에 영향을 미치지 않았는지 확인하기 위해 기존 테스트 케이스를 재실행하는 테스트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살충제 패러독스와 연관: 회귀 테스트 시에도 테스트 케이스를 주기적으로 갱신해야 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테스트 오라클 (Test Oracle)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8229600" cy="210312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종류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참(True) 오라클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모든 입력값에 대해 기대 결과를 생성. 오류를 모두 검출 가능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샘플링(Sampling) 오라클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특정 몇 개의 입력값에 대해서만 기대 결과를 제공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휴리스틱(Heuristic) 오라클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샘플링 오라클을 개선. 특정 입력은 올바른 결과, 나머지는 추정으로 처리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일관성 검사(Consistent) 오라클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변경 전후의 결괏값이 동일한지 확인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  테스트 하네스 &amp; 테스트 케이스 구성요소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테스트 하네스 (Test Harness) 구성요소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56032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구성요소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테스트 드라이버 (Driver)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상위 모듈 역할을 하는 가짜 프로그램. 하위 모듈을 호출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테스트 스텁 (Stub)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하위 모듈 역할을 하는 가짜 프로그램. 상위 모듈로부터 호출됨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테스트 슈트 (Suite)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테스트 케이스의 집합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테스트 케이스 (Case)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테스트 항목의 명세서. 입력값, 실행 조건, 기대 결과 등을 포함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테스트 시나리오 (Scenario)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테스트 수행을 위한 여러 테스트 케이스의 동작 순서를 기술한 문서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테스트 스크립트 (Script)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테스트 케이스의 실행 절차를 자동화하기 위해 작성한 프로그램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목 오브젝트 (Mock Object)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사전에 사용자의 행위를 조건부로 입력해 두면 예정된 행위를 수행하는 객체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테스트 케이스 구성요소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식별자 · 테스트 항목 · 입력 명세 · 출력 명세 · 환경 설정 · 특수 절차 요구 · 의존성 기술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  결함 관련 용어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오류 → 결함 → 실패 관계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146304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용어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오류 (Error)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개발자의 실수로 인해 발생. 결함의 원인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결함 (Defect/Bug)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오류로 인해 소프트웨어 산출물에 포함된 문제. 실패의 원인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실패 (Failure)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결함이 실행되어 소프트웨어가 기대와 다르게 동작하는 것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743200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흐름: 오류(Error) → 결함(Defect) → 실패(Failure)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결함 심각도 (Severity)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229600" cy="128016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등급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치명적 (Critical)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시스템 전체가 작동 불능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주요 (Major)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주요 기능에 영향. 대체 경로 존재 가능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보통 (Normal)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일부 기능에 영향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경미 (Minor)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사용에 거의 영향 없음. UI 등 외관상 문제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핵심 암기 포인트 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테스트 원칙 7가지: 완벽 불가능, 결함 집중(파레토), 살충제 패러독스, 오류-부재의 궤변, 정황 의존, 조기 테스팅, 독립적 수행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블랙박스 기법: 동치 분할, 경계값 분석, 원인-효과, 오류 예측, 비교 검사, 결정 테이블 (동·경·원·오·비·결)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4592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V-모델: 단위 → 통합 → 시스템 → 인수 테스트 (단→통→시→인)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5740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통합 테스트: 하-스(하향식-스텁), 상-드(상향식-드라이버)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6888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5. McCabe 순환 복잡도: V(G) = E - N + 2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8036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6. 오류 → 결함 → 실패 순서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9184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7. 테스트 하네스 구성: 드라이버, 스텁, 슈트, 케이스, 시나리오, 스크립트, 목 오브젝트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0332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8. 정적 테스트 리뷰: 동료 검토(비공식), 워크스루(작성자 설명), 인스펙션(공식/체계적)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1480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9. 커버리지 강도: 구문 &lt; 결정 &lt; 조건/결정 &lt; MC/DC &lt; 다중 조건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52628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2628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10. 테스트 케이스 구성요소: 식별자, 테스트 항목, 입력 명세, 출력 명세, 환경 설정, 특수 절차 요구, 의존성 기술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[7과목] 애플리케이션 테스트 관리</dc:title>
  <dc:subject>정보처리기사 시험 대비 핵심 요약</dc:subject>
  <dc:creator>정보처리기사 핵심 정리</dc:creator>
  <cp:lastModifiedBy>정보처리기사 핵심 정리</cp:lastModifiedBy>
  <cp:revision>1</cp:revision>
  <dcterms:created xsi:type="dcterms:W3CDTF">2026-06-26T22:18:53Z</dcterms:created>
  <dcterms:modified xsi:type="dcterms:W3CDTF">2026-06-26T22:18:53Z</dcterms:modified>
</cp:coreProperties>
</file>