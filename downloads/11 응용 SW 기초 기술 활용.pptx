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71" r:id="rId10"/>
    <p:sldId id="263" r:id="rId11"/>
    <p:sldId id="264" r:id="rId12"/>
    <p:sldId id="265" r:id="rId13"/>
    <p:sldId id="272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15E8-9190-BCE6-CC96-5BA0B06F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9373A-BFCC-62D5-DFBC-D9D5FE32B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FD768-F861-92B9-8EDF-1AA0519B7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63904-54EB-8686-4690-698D89260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74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C49C-ECF8-CB5A-5282-81F07212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6A254-9867-87B5-E457-3A524A961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01563-78A9-F2E1-8DF9-F4A6E741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2FE3A-EE27-1405-4510-EAB251D45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05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1512F-6E75-5CA0-E751-76C8B876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CD83-01CE-693D-E2A6-E81DC8124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27701-0B48-C3A8-E44E-C9D42A7E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877D5-92CF-9A6F-0E41-0F429804C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8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72C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[11과목]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응용 SW 기초 기술 활용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77724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운영체제 (OS) 의 목적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2471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12471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2471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프로세스 상태 전이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7218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4721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프로세스 스케줄링 알고리즘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19656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81965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81965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교착상태 (Deadlock)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16712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16712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메모리 관리 (가상 메모리, 페이지 교체)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1460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디스크 스케줄링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6207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8620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86207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네트워크 OSI 7계층 + HDLC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09544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20954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20954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 주소 체계 (IPv4/IPv6, 서브넷)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57016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5570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55701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프로토콜 및 포트번호 + TCP/UDP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390448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라우팅 프로토콜 (RIP, OSPF, BGP)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425196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리눅스/유닉스 기본 명령어 + chmod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599432"/>
            <a:ext cx="502920" cy="310896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459943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459943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운영체제 (OS) 의 목적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6126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목적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처리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능력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일정 시간 내에 시스템이 처리하는 일의 양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반환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작업 의뢰부터 처리 완료까지 걸린 시간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가능도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시스템을 얼마나 빠르게 사용할 수 있는지의 정도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신뢰도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주어진 문제를 얼마나 정확하게 해결하는지의 정도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암기 포인트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처리 </a:t>
            </a:r>
            <a:r>
              <a:rPr lang="en-US" sz="13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능력</a:t>
            </a: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</a:t>
            </a:r>
            <a:r>
              <a:rPr lang="en-US" sz="13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반환</a:t>
            </a: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시간</a:t>
            </a: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사용 </a:t>
            </a:r>
            <a:r>
              <a:rPr lang="en-US" sz="13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가능도</a:t>
            </a: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</a:t>
            </a:r>
            <a:r>
              <a:rPr lang="en-US" sz="13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신뢰도</a:t>
            </a: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프로세스 상태 전이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→      </a:t>
            </a: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준비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→      </a:t>
            </a: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→      </a:t>
            </a: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나눔고딕" pitchFamily="2" charset="-127"/>
                <a:ea typeface="나눔고딕" pitchFamily="2" charset="-127"/>
                <a:cs typeface="NanumGothic" pitchFamily="34" charset="-120"/>
              </a:rPr>
              <a:t>↑                     ↓</a:t>
            </a:r>
            <a:endParaRPr lang="en-US" sz="1400" b="1" dirty="0">
              <a:solidFill>
                <a:srgbClr val="1F4E79"/>
              </a:solidFill>
              <a:latin typeface="나눔고딕" pitchFamily="2" charset="-127"/>
              <a:ea typeface="나눔고딕" pitchFamily="2" charset="-127"/>
            </a:endParaRPr>
          </a:p>
          <a:p>
            <a:pPr algn="ctr"/>
            <a:r>
              <a:rPr lang="en-US" sz="1400" b="1" dirty="0">
                <a:solidFill>
                  <a:srgbClr val="1F4E79"/>
                </a:solidFill>
                <a:latin typeface="나눔고딕" pitchFamily="2" charset="-127"/>
                <a:ea typeface="나눔고딕" pitchFamily="2" charset="-127"/>
                <a:cs typeface="NanumGothic" pitchFamily="34" charset="-120"/>
              </a:rPr>
              <a:t>←    </a:t>
            </a:r>
            <a:r>
              <a:rPr lang="ko-KR" altLang="en-US" sz="1400" b="1" dirty="0">
                <a:solidFill>
                  <a:srgbClr val="1F4E79"/>
                </a:solidFill>
                <a:latin typeface="나눔고딕" pitchFamily="2" charset="-127"/>
                <a:ea typeface="나눔고딕" pitchFamily="2" charset="-127"/>
                <a:cs typeface="NanumGothic" pitchFamily="34" charset="-120"/>
              </a:rPr>
              <a:t>대기     </a:t>
            </a:r>
            <a:r>
              <a:rPr lang="en-US" sz="1400" b="1" dirty="0">
                <a:solidFill>
                  <a:srgbClr val="1F4E79"/>
                </a:solidFill>
                <a:latin typeface="나눔고딕" pitchFamily="2" charset="-127"/>
                <a:ea typeface="나눔고딕" pitchFamily="2" charset="-127"/>
                <a:cs typeface="NanumGothic" pitchFamily="34" charset="-120"/>
              </a:rPr>
              <a:t>←</a:t>
            </a:r>
            <a:endParaRPr lang="en-US" sz="1400" b="1" dirty="0">
              <a:solidFill>
                <a:srgbClr val="1F4E79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711566"/>
              </p:ext>
            </p:extLst>
          </p:nvPr>
        </p:nvGraphicFramePr>
        <p:xfrm>
          <a:off x="457200" y="1691640"/>
          <a:ext cx="8229600" cy="3108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디스패치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준비 → 실행. 준비 큐에서 CPU를 할당받음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타임아웃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실행 → 준비. 할당 시간(Time Slice) 초과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블록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실행 → 대기. I/O 요청 등으로 인해 CPU를 반납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웨이크업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대기 → 준비. I/O 완료 등으로 다시 준비 상태로 전이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프로세스 스케줄링 알고리즘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비선점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스케줄링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: CPU</a:t>
            </a:r>
            <a:r>
              <a:rPr lang="ko-KR" alt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를 </a:t>
            </a:r>
            <a:r>
              <a:rPr lang="ko-KR" alt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할당받으면</a:t>
            </a:r>
            <a:r>
              <a:rPr lang="ko-KR" alt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다른 프로세스가 강제로 빼앗을 수 없는 방식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166186"/>
              </p:ext>
            </p:extLst>
          </p:nvPr>
        </p:nvGraphicFramePr>
        <p:xfrm>
          <a:off x="457200" y="100584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FCFS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도착 순서대로 CPU 할당 (FIFO). 콘보이 현상 발생 가능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SJF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실행 시간이 가장 짧은 프로세스 먼저. 기아 현상(Starvation) 발생 가능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HRN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SJF 보완. 우선순위 = (대기시간 + 서비스시간) / 서비스시간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우선순위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(Priority)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우선순위가 높은 프로세스 먼저 실행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선점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4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스케줄링</a:t>
            </a: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: </a:t>
            </a:r>
            <a:r>
              <a:rPr lang="ko-KR" alt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우선순위가 높은 프로세스가 현재 프로세스를 중단시키고 </a:t>
            </a:r>
            <a:r>
              <a:rPr lang="en-US" altLang="ko-KR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CPU</a:t>
            </a:r>
            <a:r>
              <a:rPr lang="ko-KR" alt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를 빼앗을 수 있는 방식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329678"/>
              </p:ext>
            </p:extLst>
          </p:nvPr>
        </p:nvGraphicFramePr>
        <p:xfrm>
          <a:off x="457200" y="301752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Round Robin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시간 할당량(Time Slice)만큼 CPU 사용 후 다음 프로세스로 교체. 시분할 시스템에 적합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SRT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남은 시간이 가장 짧은 프로세스에게 CPU 할당. SJF의 선점형 버전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다단계 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프로세스를 그룹별로 여러 큐에 배치하여 스케줄링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다단계 피드백 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다단계 큐에서 프로세스가 큐 간 이동 가능. 가장 일반적인 CPU 스케줄링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BB7A-5C43-D1EE-BEDE-B468E512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EB7427-0DD6-E8A1-040E-ABB51F1C911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BEFB64-2720-4F83-0378-1BACCB07C350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프로세스 스케줄링 알고리즘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324BCC-1A0C-2A0B-20C8-148D9D932BAE}"/>
              </a:ext>
            </a:extLst>
          </p:cNvPr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스케줄링 성능 지표</a:t>
            </a:r>
            <a:endParaRPr lang="en-US" sz="14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2D0B027-C9B9-8674-F976-A12840258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71180"/>
              </p:ext>
            </p:extLst>
          </p:nvPr>
        </p:nvGraphicFramePr>
        <p:xfrm>
          <a:off x="457200" y="1005840"/>
          <a:ext cx="8229600" cy="13167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charset="0"/>
                        </a:rPr>
                        <a:t>반환 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완료 시간 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– </a:t>
                      </a: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도착 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대기 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반환 시간 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– </a:t>
                      </a: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서비스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</a:t>
                      </a: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평균 대기 시간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각 프로세스의 대기 시간 합 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÷ </a:t>
                      </a: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프로세스 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730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교착상태 (Deadlock)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발생 조건 4가지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99278"/>
              </p:ext>
            </p:extLst>
          </p:nvPr>
        </p:nvGraphicFramePr>
        <p:xfrm>
          <a:off x="457200" y="105156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상호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 자원은 한 번에 하나의 프로세스만 사용 가능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점유와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자원을 점유한 상태에서 다른 자원을 기다림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비선점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다른 프로세스가 사용 중인 자원을 강제로 빼앗을 수 없음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환형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프로세스 간 자원 요구가 원형으로 연결됨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해결 기법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698975"/>
              </p:ext>
            </p:extLst>
          </p:nvPr>
        </p:nvGraphicFramePr>
        <p:xfrm>
          <a:off x="457200" y="3291840"/>
          <a:ext cx="8229600" cy="1554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발생 조건 4가지 중 하나 이상을 부정하여 사전에 방지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회피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안전한 상태에서만 자원 할당.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은행원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(Banker's Algorithm)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발견/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탐지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교착상태 발생을 허용하고, 발생 시 탐지하여 조치. 자원 할당 그래프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회복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교착상태 발생 후 프로세스 종료 또는 자원 선점으로 복구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메모리 관리 (가상 메모리, 페이지 교체)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771216"/>
              </p:ext>
            </p:extLst>
          </p:nvPr>
        </p:nvGraphicFramePr>
        <p:xfrm>
          <a:off x="457200" y="1134290"/>
          <a:ext cx="8229600" cy="1097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페이징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가상 메모리를 고정 크기의 블록(페이지)으로 나누어 관리. 내부 단편화 발생 가능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세그먼테이션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가상 메모리를 가변 크기의 논리적 단위(세그먼트)로 나누어 관리. 외부 단편화 발생 가능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7645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스래싱, 워킹셋, 지역성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269668"/>
              </p:ext>
            </p:extLst>
          </p:nvPr>
        </p:nvGraphicFramePr>
        <p:xfrm>
          <a:off x="457200" y="3450770"/>
          <a:ext cx="822960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스래싱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페이지 부재(Page Fault)가 과도하게 발생하여 프로세스 실행보다 페이지 교체에 더 많은 시간을 소비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워킹셋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일정 시간 동안 프로세스가 자주 참조하는 페이지들의 집합. 워킹셋을 메모리에 유지하면 스래싱 방지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지역성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프로세스가 기억장치를 참조할 때 일부 영역에 집중적으로 접근하는 경향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1A5180EB-D927-3C4F-A49C-E905A795FE20}"/>
              </a:ext>
            </a:extLst>
          </p:cNvPr>
          <p:cNvSpPr/>
          <p:nvPr/>
        </p:nvSpPr>
        <p:spPr>
          <a:xfrm>
            <a:off x="457200" y="84037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가상 메모리 기법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A36A2F1-D668-BE70-5D25-DFA0FA7BCA5D}"/>
              </a:ext>
            </a:extLst>
          </p:cNvPr>
          <p:cNvSpPr/>
          <p:nvPr/>
        </p:nvSpPr>
        <p:spPr>
          <a:xfrm>
            <a:off x="457200" y="2302872"/>
            <a:ext cx="8229600" cy="537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</a:rPr>
              <a:t>내부 단편화 </a:t>
            </a: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</a:rPr>
              <a:t>: </a:t>
            </a:r>
            <a:r>
              <a:rPr lang="ko-KR" altLang="ko-KR" sz="1300" dirty="0"/>
              <a:t>할당된 메모리 공간 내부에 사용되지 않는 남는 공간이 생기는 현상 </a:t>
            </a:r>
            <a:endParaRPr lang="en-US" altLang="ko-KR" sz="1300" dirty="0"/>
          </a:p>
          <a:p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</a:rPr>
              <a:t>외부 단편화 </a:t>
            </a: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</a:rPr>
              <a:t>: </a:t>
            </a:r>
            <a:r>
              <a:rPr lang="ko-KR" altLang="ko-KR" sz="1300" dirty="0"/>
              <a:t>할당</a:t>
            </a:r>
            <a:r>
              <a:rPr lang="ko-KR" altLang="en-US" sz="1300" dirty="0"/>
              <a:t>과 </a:t>
            </a:r>
            <a:r>
              <a:rPr lang="ko-KR" altLang="ko-KR" sz="1300" dirty="0"/>
              <a:t>해제가 반복되면서 메모리 사이에 사용할 수 없는 작은 빈 공간이 흩어지는 현상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85DE-8DFC-24F5-2439-AC1927F8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CC21EF-3D12-5087-94BB-ABEAA80D5DE5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470C4B-8DDA-82EB-E3B4-E38192AC890B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메모리 관리 (가상 메모리, 페이지 교체)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2743160-7A46-4752-E169-4F135E4A457B}"/>
              </a:ext>
            </a:extLst>
          </p:cNvPr>
          <p:cNvSpPr/>
          <p:nvPr/>
        </p:nvSpPr>
        <p:spPr>
          <a:xfrm>
            <a:off x="457200" y="26506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페이지 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교체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알고리즘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: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페이지 부재 발생 시 메모리에서 교체할 페이지를 선택하는 알고리즘</a:t>
            </a:r>
            <a:endParaRPr lang="en-US" sz="1300" dirty="0"/>
          </a:p>
        </p:txBody>
      </p:sp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D7F43C4F-464F-208E-EB1F-A78AB2806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46010"/>
              </p:ext>
            </p:extLst>
          </p:nvPr>
        </p:nvGraphicFramePr>
        <p:xfrm>
          <a:off x="457200" y="2924996"/>
          <a:ext cx="8229600" cy="1508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OPT (Optimal)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앞으로 가장 오랫동안 사용되지 않을 페이지를 교체. 이론적 최적, 실현 불가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FIFO (First In First Out)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메모리에 가장 먼저 들어온 페이지를 교체. 벨레이디의 모순 발생 가능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LRU (Least Recently Used)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오래 전에 사용된 페이지를 교체. 가장 많이 사용되는 알고리즘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LFU (Least Frequently Used)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 빈도가 가장 낮은 페이지를 교체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NUR (Not Used Recently)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최근에 사용하지 않은 페이지를 교체. 참조 비트와 변형 비트 사용</a:t>
                      </a:r>
                      <a:endParaRPr lang="en-US" sz="105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D2028667-04C8-824A-E909-4ADB382BB987}"/>
              </a:ext>
            </a:extLst>
          </p:cNvPr>
          <p:cNvSpPr/>
          <p:nvPr/>
        </p:nvSpPr>
        <p:spPr>
          <a:xfrm>
            <a:off x="457200" y="98406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지역성의 종류</a:t>
            </a:r>
            <a:endParaRPr lang="en-US" sz="1300" dirty="0"/>
          </a:p>
        </p:txBody>
      </p:sp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AB7F416F-71D9-EF8B-5BF2-7E7C174F0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97950"/>
              </p:ext>
            </p:extLst>
          </p:nvPr>
        </p:nvGraphicFramePr>
        <p:xfrm>
          <a:off x="457200" y="1258385"/>
          <a:ext cx="8229600" cy="960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시간 지역성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최근 사용된 데이터가 가까운 시간 내에 다시 사용될 가능성이 높음 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(</a:t>
                      </a:r>
                      <a:r>
                        <a:rPr lang="ko-KR" altLang="en-US" sz="11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반복문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,</a:t>
                      </a: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스택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공간 지역성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사용된 데이터의 인접한 주소의 데이터가 사용될 가능성이 높음 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(</a:t>
                      </a:r>
                      <a:r>
                        <a:rPr lang="ko-KR" altLang="en-US" sz="11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배열순차접근</a:t>
                      </a:r>
                      <a:r>
                        <a:rPr lang="en-US" altLang="ko-KR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3">
            <a:extLst>
              <a:ext uri="{FF2B5EF4-FFF2-40B4-BE49-F238E27FC236}">
                <a16:creationId xmlns:a16="http://schemas.microsoft.com/office/drawing/2014/main" id="{A62F5E87-E5B3-6612-1C51-08420F6C4B58}"/>
              </a:ext>
            </a:extLst>
          </p:cNvPr>
          <p:cNvSpPr/>
          <p:nvPr/>
        </p:nvSpPr>
        <p:spPr>
          <a:xfrm>
            <a:off x="457200" y="462969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벨레이디의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모순 </a:t>
            </a: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: FIFO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에서 프레임 수를 늘렸는데 오히려 페이지 부재가 증가하는 현상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5571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디스크 스케줄링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886687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FCFS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요청 순서대로 처리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SSTF (Shortest Seek Time First)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현재 헤드 위치에서 가장 가까운 요청 먼저 처리. 기아 현상 가능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SCAN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한쪽 끝까지 이동하며 처리 후 반대 방향으로 이동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C-SCAN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한쪽 방향으로만 이동하며 처리. 끝에 도달하면 처음으로 되돌아감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LOOK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SCAN과 유사하지만 요청이 있는 곳까지만 이동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 네트워크 OSI 7계층 + HDLC  (암기: 물·데·네·전·세·표·응)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5603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계층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이름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기능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단위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물리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비트 스트림 전기적 신호 전송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비트(Bit)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 링크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노드 간 신뢰성 있는 전송, MAC 주소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프레임(Frame)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최적 경로 설정(Routing), IP 주소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패킷(Packet)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전송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종단 간 신뢰성 보장, 흐름·오류 제어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세그먼트(Segment)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세션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연결 유지 및 동기화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표현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압축, 암호화, 포맷 변환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응용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사용자에게 네트워크 서비스 제공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데이터</a:t>
                      </a:r>
                      <a:endParaRPr lang="en-US" sz="10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HDLC 프레임과 모드 ★2026년 1회차★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정보 프레임(I-frame): 사용자 데이터 전송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감독 프레임(S-frame): 흐름 제어, 오류 제어, 수신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비번호 프레임(U-frame): 링크 설정, 해제, 모드 설정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비동기 균형 모드(ABM): 두 장비가 대등한 관계 (균형 = 대등)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비동기 응답 모드(ARM): 종국이 주국의 명령 없이도 응답 전송 가능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IP 주소 체계 (IPv4/IPv6, </a:t>
            </a:r>
            <a:r>
              <a:rPr lang="en-US" sz="1600" b="1" dirty="0" err="1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서브넷</a:t>
            </a: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519028"/>
              </p:ext>
            </p:extLst>
          </p:nvPr>
        </p:nvGraphicFramePr>
        <p:xfrm>
          <a:off x="457200" y="1154429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IPv4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IPv6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주소 길이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32비트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128비트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주소 표기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10진수 (192.168.0.1)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16진수 (2001:0db8::)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전송 방식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유니캐스트, 멀티캐스트, 브로드캐스트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유니캐스트, 멀티캐스트, 애니캐스트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IPSec 선택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IPSec 기본 내장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헤더 크기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고정 (40바이트)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2">
            <a:extLst>
              <a:ext uri="{FF2B5EF4-FFF2-40B4-BE49-F238E27FC236}">
                <a16:creationId xmlns:a16="http://schemas.microsoft.com/office/drawing/2014/main" id="{D0493464-408A-FD27-9DCE-763F262639F3}"/>
              </a:ext>
            </a:extLst>
          </p:cNvPr>
          <p:cNvSpPr/>
          <p:nvPr/>
        </p:nvSpPr>
        <p:spPr>
          <a:xfrm>
            <a:off x="457200" y="8425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IPv4 vs IPv6</a:t>
            </a:r>
            <a:endParaRPr lang="en-US" sz="13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7CA460C2-3CA1-A1E0-7747-6726E2734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24095"/>
              </p:ext>
            </p:extLst>
          </p:nvPr>
        </p:nvGraphicFramePr>
        <p:xfrm>
          <a:off x="457200" y="3523706"/>
          <a:ext cx="8229599" cy="1219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3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370109726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클래스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범위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네트워크</a:t>
                      </a:r>
                      <a:r>
                        <a:rPr lang="en-US" altLang="ko-KR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호스트 비트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charset="0"/>
                        </a:rPr>
                        <a:t>용도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charset="0"/>
                        </a:rPr>
                        <a:t>A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0.0.0.0 ~ 127.255.255.255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 / 24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대규모 네트워크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128.0.0.0 ~ 191.255.255.255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16 / 16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중규모 네트워크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192.0.0.0 ~ 223.255.255.255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24 / 8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소규모 네트워크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2">
            <a:extLst>
              <a:ext uri="{FF2B5EF4-FFF2-40B4-BE49-F238E27FC236}">
                <a16:creationId xmlns:a16="http://schemas.microsoft.com/office/drawing/2014/main" id="{96FBAE56-20CD-45A1-3946-5401AD5CF04D}"/>
              </a:ext>
            </a:extLst>
          </p:cNvPr>
          <p:cNvSpPr/>
          <p:nvPr/>
        </p:nvSpPr>
        <p:spPr>
          <a:xfrm>
            <a:off x="457200" y="322326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클래스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2A2-324F-3926-7C63-589C3B7F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6FAA35-C604-7707-50FE-93187F60EF1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A5109D-710F-D904-84CA-C775FC23679B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IP 주소 체계 (IPv4/IPv6, </a:t>
            </a:r>
            <a:r>
              <a:rPr lang="en-US" sz="1600" b="1" dirty="0" err="1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서브넷</a:t>
            </a: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09C6CB7-0403-3794-E321-F35DD1212766}"/>
              </a:ext>
            </a:extLst>
          </p:cNvPr>
          <p:cNvSpPr/>
          <p:nvPr/>
        </p:nvSpPr>
        <p:spPr>
          <a:xfrm>
            <a:off x="372291" y="24639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 클래스 + /23 서브넷 계산</a:t>
            </a:r>
            <a:endParaRPr lang="en-US" sz="13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3569EF2-DB9A-7A2C-C3E3-8B5122B93B09}"/>
              </a:ext>
            </a:extLst>
          </p:cNvPr>
          <p:cNvSpPr/>
          <p:nvPr/>
        </p:nvSpPr>
        <p:spPr>
          <a:xfrm>
            <a:off x="372291" y="27840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418A1C4-C891-2826-B206-AD4C9649BCAA}"/>
              </a:ext>
            </a:extLst>
          </p:cNvPr>
          <p:cNvSpPr/>
          <p:nvPr/>
        </p:nvSpPr>
        <p:spPr>
          <a:xfrm>
            <a:off x="509451" y="2875460"/>
            <a:ext cx="7955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 클래스: A(0~127, 대규모), B(128~191, 중규모), C(192~223, 소규모)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/23 서브넷 (255.255.254.0): 세 번째 옥텟 블록 크기 =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192.168.11.20/23 → 네트워크 주소: 192.168.10.0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192.168.12.200/23 → 네트워크 주소: 192.168.12.0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/23 범위 예: 192.168.10.0 ~ 192.168.11.255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네트워크 주소 = 해당 범위의 첫 주소, 브로드캐스트 = </a:t>
            </a:r>
            <a:r>
              <a:rPr lang="en-US" sz="11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마지막</a:t>
            </a: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주소</a:t>
            </a:r>
            <a:endParaRPr lang="en-US" sz="11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D9AAFA9-598A-A1BC-CB05-23CC0BD05EB3}"/>
              </a:ext>
            </a:extLst>
          </p:cNvPr>
          <p:cNvSpPr/>
          <p:nvPr/>
        </p:nvSpPr>
        <p:spPr>
          <a:xfrm>
            <a:off x="372291" y="95930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서브넷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마스크</a:t>
            </a:r>
            <a:endParaRPr lang="en-US" sz="13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C76856BC-BDEA-86D5-3914-DDCC24E15AD4}"/>
              </a:ext>
            </a:extLst>
          </p:cNvPr>
          <p:cNvSpPr/>
          <p:nvPr/>
        </p:nvSpPr>
        <p:spPr>
          <a:xfrm>
            <a:off x="372291" y="1271178"/>
            <a:ext cx="8229600" cy="881744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94A4148-886C-50EF-51D8-549D7863B896}"/>
              </a:ext>
            </a:extLst>
          </p:cNvPr>
          <p:cNvSpPr/>
          <p:nvPr/>
        </p:nvSpPr>
        <p:spPr>
          <a:xfrm>
            <a:off x="509451" y="866230"/>
            <a:ext cx="7955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 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주소에서 네트워크 부분과 호스트 부분을 구분하는 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32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비트 값</a:t>
            </a:r>
            <a:endParaRPr lang="en-US" altLang="ko-KR" sz="1100" dirty="0">
              <a:solidFill>
                <a:srgbClr val="1F2937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NanumGothic" pitchFamily="34" charset="0"/>
              <a:ea typeface="NanumGothic" pitchFamily="34" charset="-122"/>
            </a:endParaRPr>
          </a:p>
          <a:p>
            <a:pPr marL="0" indent="0">
              <a:buNone/>
            </a:pPr>
            <a:r>
              <a:rPr lang="ko-KR" altLang="en-US" sz="1100" dirty="0" err="1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서브넷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 마스크가 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255.255.255.0 (/24) 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이면 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: 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호스트 비트 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= 8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비트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, 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사용 가능한 호스트 수 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= 2^8 – 2 (254</a:t>
            </a:r>
            <a:r>
              <a:rPr lang="ko-KR" alt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개</a:t>
            </a:r>
            <a:r>
              <a:rPr lang="en-US" altLang="ko-KR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634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  주요 프로토콜 및 포트번호 + TCP/UDP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포트번호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FTP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20(데이터)/21(제어)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 전송 프로토콜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SSH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22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암호화된 원격 접속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TELNET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23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접속 (비암호화)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SMTP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25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이메일 발송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DNS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53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도메인 이름 ↔ IP 주소 변환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DHCP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67/68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IP 주소 자동 할당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80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페이지 전송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POP3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110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이메일 수신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HTTPS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443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암호화된 웹 페이지 전송 (HTTP + SSL/TLS)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TCP vs UDP + 3-Way Handshake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41148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TCP: 연결지향형(3-Way Handshake), 신뢰성 보장, 상대적으로 느림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UDP: 비연결형, 신뢰성 보장 안 함, 빠름 (실시간 스트리밍, 온라인 게임, DNS)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3-Way Handshake: SYN → SYN+ACK → ACK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  라우팅 프로토콜 (RIP, OSPF, BGP)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알고리즘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RIP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거리 벡터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벨만-포드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최대 홉 수 15, 소규모 네트워크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OSPF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링크 상태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다익스트라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홉 수 제한 없음, 대규모 네트워크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BGP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경로 벡터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-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AS(자율 시스템) 간 외부 라우팅(EGP)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암기 포인트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3832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RIP: 거리 벡터 + 벨만-포드, 최대 홉 15 (소규모)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OSPF: 링크 상태 + 다익스트라, 홉 수 제한 없음 (대규모)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BGP: 경로 벡터, AS 간 외부 라우팅 (EGP)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거리 벡터 = 주변 라우터 정보 공유 / 링크 상태 = 전체 토폴로지 파악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  리눅스/유닉스 기본 명령어 + chmod 권한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명령어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ls / cd / pwd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 목록 / 디렉터리 이동 / 현재 경로 출력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mkdir / rm / cp / mv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디렉터리 생성 / 삭제 / 복사 / 이동(이름 변경)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cat / grep / find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 내용 출력 / 패턴 검색 / 파일 검색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ps / kill / top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프로세스 목록 / 종료 / 실시간 모니터링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chmod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파일/디렉터리의 접근 권한 변경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chown / chgrp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소유자 변경 / 소유 그룹 변경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089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chmod 권한 계산 (r=4, w=2, x=1)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5661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rwx rwx rwx = 소유자 / 그룹 / 기타 사용자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chmod 755 파일명 → rwxr-xr-x (소유자7, 그룹5, 기타5)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chmod 644 파일명 → rw-r--r-- (소유자6, 그룹4, 기타4)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r(읽기)=4, w(쓰기)=2, x(실행)=1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OS 목적: 처리 능력↑, 반환 시간↓, 사용 가능도↑, 신뢰도↑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비선점: FCFS, SJF, HRN, 우선순위 / 선점: RR, SRT, 다단계 큐, 다단계 피드백 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HRN 공식: (대기시간 + 서비스시간) / 서비스시간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55064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655064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교착상태 4조건: 상호배제, 점유와 대기, 비선점, 환형 대기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교착상태 해결: 예방(부정), 회피(은행원), 발견(탐지), 회복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258568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페이지 교체: OPT(최적/불가), FIFO(벨레이디 모순), LRU(가장 오래 전 사용), LFU(최소 빈도)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OSI 7계층: 물(비트)-데(프레임)-네(패킷)-전(세그먼트)-세-표-응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862072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HDLC 프레임: 정보(I)=데이터, 감독(S)=흐름/오류/수신확인, 비번호(U)=링크 설정/해제/모드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163824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IPv4=32비트/브로드캐스트, IPv6=128비트/애니캐스트/IPSec 내장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65576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465576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10. /23=255.255.254.0: 세 번째 옥텟이 2씩 증가, 192.168.11.x의 네트워크 주소는 192.168.10.0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767328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 TCP=연결지향/신뢰성, UDP=비연결/빠름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12. RIP=벨만-포드/홉15, OSPF=다익스트라/대규모, BGP=AS간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370832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13. chmod: r=4, w=2, x=1 (755=rwxr-xr-x)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672584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672584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14. 주요 포트: FTP(20/21), SSH(22), HTTP(80), HTTPS(443), DNS(53), SMTP(25)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974336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974336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15. 스래싱: 페이지 부재 과다 → 페이지 교체에 시간 소비 → 워킹셋으로 방지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276088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5276088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16. 지역성: 시간 지역성(최근 사용 데이터 재사용), 공간 지역성(인접 데이터 사용)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577840"/>
            <a:ext cx="8412480" cy="283464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5577840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17. 페이징=고정크기/내부단편화, 세그먼테이션=가변크기/외부단편화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1999</Words>
  <Application>Microsoft Office PowerPoint</Application>
  <PresentationFormat>화면 슬라이드 쇼(16:9)</PresentationFormat>
  <Paragraphs>371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NanumGothic</vt:lpstr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[11과목] 응용 SW 기초 기술 활용</dc:title>
  <dc:subject>정보처리기사 시험 대비 핵심 요약</dc:subject>
  <dc:creator>정보처리기사 핵심 정리</dc:creator>
  <cp:lastModifiedBy>성종 손</cp:lastModifiedBy>
  <cp:revision>48</cp:revision>
  <dcterms:created xsi:type="dcterms:W3CDTF">2026-06-27T20:45:32Z</dcterms:created>
  <dcterms:modified xsi:type="dcterms:W3CDTF">2026-06-27T21:44:57Z</dcterms:modified>
</cp:coreProperties>
</file>