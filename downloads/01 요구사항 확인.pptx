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58368"/>
            <a:ext cx="5486400" cy="7315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181818"/>
                </a:solidFill>
                <a:latin typeface="Malgun Gothic"/>
              </a:rPr>
              <a:t>[1과목]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81328"/>
            <a:ext cx="7315200" cy="7315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181818"/>
                </a:solidFill>
                <a:latin typeface="Malgun Gothic"/>
              </a:rPr>
              <a:t>요구사항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87168"/>
            <a:ext cx="68580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5C544E"/>
                </a:solidFill>
                <a:latin typeface="Malgun Gothic"/>
              </a:rPr>
              <a:t>정보처리기사 실기 2026년 제2회 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971800"/>
            <a:ext cx="68580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7D4A3A"/>
                </a:solidFill>
                <a:latin typeface="Malgun Gothic"/>
              </a:rPr>
              <a:t>핵심 개념 · 빈출 포인트 · 기출형 연습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5120640"/>
            <a:ext cx="2377440" cy="10972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7200" b="1">
                <a:solidFill>
                  <a:srgbClr val="EDDDD3"/>
                </a:solidFill>
                <a:latin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학습 순서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요구사항 확인 파트에서 먼저 외워야 할 구조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전체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783080"/>
            <a:ext cx="5943600" cy="116128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1956816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938528"/>
            <a:ext cx="43891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소프트웨어 생명 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340864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C544E"/>
                </a:solidFill>
                <a:latin typeface="Malgun Gothic"/>
              </a:rPr>
              <a:t>폭포수 · 프로토타입 · 나선형 · 애자일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1783080"/>
            <a:ext cx="5943600" cy="116128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53528" y="1956816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38528"/>
            <a:ext cx="43891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애자일 방법론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340864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C544E"/>
                </a:solidFill>
                <a:latin typeface="Malgun Gothic"/>
              </a:rPr>
              <a:t>XP 가치와 실천 방법, 스크럼 용어와 이벤트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01568"/>
            <a:ext cx="5943600" cy="116128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75303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3557015"/>
            <a:ext cx="43891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현행 시스템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959352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C544E"/>
                </a:solidFill>
                <a:latin typeface="Malgun Gothic"/>
              </a:rPr>
              <a:t>기능 · 인터페이스 · 아키텍처 · SW/HW/네트워크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3401568"/>
            <a:ext cx="5943600" cy="116128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53528" y="3575303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557015"/>
            <a:ext cx="43891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요구사항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959352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C544E"/>
                </a:solidFill>
                <a:latin typeface="Malgun Gothic"/>
              </a:rPr>
              <a:t>기능/비기능, 개발 프로세스, 확인 기법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020056"/>
            <a:ext cx="5943600" cy="116128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5193792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175504"/>
            <a:ext cx="43891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분석 도구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5577840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C544E"/>
                </a:solidFill>
                <a:latin typeface="Malgun Gothic"/>
              </a:rPr>
              <a:t>DFD, 자료사전, 요구사항 분석 기법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52360" y="5020056"/>
            <a:ext cx="5943600" cy="116128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53528" y="5193792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175504"/>
            <a:ext cx="438912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UML · UI 설계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577840"/>
            <a:ext cx="4480560" cy="310896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C544E"/>
                </a:solidFill>
                <a:latin typeface="Malgun Gothic"/>
              </a:rPr>
              <a:t>관계, 다이어그램, UI 원칙과 설계 도구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소프트웨어 생명 주기(SDLC)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소프트웨어 개발·운용·유지보수의 전체 과정을 단계별로 나눈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타당성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검토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1809" y="2023018"/>
            <a:ext cx="265176" cy="26993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84417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57569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계획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8986" y="2023018"/>
            <a:ext cx="265176" cy="26993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1594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4746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요구사항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분석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6163" y="2023018"/>
            <a:ext cx="265176" cy="26993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8771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1923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설계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3340" y="2023018"/>
            <a:ext cx="265176" cy="26993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5948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9100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구현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023018"/>
            <a:ext cx="265176" cy="26993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313125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6277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테스트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27694" y="2023018"/>
            <a:ext cx="265176" cy="26993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220302" y="1783080"/>
            <a:ext cx="1587137" cy="74980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93454" y="1856231"/>
            <a:ext cx="1440833" cy="603503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유지보수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2971800"/>
            <a:ext cx="3127248" cy="22860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2971800"/>
            <a:ext cx="73152" cy="22860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3136392"/>
            <a:ext cx="2807208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폭포수 모형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538728"/>
            <a:ext cx="2807208" cy="16276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가장 오래된 전통적 방식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선형 순차적 진행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이전 단계 완료 후 다음 단계 진행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요구사항 변경이 어려움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33087" y="2971800"/>
            <a:ext cx="3127248" cy="22860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33087" y="2971800"/>
            <a:ext cx="73152" cy="22860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5968" y="3136392"/>
            <a:ext cx="2807208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프로토타이핑 모형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3538728"/>
            <a:ext cx="2807208" cy="16276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시제품을 먼저 만들어 사용자 요구를 확인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최종 결과물을 예측하고 수정 방향을 조기에 파악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88936" y="2971800"/>
            <a:ext cx="3127248" cy="22860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88936" y="2971800"/>
            <a:ext cx="73152" cy="22860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71815" y="3136392"/>
            <a:ext cx="2807208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나선형 모형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71815" y="3538728"/>
            <a:ext cx="2807208" cy="16276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보헴(Boehm)이 제안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계획 수립 → 위험 분석 → 개발 및 검증 → 고객 평가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위험 최소화가 목적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844784" y="2971800"/>
            <a:ext cx="3127248" cy="22860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844784" y="2971800"/>
            <a:ext cx="73152" cy="22860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027663" y="3136392"/>
            <a:ext cx="2807208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애자일 모형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27663" y="3538728"/>
            <a:ext cx="2807208" cy="16276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짧은 주기를 반복하며 점진적으로 개발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요구사항 변화에 유연하게 대응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XP, 스크럼, 칸반, 크리스탈, FDD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" y="5760720"/>
            <a:ext cx="1280160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핵심 암기: 폭포수는 “순차”, 프로토타입은 “시제품”, 나선형은 “위험 분석”, 애자일은 “반복과 변화 대응”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개발 모형 비교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시험에서는 “키워드 → 모형명” 또는 “절차 → 모형명”으로 묻는 경우가 많음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700784"/>
          <a:ext cx="130759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474720"/>
                <a:gridCol w="3749039"/>
                <a:gridCol w="429768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1">
                          <a:solidFill>
                            <a:srgbClr val="7D4A3A"/>
                          </a:solidFill>
                          <a:latin typeface="Malgun Gothic"/>
                        </a:rPr>
                        <a:t>모형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1">
                          <a:solidFill>
                            <a:srgbClr val="7D4A3A"/>
                          </a:solidFill>
                          <a:latin typeface="Malgun Gothic"/>
                        </a:rPr>
                        <a:t>핵심 키워드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1">
                          <a:solidFill>
                            <a:srgbClr val="7D4A3A"/>
                          </a:solidFill>
                          <a:latin typeface="Malgun Gothic"/>
                        </a:rPr>
                        <a:t>장점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1">
                          <a:solidFill>
                            <a:srgbClr val="7D4A3A"/>
                          </a:solidFill>
                          <a:latin typeface="Malgun Gothic"/>
                        </a:rPr>
                        <a:t>주의할 점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폭포수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선형 순차, 단계별 완료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관리와 문서화가 쉬움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변경 대응이 어려움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프로토타입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시제품, 사용자 피드백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요구사항 구체화에 유리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시제품이 실제 제품으로 오해될 수 있음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나선형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위험 분석, 반복 개발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대형·고위험 프로젝트에 적합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관리 복잡, 비용 증가 가능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애자일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짧은 반복, 고객 참여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변화 대응과 빠른 릴리즈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500" b="0">
                          <a:solidFill>
                            <a:srgbClr val="181818"/>
                          </a:solidFill>
                          <a:latin typeface="Malgun Gothic"/>
                        </a:rPr>
                        <a:t>문서·통제 약화 가능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5349240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절차 암기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806440"/>
            <a:ext cx="1243584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폭포수: 타당성 검토 → 계획 → 요구사항 분석 → 설계 → 구현 → 테스트 → 유지보수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63640"/>
            <a:ext cx="1243584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나선형: 계획 수립 → 위험 분석 → 개발 및 검증 → 고객 평가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애자일(Agile) 방법론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문서 중심보다 실행 가능한 소프트웨어와 고객 소통을 중시하는 반복 개발 방식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애자일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64208"/>
            <a:ext cx="411480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664208"/>
            <a:ext cx="73152" cy="20574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28800"/>
            <a:ext cx="37947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애자일의 핵심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31136"/>
            <a:ext cx="3794760" cy="1399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요구사항 변화에 유연하게 대응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짧은 주기 단위로 분석·설계·구현·테스트 반복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고객 피드백을 빠르게 반영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57800" y="1664208"/>
            <a:ext cx="411480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57800" y="1664208"/>
            <a:ext cx="73152" cy="20574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1828800"/>
            <a:ext cx="37947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대표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231136"/>
            <a:ext cx="3794760" cy="1399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XP(eXtreme Programming)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스크럼(Scrum)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칸반(Kanban)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크리스탈(Crystal)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FDD(Feature Driven Development)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1664208"/>
            <a:ext cx="411480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92640" y="1664208"/>
            <a:ext cx="73152" cy="20574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19" y="1828800"/>
            <a:ext cx="37947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구분 포인트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19" y="2231136"/>
            <a:ext cx="3794760" cy="1399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폭포수: 처음 정한 계획을 단계별로 진행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애자일: 짧은 반복으로 변화 반영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시험에서는 “반복”, “고객 참여”, “변화 대응”을 함께 기억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498848"/>
            <a:ext cx="1261872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애자일은 “문서가 필요 없다”가 아니라, 과도한 문서보다 동작하는 소프트웨어와 피드백을 더 중시한다.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1560" y="5532120"/>
            <a:ext cx="2231136" cy="786384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24712" y="5605272"/>
            <a:ext cx="2084831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81818"/>
                </a:solidFill>
                <a:latin typeface="Malgun Gothic"/>
              </a:rPr>
              <a:t>요구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7" y="5783762"/>
            <a:ext cx="265176" cy="28309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02736" y="5532120"/>
            <a:ext cx="2231136" cy="786384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5887" y="5605272"/>
            <a:ext cx="2084831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81818"/>
                </a:solidFill>
                <a:latin typeface="Malgun Gothic"/>
              </a:rPr>
              <a:t>개발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1303" y="5783762"/>
            <a:ext cx="265176" cy="28309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3912" y="5532120"/>
            <a:ext cx="2231136" cy="786384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27064" y="5605272"/>
            <a:ext cx="2084831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81818"/>
                </a:solidFill>
                <a:latin typeface="Malgun Gothic"/>
              </a:rPr>
              <a:t>검토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5783762"/>
            <a:ext cx="265176" cy="28309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705088" y="5532120"/>
            <a:ext cx="2231136" cy="786384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5605272"/>
            <a:ext cx="2084831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81818"/>
                </a:solidFill>
                <a:latin typeface="Malgun Gothic"/>
              </a:rPr>
              <a:t>피드백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63656" y="5783762"/>
            <a:ext cx="265176" cy="28309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256264" y="5532120"/>
            <a:ext cx="2231136" cy="786384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329416" y="5605272"/>
            <a:ext cx="2084831" cy="64008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81818"/>
                </a:solidFill>
                <a:latin typeface="Malgun Gothic"/>
              </a:rPr>
              <a:t>다음 반복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XP(eXtreme Programming)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고객 참여와 반복을 극대화하여 요구사항 변화에 빠르게 대응하는 애자일 방법론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애자일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600200"/>
            <a:ext cx="38404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5가지 핵심 가치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29968"/>
            <a:ext cx="1874519" cy="914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39696"/>
            <a:ext cx="1655063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7D4A3A"/>
                </a:solidFill>
                <a:latin typeface="Malgun Gothic"/>
              </a:rPr>
              <a:t>의사소통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68880"/>
            <a:ext cx="1600199" cy="402335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81818"/>
                </a:solidFill>
                <a:latin typeface="Malgun Gothic"/>
              </a:rPr>
              <a:t>Communication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99232" y="2029968"/>
            <a:ext cx="1874519" cy="914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2139696"/>
            <a:ext cx="1655063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7D4A3A"/>
                </a:solidFill>
                <a:latin typeface="Malgun Gothic"/>
              </a:rPr>
              <a:t>단순성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36391" y="2468880"/>
            <a:ext cx="1600199" cy="402335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81818"/>
                </a:solidFill>
                <a:latin typeface="Malgun Gothic"/>
              </a:rPr>
              <a:t>Simplicity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75504" y="2029968"/>
            <a:ext cx="1874519" cy="914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85232" y="2139696"/>
            <a:ext cx="1655063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7D4A3A"/>
                </a:solidFill>
                <a:latin typeface="Malgun Gothic"/>
              </a:rPr>
              <a:t>용기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12664" y="2468880"/>
            <a:ext cx="1600199" cy="402335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81818"/>
                </a:solidFill>
                <a:latin typeface="Malgun Gothic"/>
              </a:rPr>
              <a:t>Courage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51775" y="2029968"/>
            <a:ext cx="1874519" cy="914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61503" y="2139696"/>
            <a:ext cx="1655063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7D4A3A"/>
                </a:solidFill>
                <a:latin typeface="Malgun Gothic"/>
              </a:rPr>
              <a:t>존중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2468880"/>
            <a:ext cx="1600199" cy="402335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81818"/>
                </a:solidFill>
                <a:latin typeface="Malgun Gothic"/>
              </a:rPr>
              <a:t>Respect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28048" y="2029968"/>
            <a:ext cx="1874519" cy="914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37776" y="2139696"/>
            <a:ext cx="1655063" cy="256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7D4A3A"/>
                </a:solidFill>
                <a:latin typeface="Malgun Gothic"/>
              </a:rPr>
              <a:t>피드백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65208" y="2468880"/>
            <a:ext cx="1600199" cy="402335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181818"/>
                </a:solidFill>
                <a:latin typeface="Malgun Gothic"/>
              </a:rPr>
              <a:t>Feedback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3355848"/>
            <a:ext cx="384048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주요 실천 방법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794760"/>
          <a:ext cx="13030199" cy="32918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6383"/>
                <a:gridCol w="10093816"/>
              </a:tblGrid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50" b="1">
                          <a:solidFill>
                            <a:srgbClr val="7D4A3A"/>
                          </a:solidFill>
                          <a:latin typeface="Malgun Gothic"/>
                        </a:rPr>
                        <a:t>실천 방법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50" b="1">
                          <a:solidFill>
                            <a:srgbClr val="7D4A3A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TDD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코드 작성 전 테스트 케이스를 먼저 작성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페어 프로그래밍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두 명의 개발자가 한 컴퓨터로 함께 개발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지속적 통합(CI)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매일 여러 번 소스를 통합하고 빌드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리팩토링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기능 변경 없이 내부 구조를 개선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소규모 릴리즈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작은 단위로 자주 제품을 릴리즈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코드 공동 소유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모든 팀원이 코드 수정 가능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온사이트 고객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고객이 개발팀과 함께 상주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코딩 표준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팀 전체가 공통 코딩 규칙 준수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단순한 설계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현재 요구사항에 집중한 최소 설계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29925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주 40시간 작업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60" b="0">
                          <a:solidFill>
                            <a:srgbClr val="181818"/>
                          </a:solidFill>
                          <a:latin typeface="Malgun Gothic"/>
                        </a:rPr>
                        <a:t>과도한 야근을 피하고 지속 가능한 속도 유지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스크럼(Scrum)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팀이 스스로 계획·개발·점검을 수행하는 반복 개발 방법론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애자일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00200"/>
          <a:ext cx="612648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297680"/>
              </a:tblGrid>
              <a:tr h="484632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00" b="1">
                          <a:solidFill>
                            <a:srgbClr val="7D4A3A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00" b="1">
                          <a:solidFill>
                            <a:srgbClr val="7D4A3A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제품 백로그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개발에 필요한 모든 요구사항을 우선순위에 따라 나열한 목록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스프린트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2~4주 정도의 짧은 개발 기간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스프린트 백로그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스프린트 목표 달성을 위해 선택한 제품 백로그 항목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데일리 스크럼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매일 약 15분 진행하는 진행 상황 점검 회의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1600200"/>
            <a:ext cx="41148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스크럼 이벤트 4종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2057400"/>
            <a:ext cx="6263640" cy="7315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543800" y="2057400"/>
            <a:ext cx="73152" cy="7315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221992"/>
            <a:ext cx="594360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D4A3A"/>
                </a:solidFill>
                <a:latin typeface="Malgun Gothic"/>
              </a:rPr>
              <a:t>스프린트 계획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624328"/>
            <a:ext cx="5943600" cy="731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81818"/>
                </a:solidFill>
                <a:latin typeface="Malgun Gothic"/>
              </a:rPr>
              <a:t>목표와 백로그 선정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3017520"/>
            <a:ext cx="6263640" cy="7315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43800" y="3017520"/>
            <a:ext cx="73152" cy="7315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3182112"/>
            <a:ext cx="594360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D4A3A"/>
                </a:solidFill>
                <a:latin typeface="Malgun Gothic"/>
              </a:rPr>
              <a:t>일일 스크럼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3584448"/>
            <a:ext cx="5943600" cy="731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81818"/>
                </a:solidFill>
                <a:latin typeface="Malgun Gothic"/>
              </a:rPr>
              <a:t>매일 15분 진행 상황 점검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43800" y="3977639"/>
            <a:ext cx="6263640" cy="7315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43800" y="3977639"/>
            <a:ext cx="73152" cy="7315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4142231"/>
            <a:ext cx="594360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D4A3A"/>
                </a:solidFill>
                <a:latin typeface="Malgun Gothic"/>
              </a:rPr>
              <a:t>스프린트 검토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4544568"/>
            <a:ext cx="5943600" cy="731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81818"/>
                </a:solidFill>
                <a:latin typeface="Malgun Gothic"/>
              </a:rPr>
              <a:t>결과물을 고객에게 시연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43800" y="4937760"/>
            <a:ext cx="6263640" cy="7315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43800" y="4937760"/>
            <a:ext cx="73152" cy="7315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5102352"/>
            <a:ext cx="594360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7D4A3A"/>
                </a:solidFill>
                <a:latin typeface="Malgun Gothic"/>
              </a:rPr>
              <a:t>스프린트 회고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26679" y="5504688"/>
            <a:ext cx="5943600" cy="731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81818"/>
                </a:solidFill>
                <a:latin typeface="Malgun Gothic"/>
              </a:rPr>
              <a:t>프로세스 개선을 위한 팀 회의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6080760"/>
            <a:ext cx="128016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7D4A3A"/>
                </a:solidFill>
                <a:latin typeface="Malgun Gothic"/>
              </a:rPr>
              <a:t>제품 백로그 → 스프린트 백로그 → 스프린트 수행 → 검토 → 회고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현행 시스템 분석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새 시스템을 만들기 전에 현재 시스템의 구성과 제약을 파악하는 활동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현행 시스템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64208"/>
          <a:ext cx="13075920" cy="42062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0515600"/>
              </a:tblGrid>
              <a:tr h="60089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분석 대상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확인 내용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00891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업무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업무 절차, 담당자, 입력·출력 정보, 업무 규칙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00891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현재 시스템이 제공하는 기능, 기능 간 연계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00891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인터페이스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외부 시스템, 데이터 형식, 연계 방식, 송수신 주기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00891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아키텍처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계층 구조, 모듈 구성, 배치 구조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00891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소프트웨어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OS, DBMS, 미들웨어, 프레임워크, 라이선스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00891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하드웨어/네트워크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서버, 저장장치, 네트워크 구성, 보안 장비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6263640"/>
            <a:ext cx="1271016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암기 포인트: 현행 시스템 분석은 “현재 무엇이 있고, 어떻게 연결되며, 어떤 제약이 있는지”를 확인하는 단계이다.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요구사항의 개념과 분류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요구사항은 시스템이 제공해야 할 서비스와 정상 운영에 필요한 제약조건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00200"/>
            <a:ext cx="6126480" cy="21031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600200"/>
            <a:ext cx="73152" cy="21031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64792"/>
            <a:ext cx="580644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기능적 요구사항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67128"/>
            <a:ext cx="5806440" cy="1444751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시스템이 “무엇을 하는지”에 대한 사항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시스템이 수행해야 할 기능·동작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예: 회원가입, 결제, 장바구니 추가, 검색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600200"/>
            <a:ext cx="6126480" cy="21031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1600200"/>
            <a:ext cx="73152" cy="21031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0" y="1764792"/>
            <a:ext cx="580644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비기능적 요구사항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2167128"/>
            <a:ext cx="5806440" cy="1444751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시스템이 “얼마나 잘 동작해야 하는지”에 대한 품질·제약 조건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예: 응답 시간 2초 이내, 동시 접속자 1000명, 접근 통제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36576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관점에 따른 분류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4800600"/>
          <a:ext cx="1303019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6886"/>
                <a:gridCol w="4647134"/>
                <a:gridCol w="6196179"/>
              </a:tblGrid>
              <a:tr h="51816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1">
                          <a:solidFill>
                            <a:srgbClr val="7D4A3A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1">
                          <a:solidFill>
                            <a:srgbClr val="7D4A3A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1">
                          <a:solidFill>
                            <a:srgbClr val="7D4A3A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5181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250" b="0">
                          <a:solidFill>
                            <a:srgbClr val="181818"/>
                          </a:solidFill>
                          <a:latin typeface="Malgun Gothic"/>
                        </a:rPr>
                        <a:t>사용자 요구사항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50" b="0">
                          <a:solidFill>
                            <a:srgbClr val="181818"/>
                          </a:solidFill>
                          <a:latin typeface="Malgun Gothic"/>
                        </a:rPr>
                        <a:t>사용자 관점에서 자연어 중심으로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50" b="0">
                          <a:solidFill>
                            <a:srgbClr val="181818"/>
                          </a:solidFill>
                          <a:latin typeface="Malgun Gothic"/>
                        </a:rPr>
                        <a:t>사용자는 주문 내역을 조회할 수 있어야 한다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181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250" b="0">
                          <a:solidFill>
                            <a:srgbClr val="181818"/>
                          </a:solidFill>
                          <a:latin typeface="Malgun Gothic"/>
                        </a:rPr>
                        <a:t>시스템 요구사항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50" b="0">
                          <a:solidFill>
                            <a:srgbClr val="181818"/>
                          </a:solidFill>
                          <a:latin typeface="Malgun Gothic"/>
                        </a:rPr>
                        <a:t>개발자 관점에서 기술적 조건으로 구체화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50" b="0">
                          <a:solidFill>
                            <a:srgbClr val="181818"/>
                          </a:solidFill>
                          <a:latin typeface="Malgun Gothic"/>
                        </a:rPr>
                        <a:t>주문 내역 API는 사용자 ID 기준으로 최근 1년 데이터를 반환한다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비기능적 요구사항 유형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기능 자체가 아니라 품질, 자원, 운영, 보안 같은 제약조건을 묻는 유형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572768"/>
          <a:ext cx="13304518" cy="45262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9840"/>
                <a:gridCol w="4679520"/>
                <a:gridCol w="7065158"/>
              </a:tblGrid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1">
                          <a:solidFill>
                            <a:srgbClr val="7D4A3A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1">
                          <a:solidFill>
                            <a:srgbClr val="7D4A3A"/>
                          </a:solidFill>
                          <a:latin typeface="Malgun Gothic"/>
                        </a:rPr>
                        <a:t>판단 기준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1">
                          <a:solidFill>
                            <a:srgbClr val="7D4A3A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성능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처리 속도, 응답 시간, 처리량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사용자 요청 응답 시간은 1분을 초과하지 않아야 한다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자원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CPU, 메모리, 저장 공간, 네트워크 사용 조건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시스템 운영 시 최소 메모리 용량을 확보해야 한다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운영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로그, 모니터링, 백업, 장애 대응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운영 중 로그 관리 및 모니터링 기능을 제공해야 한다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보안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인증, 권한, 암호화, 접근 통제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비인가 사용자의 접근을 차단해야 한다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이식성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다른 환경으로 이전·설치 가능성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Windows와 Linux에서 모두 동작해야 한다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6611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유지보수성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수정, 확장, 장애 분석이 쉬운 구조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220" b="0">
                          <a:solidFill>
                            <a:srgbClr val="181818"/>
                          </a:solidFill>
                          <a:latin typeface="Malgun Gothic"/>
                        </a:rPr>
                        <a:t>기능 변경 시 관련 모듈만 수정할 수 있어야 한다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6537960"/>
            <a:ext cx="128016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구분 포인트: 응답 시간은 성능 · CPU/메모리는 자원 · 로그/백업/모니터링은 운영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 개발 프로세스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도출 → 분석 → 명세 → 확인 순서로 요구사항을 체계화한다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00200"/>
            <a:ext cx="3006089" cy="932688"/>
          </a:xfrm>
          <a:prstGeom prst="roundRect">
            <a:avLst/>
          </a:prstGeom>
          <a:solidFill>
            <a:srgbClr val="EDDDD3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673352"/>
            <a:ext cx="2859785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도출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Elicitation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56482" y="1898660"/>
            <a:ext cx="265176" cy="335767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49089" y="1600200"/>
            <a:ext cx="3006089" cy="93268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22242" y="1673352"/>
            <a:ext cx="2859785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분석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2612" y="1898660"/>
            <a:ext cx="265176" cy="335767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75219" y="1600200"/>
            <a:ext cx="3006089" cy="932688"/>
          </a:xfrm>
          <a:prstGeom prst="roundRect">
            <a:avLst/>
          </a:prstGeom>
          <a:solidFill>
            <a:srgbClr val="FFFDF9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8371" y="1673352"/>
            <a:ext cx="2859785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명세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Specification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8741" y="1898660"/>
            <a:ext cx="265176" cy="335767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1350" y="1600200"/>
            <a:ext cx="3006089" cy="932688"/>
          </a:xfrm>
          <a:prstGeom prst="roundRect">
            <a:avLst/>
          </a:prstGeom>
          <a:solidFill>
            <a:srgbClr val="EDDDD3"/>
          </a:solidFill>
          <a:ln w="1016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74502" y="1673352"/>
            <a:ext cx="2859785" cy="7863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확인</a:t>
            </a:r>
          </a:p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181818"/>
                </a:solidFill>
                <a:latin typeface="Malgun Gothic"/>
              </a:rPr>
              <a:t>Validation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777240" y="3063240"/>
          <a:ext cx="130759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5623560"/>
                <a:gridCol w="617220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30" b="1">
                          <a:solidFill>
                            <a:srgbClr val="7D4A3A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30" b="1">
                          <a:solidFill>
                            <a:srgbClr val="7D4A3A"/>
                          </a:solidFill>
                          <a:latin typeface="Malgun Gothic"/>
                        </a:rPr>
                        <a:t>핵심 활동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30" b="1">
                          <a:solidFill>
                            <a:srgbClr val="7D4A3A"/>
                          </a:solidFill>
                          <a:latin typeface="Malgun Gothic"/>
                        </a:rPr>
                        <a:t>주요 기법·산출물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도출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요구사항이 어디에 있고 어떻게 수집할지 식별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인터뷰, 설문, 브레인스토밍, 워크숍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분석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타당성, 비용, 일정, 충돌·누락 여부 파악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DFD, 자료사전, 유스케이스, 의사결정표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명세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분석된 요구사항을 모델과 문서로 작성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정형 명세, 비정형 명세, 요구사항 명세서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확인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명세서가 고객 요구를 정확히 반영했는지 검토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30" b="0">
                          <a:solidFill>
                            <a:srgbClr val="181818"/>
                          </a:solidFill>
                          <a:latin typeface="Malgun Gothic"/>
                        </a:rPr>
                        <a:t>동료 검토, 워크스루, 인스펙션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914400" y="6720840"/>
            <a:ext cx="128016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7D4A3A"/>
                </a:solidFill>
                <a:latin typeface="Malgun Gothic"/>
              </a:rPr>
              <a:t>순서 암기: 도·분·명·확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 도출 기법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이해관계자로부터 요구사항을 수집하는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45920"/>
            <a:ext cx="388620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645920"/>
            <a:ext cx="73152" cy="157276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10512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D4A3A"/>
                </a:solidFill>
                <a:latin typeface="Malgun Gothic"/>
              </a:rPr>
              <a:t>인터뷰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12848"/>
            <a:ext cx="356616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181818"/>
                </a:solidFill>
                <a:latin typeface="Malgun Gothic"/>
              </a:rPr>
              <a:t>이해관계자를 직접 만나 질문하고 답변을 수집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1645920"/>
            <a:ext cx="388620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0" y="1645920"/>
            <a:ext cx="73152" cy="157276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810512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D4A3A"/>
                </a:solidFill>
                <a:latin typeface="Malgun Gothic"/>
              </a:rPr>
              <a:t>설문조사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212848"/>
            <a:ext cx="356616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181818"/>
                </a:solidFill>
                <a:latin typeface="Malgun Gothic"/>
              </a:rPr>
              <a:t>다수 사용자 의견을 표준화된 문항으로 수집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1645920"/>
            <a:ext cx="388620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601200" y="1645920"/>
            <a:ext cx="73152" cy="157276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0" y="1810512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D4A3A"/>
                </a:solidFill>
                <a:latin typeface="Malgun Gothic"/>
              </a:rPr>
              <a:t>브레인스토밍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2212848"/>
            <a:ext cx="356616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181818"/>
                </a:solidFill>
                <a:latin typeface="Malgun Gothic"/>
              </a:rPr>
              <a:t>짧은 시간에 다양한 아이디어를 자유롭게 도출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730752"/>
            <a:ext cx="388620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3730752"/>
            <a:ext cx="73152" cy="157276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895344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D4A3A"/>
                </a:solidFill>
                <a:latin typeface="Malgun Gothic"/>
              </a:rPr>
              <a:t>워크숍/JAD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297680"/>
            <a:ext cx="356616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181818"/>
                </a:solidFill>
                <a:latin typeface="Malgun Gothic"/>
              </a:rPr>
              <a:t>이해관계자가 모여 집중적으로 요구사항을 합의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212080" y="3730752"/>
            <a:ext cx="388620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12080" y="3730752"/>
            <a:ext cx="73152" cy="157276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895344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D4A3A"/>
                </a:solidFill>
                <a:latin typeface="Malgun Gothic"/>
              </a:rPr>
              <a:t>관찰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4297680"/>
            <a:ext cx="356616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181818"/>
                </a:solidFill>
                <a:latin typeface="Malgun Gothic"/>
              </a:rPr>
              <a:t>실제 업무 수행 과정을 직접 보고 문제점 파악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01200" y="3730752"/>
            <a:ext cx="3886200" cy="1572768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01200" y="3730752"/>
            <a:ext cx="73152" cy="157276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84080" y="3895344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7D4A3A"/>
                </a:solidFill>
                <a:latin typeface="Malgun Gothic"/>
              </a:rPr>
              <a:t>프로토타이핑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4297680"/>
            <a:ext cx="356616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181818"/>
                </a:solidFill>
                <a:latin typeface="Malgun Gothic"/>
              </a:rPr>
              <a:t>시제품을 보여주며 요구사항을 구체화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6263640"/>
            <a:ext cx="128016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도출 단계의 목적은 “정답 작성”이 아니라 요구사항을 빠짐없이 발견하는 것이다.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 분석 기법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도출된 요구사항의 모순, 누락, 타당성, 우선순위를 분석하는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45920"/>
          <a:ext cx="6492239" cy="40690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4526279"/>
              </a:tblGrid>
              <a:tr h="58129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핵심 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581297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DFD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자료의 흐름과 변환 과정을 도형 중심으로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81297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자료사전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DFD에 나타난 자료를 더 자세히 정의한 메타데이터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81297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유스케이스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사용자 관점에서 시스템이 제공해야 할 기능을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81297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의사결정표/트리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조건과 결과가 복잡한 업무 규칙을 정리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81297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UML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객체지향 시스템을 표준 모델링 언어로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81297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HIPO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입력·처리·출력 중심으로 기능을 계층적으로 표현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818120" y="1645920"/>
            <a:ext cx="5989320" cy="406908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645920"/>
            <a:ext cx="73152" cy="406908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810512"/>
            <a:ext cx="566928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좋은 요구사항의 조건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212848"/>
            <a:ext cx="5669280" cy="34107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완전성: 필요한 기능을 빠짐없이 포함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일관성: 요구사항 간 모순 없음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명확성: 해석이 하나로 정해짐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검증 가능성: 충족 여부를 확인 가능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추적 가능성: 출처와 변경 이력 추적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309360"/>
            <a:ext cx="128016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모호한 표현은 줄이고, 측정 가능한 기준으로 바꾸는 것이 분석의 핵심이다.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 명세 기법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분석된 요구사항을 문서와 모델로 표현하는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737360"/>
            <a:ext cx="6172200" cy="2971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68680" y="1737360"/>
            <a:ext cx="73152" cy="29718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901952"/>
            <a:ext cx="5852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D4A3A"/>
                </a:solidFill>
                <a:latin typeface="Malgun Gothic"/>
              </a:rPr>
              <a:t>정형 명세 기법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304288"/>
            <a:ext cx="5852160" cy="23134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표현 방식: 수학적 기호, 정형화된 표기법</a:t>
            </a:r>
          </a:p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장점: 정확하고 간결하며 검증 가능</a:t>
            </a:r>
          </a:p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단점: 작성과 이해가 어렵다</a:t>
            </a:r>
          </a:p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예시: Z, VDM, Petri net, CSP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737360"/>
            <a:ext cx="6172200" cy="29718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1737360"/>
            <a:ext cx="73152" cy="29718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1901952"/>
            <a:ext cx="5852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7D4A3A"/>
                </a:solidFill>
                <a:latin typeface="Malgun Gothic"/>
              </a:rPr>
              <a:t>비정형 명세 기법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304288"/>
            <a:ext cx="5852160" cy="23134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표현 방식: 자연어, 표, 그림, 다이어그램</a:t>
            </a:r>
          </a:p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장점: 이해하기 쉽고 의사소통이 용이</a:t>
            </a:r>
          </a:p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단점: 모호성·해석 차이가 생길 수 있다</a:t>
            </a:r>
          </a:p>
          <a:p>
            <a:pPr algn="l">
              <a:lnSpc>
                <a:spcPct val="105000"/>
              </a:lnSpc>
            </a:pPr>
            <a:r>
              <a:rPr sz="1600" b="0">
                <a:solidFill>
                  <a:srgbClr val="181818"/>
                </a:solidFill>
                <a:latin typeface="Malgun Gothic"/>
              </a:rPr>
              <a:t>예시: FSM, Decision Table, ER 모델링, State Chart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94960"/>
            <a:ext cx="585216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7D4A3A"/>
                </a:solidFill>
                <a:latin typeface="Malgun Gothic"/>
              </a:rPr>
              <a:t>정형 = 수학적·정확하지만 어려움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5394960"/>
            <a:ext cx="585216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7D4A3A"/>
                </a:solidFill>
                <a:latin typeface="Malgun Gothic"/>
              </a:rPr>
              <a:t>비정형 = 자연어·이해 쉽지만 모호함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6263640"/>
            <a:ext cx="1280160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181818"/>
                </a:solidFill>
                <a:latin typeface="Malgun Gothic"/>
              </a:rPr>
              <a:t>실기에서는 두 명세 기법의 표현 방식, 장점, 단점을 구분해서 쓰는 문제가 나올 수 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 확인 기법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명세서가 고객 요구를 정확하게 반영했는지 검토하는 단계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828800"/>
          <a:ext cx="130759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6949440"/>
                <a:gridCol w="3840480"/>
              </a:tblGrid>
              <a:tr h="68580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00" b="1">
                          <a:solidFill>
                            <a:srgbClr val="7D4A3A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00" b="1">
                          <a:solidFill>
                            <a:srgbClr val="7D4A3A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00" b="1">
                          <a:solidFill>
                            <a:srgbClr val="7D4A3A"/>
                          </a:solidFill>
                          <a:latin typeface="Malgun Gothic"/>
                        </a:rPr>
                        <a:t>구분 포인트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동료 검토
Peer Review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요구사항 명세서 작성자가 직접 설명하고 동료들이 검토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작성자 설명 + 동료 검토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워크스루
Walk Through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검토 자료를 사전 배포한 뒤 회의를 통해 오류를 조기 검출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사전 배포 + 비공식 검토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8580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인스펙션
Inspection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작성자 외 전문 검토 그룹이 공식 절차에 따라 검토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가장 공식적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5440680"/>
            <a:ext cx="12801600" cy="4572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7D4A3A"/>
                </a:solidFill>
                <a:latin typeface="Malgun Gothic"/>
              </a:rPr>
              <a:t>암기 포인트: 워크스루는 비공식적 검토, 인스펙션은 가장 공식적인 검토 방법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요구사항 관리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확정된 요구사항의 변경, 이력, 추적성을 통제하는 활동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요구사항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91640"/>
          <a:ext cx="758952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760720"/>
              </a:tblGrid>
              <a:tr h="63246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324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베이스라인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검토와 합의를 거쳐 공식적으로 확정된 기준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324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변경 관리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요구사항 변경 요청을 평가하고 승인·반영하는 활동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324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형상 관리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문서와 산출물의 버전, 변경 이력, 상태를 관리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324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추적성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요구사항의 출처, 설계, 구현, 테스트와의 연결 관계를 추적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32460"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우선순위 관리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80" b="0">
                          <a:solidFill>
                            <a:srgbClr val="181818"/>
                          </a:solidFill>
                          <a:latin typeface="Malgun Gothic"/>
                        </a:rPr>
                        <a:t>중요도와 비용을 고려하여 구현 순서를 정하는 활동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915400" y="1691640"/>
            <a:ext cx="4892040" cy="3794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915400" y="1691640"/>
            <a:ext cx="73152" cy="3794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856232"/>
            <a:ext cx="457200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요구사항 추적표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2258568"/>
            <a:ext cx="4572000" cy="3136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요구사항 ID를 기준으로 설계 산출물, 구현 모듈, 테스트 케이스와의 연결을 관리한다.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요구사항 변경 시 영향을 받는 범위를 빠르게 확인할 수 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6144768"/>
            <a:ext cx="128016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추적성은 “요구사항이 어디서 왔고, 어디까지 반영되었는지”를 확인하는 능력이다.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DFD(Data Flow Diagram)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자료의 흐름과 변환 과정을 도형 중심으로 표현하는 구조적 분석 도구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분석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" y="2057400"/>
            <a:ext cx="1828800" cy="658368"/>
          </a:xfrm>
          <a:prstGeom prst="rect">
            <a:avLst/>
          </a:prstGeom>
          <a:solidFill>
            <a:srgbClr val="FFFDF9"/>
          </a:solidFill>
          <a:ln w="15240">
            <a:solidFill>
              <a:srgbClr val="A26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21408"/>
            <a:ext cx="1828800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외부 개체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Terminator</a:t>
            </a:r>
          </a:p>
        </p:txBody>
      </p:sp>
      <p:sp>
        <p:nvSpPr>
          <p:cNvPr id="11" name="Oval 10"/>
          <p:cNvSpPr/>
          <p:nvPr/>
        </p:nvSpPr>
        <p:spPr>
          <a:xfrm>
            <a:off x="3794760" y="1828800"/>
            <a:ext cx="1965960" cy="1051560"/>
          </a:xfrm>
          <a:prstGeom prst="ellipse">
            <a:avLst/>
          </a:prstGeom>
          <a:solidFill>
            <a:srgbClr val="EDDDD3"/>
          </a:solidFill>
          <a:ln w="15240">
            <a:solidFill>
              <a:srgbClr val="A26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039112"/>
            <a:ext cx="1965960" cy="59436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81818"/>
                </a:solidFill>
                <a:latin typeface="Malgun Gothic"/>
              </a:rPr>
              <a:t>처리</a:t>
            </a:r>
          </a:p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181818"/>
                </a:solidFill>
                <a:latin typeface="Malgun Gothic"/>
              </a:rPr>
              <a:t>Process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12280" y="2057400"/>
            <a:ext cx="2103120" cy="658368"/>
          </a:xfrm>
          <a:prstGeom prst="rect">
            <a:avLst/>
          </a:prstGeom>
          <a:solidFill>
            <a:srgbClr val="FFFDF9"/>
          </a:solidFill>
          <a:ln w="15240">
            <a:solidFill>
              <a:srgbClr val="A26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2121408"/>
            <a:ext cx="2103120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자료 저장소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Data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04120" y="2057400"/>
            <a:ext cx="1828800" cy="658368"/>
          </a:xfrm>
          <a:prstGeom prst="rect">
            <a:avLst/>
          </a:prstGeom>
          <a:solidFill>
            <a:srgbClr val="FFFDF9"/>
          </a:solidFill>
          <a:ln w="15240">
            <a:solidFill>
              <a:srgbClr val="A26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04120" y="2121408"/>
            <a:ext cx="1828800" cy="53035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외부 개체</a:t>
            </a:r>
          </a:p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181818"/>
                </a:solidFill>
                <a:latin typeface="Malgun Gothic"/>
              </a:rPr>
              <a:t>Terminator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2377440"/>
            <a:ext cx="960120" cy="1828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760720" y="2377440"/>
            <a:ext cx="1051560" cy="1828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15400" y="2377440"/>
            <a:ext cx="1188720" cy="1828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99339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C544E"/>
                </a:solidFill>
                <a:latin typeface="Malgun Gothic"/>
              </a:rPr>
              <a:t>자료 흐름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199339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C544E"/>
                </a:solidFill>
                <a:latin typeface="Malgun Gothic"/>
              </a:rPr>
              <a:t>자료 흐름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993392"/>
            <a:ext cx="82296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5C544E"/>
                </a:solidFill>
                <a:latin typeface="Malgun Gothic"/>
              </a:rPr>
              <a:t>자료 흐름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777240" y="3794760"/>
          <a:ext cx="1307592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789920"/>
              </a:tblGrid>
              <a:tr h="484632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구성 요소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프로세스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자료를 변환시키는 처리 과정. 처리, 기능, 버블이라고도 함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 흐름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이동이나 연관 관계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 저장소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시스템에서 자료가 저장되는 파일 또는 데이터베이스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84632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단말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시스템과 교신하는 외부 개체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914400" y="6556248"/>
            <a:ext cx="1280160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DFD는 “무엇이 어디서 와서, 어떤 처리로 변환되고, 어디로 가는지”를 표현한다.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자료사전(Data Dictionary)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DFD에 나타난 자료를 더 자세히 정의하고 기록한 메타데이터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분석 도구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64208"/>
          <a:ext cx="13075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572000"/>
                <a:gridCol w="7223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기호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=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정의: ~로 구성되어 있다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주문 = 주문번호 + 주문일자 + 상품목록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연결: 그리고(and)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고객 = 이름 + 연락처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( )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생략: 선택 가능한 자료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고객 = 이름 + (이메일)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[ ]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선택: 또는(or)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결제수단 = [카드 | 계좌이체]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{ }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반복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주문 = 주문번호 + {상품}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**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자료의 설명: 주석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** 상품은 1개 이상 **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6537960"/>
            <a:ext cx="128016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암기 포인트: = 정의, + 연결, ( ) 생략, [ ] 선택, { } 반복, ** 주석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UML(Unified Modeling Language)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시스템 개발 과정에서 의사소통을 돕기 위해 표준화한 범용 모델링 언어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27632"/>
            <a:ext cx="5943600" cy="22860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627632"/>
            <a:ext cx="73152" cy="22860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92224"/>
            <a:ext cx="56235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UML 구성 요소 3가지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94560"/>
            <a:ext cx="5623560" cy="16276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>
                <a:solidFill>
                  <a:srgbClr val="181818"/>
                </a:solidFill>
                <a:latin typeface="Malgun Gothic"/>
              </a:rPr>
              <a:t>사물(Things): 모델을 구성하는 기본 요소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181818"/>
                </a:solidFill>
                <a:latin typeface="Malgun Gothic"/>
              </a:rPr>
              <a:t>관계(Relationships): 사물 사이의 연관성</a:t>
            </a:r>
          </a:p>
          <a:p>
            <a:pPr algn="l">
              <a:lnSpc>
                <a:spcPct val="105000"/>
              </a:lnSpc>
            </a:pPr>
            <a:r>
              <a:rPr sz="1500" b="0">
                <a:solidFill>
                  <a:srgbClr val="181818"/>
                </a:solidFill>
                <a:latin typeface="Malgun Gothic"/>
              </a:rPr>
              <a:t>다이어그램(Diagram): 사물과 관계를 도형으로 표현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627632"/>
            <a:ext cx="6492240" cy="301752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0" y="1627632"/>
            <a:ext cx="73152" cy="301752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1792224"/>
            <a:ext cx="617220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유스케이스 스테레오타입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194560"/>
            <a:ext cx="6172200" cy="235915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«include»: 반드시 포함되어 실행되는 필수 관계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예: 주문하기 기능은 결제하기 기능을 반드시 포함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«extend»: 특정 조건에서만 선택적으로 실행되는 확장 관계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예: 결제하기 기능은 쿠폰 적용 기능으로 확장될 수 있음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828800" y="5166360"/>
          <a:ext cx="109728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754880"/>
                <a:gridCol w="4389120"/>
              </a:tblGrid>
              <a:tr h="47244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관계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구분 포인트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47244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0">
                          <a:solidFill>
                            <a:srgbClr val="181818"/>
                          </a:solidFill>
                          <a:latin typeface="Malgun Gothic"/>
                        </a:rPr>
                        <a:t>include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0">
                          <a:solidFill>
                            <a:srgbClr val="181818"/>
                          </a:solidFill>
                          <a:latin typeface="Malgun Gothic"/>
                        </a:rPr>
                        <a:t>반드시 포함되어 실행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0">
                          <a:solidFill>
                            <a:srgbClr val="181818"/>
                          </a:solidFill>
                          <a:latin typeface="Malgun Gothic"/>
                        </a:rPr>
                        <a:t>필수 기능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7244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0">
                          <a:solidFill>
                            <a:srgbClr val="181818"/>
                          </a:solidFill>
                          <a:latin typeface="Malgun Gothic"/>
                        </a:rPr>
                        <a:t>extend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0">
                          <a:solidFill>
                            <a:srgbClr val="181818"/>
                          </a:solidFill>
                          <a:latin typeface="Malgun Gothic"/>
                        </a:rPr>
                        <a:t>특정 조건에서만 선택적으로 실행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0">
                          <a:solidFill>
                            <a:srgbClr val="181818"/>
                          </a:solidFill>
                          <a:latin typeface="Malgun Gothic"/>
                        </a:rPr>
                        <a:t>선택 기능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914400" y="6784848"/>
            <a:ext cx="1280160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암기 포인트: include = 항상 포함 · extend = 조건부 확장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UML 관계 6종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표기와 의미를 함께 외워야 하는 실기 빈출 영역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91640"/>
            <a:ext cx="388620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91640"/>
            <a:ext cx="73152" cy="1508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856232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7D4A3A"/>
                </a:solidFill>
                <a:latin typeface="Malgun Gothic"/>
              </a:rPr>
              <a:t>연관 Association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58568"/>
            <a:ext cx="3566160" cy="850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클래스 간 서로 참조하는 관계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표기: 실선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84648" y="1691640"/>
            <a:ext cx="388620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84648" y="1691640"/>
            <a:ext cx="73152" cy="1508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856232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7D4A3A"/>
                </a:solidFill>
                <a:latin typeface="Malgun Gothic"/>
              </a:rPr>
              <a:t>집합 Aggregation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67528" y="2258568"/>
            <a:ext cx="3566160" cy="850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전체-부분 관계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부분이 독립적으로 존재 가능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표기: 빈 마름모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92056" y="1691640"/>
            <a:ext cx="388620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92056" y="1691640"/>
            <a:ext cx="73152" cy="1508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74936" y="1856232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7D4A3A"/>
                </a:solidFill>
                <a:latin typeface="Malgun Gothic"/>
              </a:rPr>
              <a:t>포함 Composition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4936" y="2258568"/>
            <a:ext cx="3566160" cy="850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전체-부분 관계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부분이 독립적으로 존재 불가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표기: 채운 마름모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657600"/>
            <a:ext cx="388620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657600"/>
            <a:ext cx="73152" cy="1508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822191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7D4A3A"/>
                </a:solidFill>
                <a:latin typeface="Malgun Gothic"/>
              </a:rPr>
              <a:t>의존 Dependency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224528"/>
            <a:ext cx="3566160" cy="850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한 클래스가 다른 클래스를 일시적으로 사용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표기: 점선 화살표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84648" y="3657600"/>
            <a:ext cx="388620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84648" y="3657600"/>
            <a:ext cx="73152" cy="1508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67528" y="3822191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7D4A3A"/>
                </a:solidFill>
                <a:latin typeface="Malgun Gothic"/>
              </a:rPr>
              <a:t>실체화 Realization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67528" y="4224528"/>
            <a:ext cx="3566160" cy="850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인터페이스를 구현하는 관계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표기: 점선 + 빈 삼각형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92056" y="3657600"/>
            <a:ext cx="3886200" cy="15087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92056" y="3657600"/>
            <a:ext cx="73152" cy="15087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74936" y="3822191"/>
            <a:ext cx="356616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7D4A3A"/>
                </a:solidFill>
                <a:latin typeface="Malgun Gothic"/>
              </a:rPr>
              <a:t>일반화 Generalization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74936" y="4224528"/>
            <a:ext cx="3566160" cy="8503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상속 관계, is-a 관계</a:t>
            </a:r>
          </a:p>
          <a:p>
            <a:pPr algn="l">
              <a:lnSpc>
                <a:spcPct val="105000"/>
              </a:lnSpc>
            </a:pPr>
            <a:r>
              <a:rPr sz="1250" b="0">
                <a:solidFill>
                  <a:srgbClr val="181818"/>
                </a:solidFill>
                <a:latin typeface="Malgun Gothic"/>
              </a:rPr>
              <a:t>표기: 실선 + 빈 삼각형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6126480"/>
            <a:ext cx="1289304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750" b="1">
                <a:solidFill>
                  <a:srgbClr val="7D4A3A"/>
                </a:solidFill>
                <a:latin typeface="Malgun Gothic"/>
              </a:rPr>
              <a:t>집합 vs 포함: 부분 객체가 전체와 독립적으로 존재할 수 있으면 집합, 전체가 사라질 때 함께 사라지면 포함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6629400"/>
            <a:ext cx="1289304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550" b="0">
                <a:solidFill>
                  <a:srgbClr val="181818"/>
                </a:solidFill>
                <a:latin typeface="Malgun Gothic"/>
              </a:rPr>
              <a:t>예: 도서관-도서는 집합, 주문-주문항목은 포함으로 구분하기 쉽다.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UML 다이어그램의 종류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구조적 다이어그램은 정적 구조, 행위적 다이어그램은 동적 동작을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UML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21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490472"/>
          <a:ext cx="13304520" cy="54406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286000"/>
                <a:gridCol w="9646920"/>
              </a:tblGrid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80" b="1">
                          <a:solidFill>
                            <a:srgbClr val="7D4A3A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80" b="1">
                          <a:solidFill>
                            <a:srgbClr val="7D4A3A"/>
                          </a:solidFill>
                          <a:latin typeface="Malgun Gothic"/>
                        </a:rPr>
                        <a:t>다이어그램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280" b="1">
                          <a:solidFill>
                            <a:srgbClr val="7D4A3A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구조적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클래스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클래스와 클래스 간 관계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구조적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객체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특정 시점의 객체와 객체 사이 관계 표현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구조적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컴포넌트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구현 모듈인 컴포넌트 간 관계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구조적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배치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물리적 노드, 실행 환경, 배치 구조 표현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구조적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패키지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모델 요소를 그룹화한 패키지 간 관계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행위적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유스케이스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사용자 관점에서 시스템 기능 표현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행위적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시퀀스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객체 간 메시지 순서를 시간 흐름에 따라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행위적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커뮤니케이션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객체 간 상호작용과 메시지 관계 표현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행위적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객체가 속한 클래스의 상태 변화 표현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494607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행위적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활동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80" b="0">
                          <a:solidFill>
                            <a:srgbClr val="181818"/>
                          </a:solidFill>
                          <a:latin typeface="Malgun Gothic"/>
                        </a:rPr>
                        <a:t>처리 로직이나 업무 흐름 표현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UI 유형과 UX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UI는 사용자와 시스템 사이의 물리적·가상적 매개체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UI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22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45920"/>
          <a:ext cx="130759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7772400"/>
                <a:gridCol w="3931920"/>
              </a:tblGrid>
              <a:tr h="56692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유형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50" b="1">
                          <a:solidFill>
                            <a:srgbClr val="7D4A3A"/>
                          </a:solidFill>
                          <a:latin typeface="Malgun Gothic"/>
                        </a:rPr>
                        <a:t>예시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CLI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텍스트 명령어 입력 방식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터미널, CMD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GUI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그래픽 기반 아이콘·창 조작 방식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Windows, macOS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NUI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신체 동작, 터치, 제스처 등 자연스러운 조작 방식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터치스크린, 모션 인식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VUI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음성 명령으로 조작하는 방식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50" b="0">
                          <a:solidFill>
                            <a:srgbClr val="181818"/>
                          </a:solidFill>
                          <a:latin typeface="Malgun Gothic"/>
                        </a:rPr>
                        <a:t>Siri, Alexa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68680" y="5074920"/>
            <a:ext cx="6126480" cy="12801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5074920"/>
            <a:ext cx="73152" cy="12801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239512"/>
            <a:ext cx="580644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UI(User Interface)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641848"/>
            <a:ext cx="5806440" cy="6217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81818"/>
                </a:solidFill>
                <a:latin typeface="Malgun Gothic"/>
              </a:rPr>
              <a:t>사용자가 시스템과 상호작용하는 화면, 버튼, 입력창, 메뉴 등 요소 자체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35240" y="5074920"/>
            <a:ext cx="6126480" cy="128016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5074920"/>
            <a:ext cx="73152" cy="128016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19" y="5239512"/>
            <a:ext cx="580644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7D4A3A"/>
                </a:solidFill>
                <a:latin typeface="Malgun Gothic"/>
              </a:rPr>
              <a:t>UX(User Experience)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19" y="5641848"/>
            <a:ext cx="5806440" cy="62179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181818"/>
                </a:solidFill>
                <a:latin typeface="Malgun Gothic"/>
              </a:rPr>
              <a:t>사용자가 시스템을 사용하면서 느끼는 총체적 경험. UI를 포함하는 더 넓은 개념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UI 설계 원칙과 설계 도구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UI 원칙은 “직·유·학·유”, 설계 도구는 산출물의 완성도에 따라 구분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UI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1627632"/>
          <a:ext cx="62179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663440"/>
              </a:tblGrid>
              <a:tr h="61264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원칙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의미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직관성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누구나 쉽게 이해하고 사용할 수 있어야 함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유효성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사용자의 목적을 정확하게 달성할 수 있어야 함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학습성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누구나 쉽게 배우고 익힐 수 있어야 함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유연성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사용자의 요구사항을 수용하고 오류를 최소화해야 함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635240" y="1627632"/>
          <a:ext cx="621792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389120"/>
              </a:tblGrid>
              <a:tr h="612648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도구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420" b="1">
                          <a:solidFill>
                            <a:srgbClr val="7D4A3A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와이어프레임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레이아웃을 선으로 표현한 화면 뼈대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목업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실제 화면처럼 시각적으로 구현한 정적 모형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프로토타입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실제 동작처럼 인터랙션을 구현한 시제품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612648"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스토리보드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320" b="0">
                          <a:solidFill>
                            <a:srgbClr val="181818"/>
                          </a:solidFill>
                          <a:latin typeface="Malgun Gothic"/>
                        </a:rPr>
                        <a:t>화면 흐름과 UI 요소를 순서대로 정리한 문서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14400" y="5715000"/>
            <a:ext cx="1280160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암기 포인트: 직관성·유효성·학습성·유연성 / 와이어프레임→목업→프로토타입→스토리보드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핵심 암기표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요구사항 확인 파트에서 바로 답으로 써야 하는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490472"/>
          <a:ext cx="13304520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1109960"/>
              </a:tblGrid>
              <a:tr h="553212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1">
                          <a:solidFill>
                            <a:srgbClr val="7D4A3A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320" b="1">
                          <a:solidFill>
                            <a:srgbClr val="7D4A3A"/>
                          </a:solidFill>
                          <a:latin typeface="Malgun Gothic"/>
                        </a:rPr>
                        <a:t>암기 표현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SDLC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폭포수=선형 순차 / 프로토타입=시제품 / 나선형=위험 분석 / 애자일=반복·변화 대응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XP 가치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의사소통, 단순성, 용기, 존중, 피드백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스크럼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제품 백로그, 스프린트, 스프린트 백로그, 데일리 스크럼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요구사항 개발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도출 → 분석 → 명세 → 확인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확인 기법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동료 검토, 워크스루, 인스펙션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DFD 구성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프로세스, 자료 흐름, 자료 저장소, 단말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자료사전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= 정의, + 연결, ( ) 생략, [ ] 선택, { } 반복, ** 주석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UML 관계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연관, 집합, 포함, 의존, 실체화, 일반화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53212"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UI 원칙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190" b="0">
                          <a:solidFill>
                            <a:srgbClr val="181818"/>
                          </a:solidFill>
                          <a:latin typeface="Malgun Gothic"/>
                        </a:rPr>
                        <a:t>직관성, 유효성, 학습성, 유연성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기출형 빈칸 문제 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개념명과 절차를 정확한 용어로 쓰는 연습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연습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12893040" cy="5120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1. 폭포수 모형은 이전 단계가 완료되어야 다음 단계로 넘어가는 (        ) 방식이다.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2. 나선형 모형은 계획 수립 → (        ) → 개발 및 검증 → 고객 평가 순서로 진행된다.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3. XP의 5가지 핵심 가치는 의사소통, 단순성, 용기, 존중, (        )이다.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4. 스크럼에서 개발에 필요한 모든 요구사항을 우선순위에 따라 나열한 목록은 (        )이다.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5. 요구사항 개발 프로세스의 순서는 도출 → 분석 → (        ) → 확인이다.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6. 작성자 외 전문 검토 그룹이 공식 절차에 따라 검토하는 방법은 (        )이다.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기출형 빈칸 문제 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DFD, 자료사전, UML, UI 구분 연습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연습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600200"/>
            <a:ext cx="12893040" cy="51206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7. DFD의 구성요소는 프로세스, 자료 흐름, 자료 저장소, (        )이다.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8. 자료사전에서 [ ]는 자료의 (        )을 의미한다.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9. UML에서 전체-부분 관계이며 부분이 독립적으로 존재 가능한 관계는 (        )이다.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10. UML에서 인터페이스를 구현하는 관계는 (        )이다.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11. 유스케이스 관계 중 반드시 포함되어 실행되는 관계는 «        »이다.</a:t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/>
            </a:r>
          </a:p>
          <a:p>
            <a:pPr algn="l">
              <a:lnSpc>
                <a:spcPct val="105000"/>
              </a:lnSpc>
            </a:pPr>
            <a:r>
              <a:rPr sz="1900" b="0">
                <a:solidFill>
                  <a:srgbClr val="181818"/>
                </a:solidFill>
                <a:latin typeface="Malgun Gothic"/>
              </a:rPr>
              <a:t>12. UI 설계 원칙은 직관성, 유효성, 학습성, (        )이다.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정답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빈칸 문제 답안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연습 문제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828800" y="1783080"/>
          <a:ext cx="10972800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389120"/>
                <a:gridCol w="1097280"/>
                <a:gridCol w="4389120"/>
              </a:tblGrid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7D4A3A"/>
                          </a:solidFill>
                          <a:latin typeface="Malgun Gothic"/>
                        </a:rPr>
                        <a:t>번호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7D4A3A"/>
                          </a:solidFill>
                          <a:latin typeface="Malgun Gothic"/>
                        </a:rPr>
                        <a:t>정답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7D4A3A"/>
                          </a:solidFill>
                          <a:latin typeface="Malgun Gothic"/>
                        </a:rPr>
                        <a:t>번호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>
                          <a:solidFill>
                            <a:srgbClr val="7D4A3A"/>
                          </a:solidFill>
                          <a:latin typeface="Malgun Gothic"/>
                        </a:rPr>
                        <a:t>정답</a:t>
                      </a:r>
                    </a:p>
                  </a:txBody>
                  <a:tcPr marL="54864" marR="54864" marT="36576" marB="36576">
                    <a:solidFill>
                      <a:srgbClr val="EDDDD3"/>
                    </a:solidFill>
                  </a:tcPr>
                </a:tc>
              </a:tr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선형 순차적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7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단말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위험 분석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8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선택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피드백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9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집합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제품 백로그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10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실체화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명세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11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include</a:t>
                      </a:r>
                    </a:p>
                  </a:txBody>
                  <a:tcPr marL="54864" marR="54864" marT="36576" marB="36576">
                    <a:solidFill>
                      <a:srgbClr val="FFFDF9"/>
                    </a:solidFill>
                  </a:tcPr>
                </a:tc>
              </a:tr>
              <a:tr h="568234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인스펙션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12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0">
                          <a:solidFill>
                            <a:srgbClr val="181818"/>
                          </a:solidFill>
                          <a:latin typeface="Malgun Gothic"/>
                        </a:rPr>
                        <a:t>유연성</a:t>
                      </a:r>
                    </a:p>
                  </a:txBody>
                  <a:tcPr marL="54864" marR="54864" marT="36576" marB="36576">
                    <a:solidFill>
                      <a:srgbClr val="F2ECE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914400" y="6355080"/>
            <a:ext cx="1280160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실기 답안은 한글 용어를 우선으로 쓰고, 필요한 경우 영문 약어를 함께 기억한다.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493776"/>
            <a:ext cx="9601200" cy="50292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>
                <a:solidFill>
                  <a:srgbClr val="181818"/>
                </a:solidFill>
                <a:latin typeface="Malgun Gothic"/>
              </a:rPr>
              <a:t>자료 기준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70432"/>
            <a:ext cx="1920240" cy="41148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033272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C544E"/>
                </a:solidFill>
                <a:latin typeface="Malgun Gothic"/>
              </a:rPr>
              <a:t>2026년 제2회 정보처리기사 실기 대비 요구사항 확인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247120" y="493776"/>
            <a:ext cx="2697480" cy="384048"/>
          </a:xfrm>
          <a:prstGeom prst="roundRect">
            <a:avLst/>
          </a:prstGeom>
          <a:solidFill>
            <a:srgbClr val="EDDD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0" y="539496"/>
            <a:ext cx="2697480" cy="28346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7D4A3A"/>
                </a:solidFill>
                <a:latin typeface="Malgun Gothic"/>
              </a:rPr>
              <a:t>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7571231"/>
            <a:ext cx="384048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정보처리기사 실기 · 요구사항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0" y="7571231"/>
            <a:ext cx="320040" cy="20116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C544E"/>
                </a:solidFill>
                <a:latin typeface="Malgun Gothic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691640"/>
            <a:ext cx="630936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691640"/>
            <a:ext cx="73152" cy="20574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56232"/>
            <a:ext cx="598932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학습 범위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258568"/>
            <a:ext cx="5989320" cy="1399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1과목 요구사항 확인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소프트웨어 생명 주기, 애자일, 현행 시스템 분석, 요구사항, DFD, 자료사전, UML, UI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1691640"/>
            <a:ext cx="6309360" cy="2057400"/>
          </a:xfrm>
          <a:prstGeom prst="roundRect">
            <a:avLst/>
          </a:prstGeom>
          <a:solidFill>
            <a:srgbClr val="FFFDF9"/>
          </a:solidFill>
          <a:ln w="12700">
            <a:solidFill>
              <a:srgbClr val="DBCF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43800" y="1691640"/>
            <a:ext cx="73152" cy="2057400"/>
          </a:xfrm>
          <a:prstGeom prst="rect">
            <a:avLst/>
          </a:prstGeom>
          <a:solidFill>
            <a:srgbClr val="A268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26679" y="1856232"/>
            <a:ext cx="5989320" cy="292608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자료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26679" y="2258568"/>
            <a:ext cx="5989320" cy="1399032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Q-Net 정보처리기사 2026년 출제기준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Q-Net 2026년 정기 기사 제2회 실기시험 일정</a:t>
            </a:r>
          </a:p>
          <a:p>
            <a:pPr algn="l">
              <a:lnSpc>
                <a:spcPct val="105000"/>
              </a:lnSpc>
            </a:pPr>
            <a:r>
              <a:rPr sz="1400" b="0">
                <a:solidFill>
                  <a:srgbClr val="181818"/>
                </a:solidFill>
                <a:latin typeface="Malgun Gothic"/>
              </a:rPr>
              <a:t>요구사항 확인 강의자료 보완본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07408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D4A3A"/>
                </a:solidFill>
                <a:latin typeface="Malgun Gothic"/>
              </a:rPr>
              <a:t>최종 정리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892040"/>
            <a:ext cx="12801600" cy="91440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181818"/>
                </a:solidFill>
                <a:latin typeface="Malgun Gothic"/>
              </a:rPr>
              <a:t>요구사항 확인은 암기량이 많지는 않지만, 용어를 정확히 구분해야 점수로 연결된다.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181818"/>
                </a:solidFill>
                <a:latin typeface="Malgun Gothic"/>
              </a:rPr>
              <a:t>절차, 기법명, UML 관계, 자료사전 기호는 답안 형태 그대로 암기한다.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27280" y="6446520"/>
            <a:ext cx="1097280" cy="411480"/>
          </a:xfrm>
          <a:prstGeom prst="rect">
            <a:avLst/>
          </a:prstGeom>
          <a:noFill/>
        </p:spPr>
        <p:txBody>
          <a:bodyPr wrap="square" lIns="36576" rIns="36576" tIns="36576" bIns="36576">
            <a:spAutoFit/>
          </a:bodyPr>
          <a:lstStyle/>
          <a:p>
            <a:pPr algn="r">
              <a:lnSpc>
                <a:spcPct val="100000"/>
              </a:lnSpc>
            </a:pPr>
            <a:r>
              <a:rPr sz="2200" b="1">
                <a:solidFill>
                  <a:srgbClr val="7D4A3A"/>
                </a:solidFill>
                <a:latin typeface="Malgun Gothic"/>
              </a:rPr>
              <a:t>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정보처리기사 실기 2026년 2회 대비 - 요구사항 확인 보완본</dc:title>
  <dc:subject>정보처리기사 실기 요구사항 확인 강의자료</dc:subject>
  <dc:creator>OpenAI</dc:creator>
  <cp:keywords/>
  <dc:description>Student-facing lecture deck. No instructor notes.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