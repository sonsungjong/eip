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1399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제2회 대비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1521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[2과목] 데이터 입출력 구현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315468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모델링 · 정규화 · SQL · 트랜잭션 · 병행 제어 · 회복 · 물리 설계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4800600"/>
            <a:ext cx="4754880" cy="502920"/>
          </a:xfrm>
          <a:prstGeom prst="rect">
            <a:avLst/>
          </a:prstGeom>
          <a:solidFill>
            <a:srgbClr val="E9D8CD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 단답형 · 약술형 · SQL 작성 대비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06440" y="4800600"/>
            <a:ext cx="6766560" cy="502920"/>
          </a:xfrm>
          <a:prstGeom prst="rect">
            <a:avLst/>
          </a:prstGeom>
          <a:solidFill>
            <a:srgbClr val="E9D8CD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암기: 설계 절차 → 정규화 → SQL → 트랜잭션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7516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입출력 구현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16002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모델링과 데이터베이스 설계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130552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3880" y="16002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다이어그램과 관계형 데이터 모델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2130552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715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27157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현상과 정규화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7157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83880" y="271576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 명령어와 SELECT 작성 순서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0" y="3246120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313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38313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트랜잭션과 ACID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400" y="4361688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38313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83880" y="383133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제어와 교착 상태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315200" y="4361688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946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83080" y="4946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회복 기법과 물리 데이터베이스 설계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14400" y="5477256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4946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83880" y="4946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실기형 확인 문제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315200" y="5477256"/>
            <a:ext cx="5303520" cy="0"/>
          </a:xfrm>
          <a:prstGeom prst="line">
            <a:avLst/>
          </a:prstGeom>
          <a:noFill/>
          <a:ln w="12700">
            <a:solidFill>
              <a:srgbClr val="C8AF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6812280"/>
            <a:ext cx="987552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순서: 개념 이해 → 용어 암기 → SQL 작성 → 기출형 빈칸 연습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모델링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모델링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 세계의 정보를 컴퓨터가 처리할 수 있도록 단순화·추상화하여 체계적으로 표현하는 과정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219456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585216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23960" y="1828800"/>
            <a:ext cx="484632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산출물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2194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개념적 모델링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2359152"/>
            <a:ext cx="5852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 세계에 대한 인식을 추상적 개념으로 표현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23960" y="2359152"/>
            <a:ext cx="4846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다이어그램, 개체·속성·관계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273552"/>
            <a:ext cx="219456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논리적 모델링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273552"/>
            <a:ext cx="585216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개념적 구조를 DBMS가 처리 가능한 논리 구조로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23960" y="3273552"/>
            <a:ext cx="484632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데이터 모델, 테이블, 속성, 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187952"/>
            <a:ext cx="21945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물리적 모델링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4187952"/>
            <a:ext cx="5852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데이터베이스 저장 방식과 접근 구조 설계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4187952"/>
            <a:ext cx="48463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구조, 인덱스, 파티션, 접근 경로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6172200"/>
            <a:ext cx="10515600" cy="54864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흐름 암기: 현실 세계 → 개념적 구조 → 논리적 구조 → 물리적 저장 구조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데이터베이스 설계 절차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모델링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요구사항을 분석한 뒤 개념적·논리적·물리적 구조로 구체화하고 SQL로 구현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0515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237744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783080"/>
            <a:ext cx="93726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내용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1051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258568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258568"/>
            <a:ext cx="9372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요구사항 수집, 저장 대상과 처리 조건 분석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16936"/>
            <a:ext cx="1051560" cy="65836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2916936"/>
            <a:ext cx="2377440" cy="65836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개념적 설계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916936"/>
            <a:ext cx="9372600" cy="65836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개체, 속성, 관계를 도출하고 E-R 다이어그램 작성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575304"/>
            <a:ext cx="1051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3575304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논리적 설계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575304"/>
            <a:ext cx="9372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테이블, 속성, 기본키·외래키 등 논리 구조 설계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233672"/>
            <a:ext cx="1051560" cy="65836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4233672"/>
            <a:ext cx="2377440" cy="65836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물리적 설계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233672"/>
            <a:ext cx="9372600" cy="65836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인덱스, 저장 구조, 접근 경로, 파티션 등 물리 구조 설계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892040"/>
            <a:ext cx="1051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0" y="4892040"/>
            <a:ext cx="2377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4892040"/>
            <a:ext cx="9372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SQL을 사용하여 데이터베이스 객체 생성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6355080"/>
            <a:ext cx="1152144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암기 순서: 요구사항 분석 → 개념적 설계 → 논리적 설계 → 물리적 설계 → 구현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다이어그램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모델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개념적 모델링 단계에서 현실 세계를 개체, 속성, 관계로 표현하는 도구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237744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 요소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1783080"/>
            <a:ext cx="182880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56692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52760" y="1783080"/>
            <a:ext cx="29260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13432"/>
            <a:ext cx="23774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개체(Entity)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2313432"/>
            <a:ext cx="1828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사각형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13432"/>
            <a:ext cx="5669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독립적으로 존재하는 사물 또는 개념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52760" y="2313432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학생, 과목, 부서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27832"/>
            <a:ext cx="237744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속성(Attribute)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3227832"/>
            <a:ext cx="182880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타원형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227832"/>
            <a:ext cx="566928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개체가 가지는 특성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52760" y="3227832"/>
            <a:ext cx="292608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학번, 이름, 과목명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142232"/>
            <a:ext cx="23774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관계(Relationship)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4142232"/>
            <a:ext cx="1828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마름모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4142232"/>
            <a:ext cx="5669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개체 사이의 연관성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52760" y="4142232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수강, 소속, 주문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08960" y="5989320"/>
            <a:ext cx="8412480" cy="54864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다이어그램은 개념적 설계 단계의 대표 산출물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카디널리티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모델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관계에 참여하는 개체 간 대응 수를 의미한다. 1:1, 1:N, M:N을 구분한다.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5544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402336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301752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72600" y="1783080"/>
            <a:ext cx="420624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변환 포인트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13432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1:1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313432"/>
            <a:ext cx="4023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개체가 다른 개체 한 개와 대응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313432"/>
            <a:ext cx="3017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: 주민등록증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2600" y="2313432"/>
            <a:ext cx="4206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한쪽 또는 양쪽에 외래키 배치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27832"/>
            <a:ext cx="155448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1:N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3227832"/>
            <a:ext cx="402336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개체가 다른 개체 여러 개와 대응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227832"/>
            <a:ext cx="301752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: 사원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3227832"/>
            <a:ext cx="4206240" cy="91440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N쪽 테이블에 외래키 배치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142232"/>
            <a:ext cx="15544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M:N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4142232"/>
            <a:ext cx="4023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개체가 서로 여러 개와 대응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4142232"/>
            <a:ext cx="30175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: 과목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72600" y="4142232"/>
            <a:ext cx="4206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 테이블로 분해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6080760"/>
            <a:ext cx="91440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 포인트: M:N 관계는 별도의 관계 테이블로 변환한다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데이터 모델 핵심 용어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모델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논리적 설계 단계에서 자주 묻는 기본 용어를 정확히 구분한다.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210312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1627632"/>
            <a:ext cx="64922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72600" y="1627632"/>
            <a:ext cx="42062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 기준 표현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릴레이션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084832"/>
            <a:ext cx="6492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행과 열로 구성된 2차원 테이블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72600" y="2084832"/>
            <a:ext cx="4206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706624"/>
            <a:ext cx="210312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2706624"/>
            <a:ext cx="649224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릴레이션을 구성하는 각각의 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72600" y="2706624"/>
            <a:ext cx="420624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행, 레코드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328416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3328416"/>
            <a:ext cx="6492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릴레이션을 구성하는 각각의 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3328416"/>
            <a:ext cx="4206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열, 컬럼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950208"/>
            <a:ext cx="210312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80360" y="3950208"/>
            <a:ext cx="649224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속성이 가질 수 있는 값의 범위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72600" y="3950208"/>
            <a:ext cx="420624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성별={남, 여}, 학년={1~4}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572000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80360" y="4572000"/>
            <a:ext cx="6492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속성의 개수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4572000"/>
            <a:ext cx="42062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193792"/>
            <a:ext cx="210312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카디널리티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80360" y="5193792"/>
            <a:ext cx="649224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튜플의 개수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72600" y="5193792"/>
            <a:ext cx="420624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03120" y="6446520"/>
            <a:ext cx="105156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주의: E-R의 카디널리티는 대응 수, 릴레이션의 카디널리티는 튜플 수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키(Key)의 종류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모델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키는 튜플을 식별하거나 릴레이션 사이의 관계를 연결하는 속성이다.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201168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88920" y="1627632"/>
            <a:ext cx="69494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38360" y="1627632"/>
            <a:ext cx="384048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슈퍼키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084832"/>
            <a:ext cx="6949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튜플을 유일하게 식별할 수 있는 속성 또는 속성 집합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38360" y="2084832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{학번}, {학번, 이름}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798064"/>
            <a:ext cx="201168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798064"/>
            <a:ext cx="694944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유일성과 최소성을 모두 만족하는 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38360" y="2798064"/>
            <a:ext cx="384048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{학번}, {주민번호}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511296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88920" y="3511296"/>
            <a:ext cx="6949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후보키 중 대표로 선택한 키. NULL 불가, 중복 불가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38360" y="3511296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테이블의 학번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224528"/>
            <a:ext cx="201168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대체키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88920" y="4224528"/>
            <a:ext cx="694944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후보키 중 기본키로 선택되지 않은 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8360" y="4224528"/>
            <a:ext cx="384048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기본키가 학번이면 주민번호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20116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외래키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88920" y="4937760"/>
            <a:ext cx="6949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릴레이션의 기본키를 참조하는 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38360" y="4937760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 테이블의 학번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6309360"/>
            <a:ext cx="100584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후보키 = 유일성 + 최소성 / 기본키 = 후보키 중 선택된 대표 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현상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 내 데이터가 불필요하게 중복되어 발생하는 삽입·삭제·갱신 오류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92024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1783080"/>
            <a:ext cx="512064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818120" y="1783080"/>
            <a:ext cx="576072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1920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삽입 이상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313432"/>
            <a:ext cx="51206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삽입 시 불필요한 데이터까지 함께 입력해야 하는 현상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18120" y="2313432"/>
            <a:ext cx="5760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신입 사원을 등록하려면 배정 부서 정보가 반드시 필요한 경우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19272"/>
            <a:ext cx="1920240" cy="10058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 이상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3319272"/>
            <a:ext cx="5120640" cy="10058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튜플 삭제 시 유지해야 할 정보까지 함께 삭제되는 현상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3319272"/>
            <a:ext cx="5760720" cy="10058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수강 학생을 삭제했더니 과목 정보도 사라지는 경우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325112"/>
            <a:ext cx="19202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갱신 이상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4325112"/>
            <a:ext cx="51206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데이터 일부만 수정되어 데이터 불일치가 발생하는 현상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4325112"/>
            <a:ext cx="5760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부서명이 여러 행에 있는데 일부만 변경되는 경우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6080760"/>
            <a:ext cx="694944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현상을 줄이기 위해 정규화를 수행한다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중복을 최소화하고 데이터 일관성을 보장하기 위해 테이블을 분해하는 과정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2103120" cy="411480"/>
          </a:xfrm>
          <a:prstGeom prst="rect">
            <a:avLst/>
          </a:prstGeom>
          <a:solidFill>
            <a:srgbClr val="E9D8CD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566928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이상 현상 제거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데이터 중복 최소화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데이터 무결성과 일관성 향상
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논리적 데이터 구조 개선
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1737360"/>
            <a:ext cx="2560320" cy="411480"/>
          </a:xfrm>
          <a:prstGeom prst="rect">
            <a:avLst/>
          </a:prstGeom>
          <a:solidFill>
            <a:srgbClr val="E9D8CD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단계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331720"/>
            <a:ext cx="5852160" cy="3108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1NF: 도메인이 원자값
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2NF: 부분 함수 종속 제거
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3NF: 이행적 함수 종속 제거
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BCNF: 결정자가 모두 후보키
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4NF: 다중값 종속 제거
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5NF: 조인 종속성 이용
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63240" y="6355080"/>
            <a:ext cx="8503920" cy="54864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암기 팁: 도 · 부 · 이 · 결 · 다 · 조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단계: 1NF ~ 3NF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실기에서 가장 자주 확인되는 정규형은 1NF, 2NF, 3NF이다.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5544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38404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783080"/>
            <a:ext cx="740664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판단 기준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1554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1NF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313432"/>
            <a:ext cx="3840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도메인이 원자값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313432"/>
            <a:ext cx="7406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칸에 여러 값이 들어가면 안 됨. 반복 속성 제거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273552"/>
            <a:ext cx="155448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2NF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273552"/>
            <a:ext cx="384048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함수 종속 제거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273552"/>
            <a:ext cx="740664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복합키의 일부에만 종속되는 일반 속성 제거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33672"/>
            <a:ext cx="1554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3NF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4233672"/>
            <a:ext cx="3840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이행적 함수 종속 제거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4233672"/>
            <a:ext cx="7406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A→B, B→C이면 A→C가 성립하는 간접 종속 제거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5760720"/>
            <a:ext cx="10607040" cy="914400"/>
          </a:xfrm>
          <a:prstGeom prst="rect">
            <a:avLst/>
          </a:prstGeom>
          <a:solidFill>
            <a:srgbClr val="EEE7DF"/>
          </a:solidFill>
          <a:ln>
            <a:solidFill>
              <a:srgbClr val="EEE7D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예: 학생(학번, 이름, 학과코드, 학과명)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학번 → 학과코드, 학과코드 → 학과명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→ 학과명을 별도 학과 테이블로 분리하면 3NF에 가까워진다.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단계: BCNF ~ 5NF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정규형은 조건 이름과 제거 대상을 연결해 암기한다.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5544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828800"/>
            <a:ext cx="384048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828800"/>
            <a:ext cx="740664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1554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BCNF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2359152"/>
            <a:ext cx="3840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결정자가 모두 후보키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359152"/>
            <a:ext cx="7406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함수 종속에서 결정자가 후보키가 되도록 분해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19272"/>
            <a:ext cx="155448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4NF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319272"/>
            <a:ext cx="384048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다중값 종속 제거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319272"/>
            <a:ext cx="740664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키가 서로 독립적인 여러 값 집합을 결정하는 경우 분해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79392"/>
            <a:ext cx="1554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5NF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4279392"/>
            <a:ext cx="3840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조인 종속성 이용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4279392"/>
            <a:ext cx="7406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조인 종속이 후보키를 통해서만 성립되도록 분해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03120" y="6080760"/>
            <a:ext cx="1042416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순서 전체: 1NF → 2NF → 3NF → BCNF → 4NF → 5NF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종속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정규화를 이해하기 위한 핵심 개념. X 값이 Y 값을 유일하게 결정하면 X → Y로 표현한다.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3774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1691640"/>
            <a:ext cx="64922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46920" y="1691640"/>
            <a:ext cx="393192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 연결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2377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종속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2148840"/>
            <a:ext cx="6492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 값이 정해지면 Y 값이 하나로 결정되는 관계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46920" y="2148840"/>
            <a:ext cx="39319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개념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23774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함수 종속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926080"/>
            <a:ext cx="64922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복합키 전체에 종속되고 일부에는 종속되지 않음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46920" y="2926080"/>
            <a:ext cx="393192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2NF 만족 조건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2377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함수 종속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3703320"/>
            <a:ext cx="64922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복합키의 일부 속성에만 종속되는 관계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46920" y="3703320"/>
            <a:ext cx="39319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2NF에서 제거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80560"/>
            <a:ext cx="23774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이행 함수 종속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4480560"/>
            <a:ext cx="64922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A→B, B→C로 인해 A→C가 성립하는 관계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46920" y="4480560"/>
            <a:ext cx="393192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3NF에서 제거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6217920"/>
            <a:ext cx="11521440" cy="54864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문제에서 “부분 종속”, “이행 종속”이라는 말이 나오면 2NF·3NF를 바로 연결한다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역정규화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조회 성능 향상을 위해 의도적으로 중복을 허용하여 테이블 구조를 조정하는 기법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2860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691640"/>
            <a:ext cx="667512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38360" y="1691640"/>
            <a:ext cx="384048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 병합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2167128"/>
            <a:ext cx="6675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1:1 또는 1:N 관계 테이블을 하나로 합침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38360" y="2167128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조인 감소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28600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 분할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880360"/>
            <a:ext cx="667512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자주 쓰는 컬럼과 그렇지 않은 컬럼을 분리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38360" y="2880360"/>
            <a:ext cx="384048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조회 범위 축소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593592"/>
            <a:ext cx="22860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칼럼 추가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593592"/>
            <a:ext cx="66751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조인 없이 조회하기 위해 다른 테이블 컬럼 복제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38360" y="3593592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조회 속도 향상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306824"/>
            <a:ext cx="228600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테이블 추가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4306824"/>
            <a:ext cx="667512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집계·통계용 요약 테이블을 별도로 생성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8360" y="4306824"/>
            <a:ext cx="3840480" cy="71323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 비용 절감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6263640"/>
            <a:ext cx="109728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주의: 조회 성능은 좋아질 수 있지만 데이터 일관성 유지 비용은 증가한다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 명령어 분류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관계형 데이터베이스를 정의·조작·제어하기 위한 표준 언어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2801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645920"/>
            <a:ext cx="246888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45720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98280" y="1645920"/>
            <a:ext cx="44805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21408"/>
            <a:ext cx="12801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121408"/>
            <a:ext cx="24688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정의어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121408"/>
            <a:ext cx="4572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CREATE, ALTER, DROP, TRUNCATE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98280" y="2121408"/>
            <a:ext cx="44805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테이블·뷰·인덱스 등 객체 정의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26080"/>
            <a:ext cx="12801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2926080"/>
            <a:ext cx="246888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조작어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926080"/>
            <a:ext cx="457200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SELECT, INSERT, UPDATE, DELETE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2926080"/>
            <a:ext cx="44805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조회·삽입·수정·삭제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730752"/>
            <a:ext cx="12801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DCL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57400" y="3730752"/>
            <a:ext cx="24688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제어어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3730752"/>
            <a:ext cx="4572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GRANT, REVOKE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3730752"/>
            <a:ext cx="44805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권한 부여·취소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535424"/>
            <a:ext cx="12801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TCL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57400" y="4535424"/>
            <a:ext cx="246888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 제어어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26280" y="4535424"/>
            <a:ext cx="457200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COMMIT, ROLLBACK, SAVEPOINT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4535424"/>
            <a:ext cx="44805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 확정·취소·지점 설정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77440" y="6263640"/>
            <a:ext cx="987552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 최빈출: DDL / DML / DCL / TCL 분류와 대표 명령어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SELECT 문 기본 구조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순서와 실행 순서는 다르다. GROUP BY 이후 조건은 HAVING을 사용한다.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6035040" cy="2971800"/>
          </a:xfrm>
          <a:prstGeom prst="rect">
            <a:avLst/>
          </a:prstGeom>
          <a:solidFill>
            <a:srgbClr val="EEE7DF"/>
          </a:solidFill>
          <a:ln>
            <a:solidFill>
              <a:srgbClr val="EEE7D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SELECT   컬럼명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FROM     테이블명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WHERE    조건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GROUP BY 그룹 기준 컬럼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HAVING   그룹 조건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ORDER BY 정렬 기준 컬럼 [ASC | DESC];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0" y="1783080"/>
            <a:ext cx="2194560" cy="43891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순서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0" y="1783080"/>
            <a:ext cx="2377440" cy="43891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순서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2221992"/>
            <a:ext cx="21945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0" y="2221992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615184"/>
            <a:ext cx="2194560" cy="3931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0" y="2615184"/>
            <a:ext cx="2377440" cy="3931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008376"/>
            <a:ext cx="21945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0" y="3008376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GROUP BY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3401568"/>
            <a:ext cx="2194560" cy="3931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GROUP BY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0" y="3401568"/>
            <a:ext cx="2377440" cy="3931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HAVING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3794760"/>
            <a:ext cx="219456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HAVING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0" y="3794760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0" y="4187952"/>
            <a:ext cx="2194560" cy="3931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BY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0" y="4187952"/>
            <a:ext cx="2377440" cy="3931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ORDER BY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6355080"/>
            <a:ext cx="109728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순서: FROM → WHERE → GROUP BY → HAVING → SELECT → ORDER BY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조건식과 집계 함수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WHERE는 행 조건, HAVING은 그룹 조건이다. 집계 함수는 GROUP BY와 함께 자주 출제된다.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9202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1645920"/>
            <a:ext cx="42062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표현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1645920"/>
            <a:ext cx="667512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103120"/>
            <a:ext cx="4206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=, &lt;&gt;, !=, &gt;, &gt;=, &lt;, &lt;=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2103120"/>
            <a:ext cx="6675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 비교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670048"/>
            <a:ext cx="192024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670048"/>
            <a:ext cx="420624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BETWEEN A AND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2670048"/>
            <a:ext cx="667512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이상 B 이하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236976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3236976"/>
            <a:ext cx="4206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 (값1, 값2)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236976"/>
            <a:ext cx="6675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목록 중 하나와 일치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803904"/>
            <a:ext cx="192024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패턴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3803904"/>
            <a:ext cx="420624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LIKE 'A%'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803904"/>
            <a:ext cx="667512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%는 여러 문자, _는 한 문자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370832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97480" y="4370832"/>
            <a:ext cx="4206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IS NULL, IS NOT NULL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4370832"/>
            <a:ext cx="6675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NULL 비교는 = 대신 IS 사용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937760"/>
            <a:ext cx="192024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97480" y="4937760"/>
            <a:ext cx="420624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COUNT, SUM, AVG, MAX, MIN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4937760"/>
            <a:ext cx="6675120" cy="566928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그룹별 계산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108960" y="6355080"/>
            <a:ext cx="841248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WHERE: 행을 걸러냄 / HAVING: 그룹 결과를 걸러냄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JOIN 종류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이상의 테이블을 연결하여 필요한 데이터를 조회하는 방법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274320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627632"/>
            <a:ext cx="658368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반환 결과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04120" y="1627632"/>
            <a:ext cx="347472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84832"/>
            <a:ext cx="2743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084832"/>
            <a:ext cx="65836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테이블에서 조건에 일치하는 행만 반환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04120" y="2084832"/>
            <a:ext cx="34747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교집합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761488"/>
            <a:ext cx="2743200" cy="676656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LEFT OUTER JOIN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761488"/>
            <a:ext cx="6583680" cy="676656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 테이블 전체 + 오른쪽 일치 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04120" y="2761488"/>
            <a:ext cx="3474720" cy="676656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오른쪽 불일치 값은 NULL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438144"/>
            <a:ext cx="2743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RIGHT OUTER JOIN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438144"/>
            <a:ext cx="65836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오른쪽 테이블 전체 + 왼쪽 일치 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104120" y="3438144"/>
            <a:ext cx="34747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 불일치 값은 NULL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114800"/>
            <a:ext cx="2743200" cy="676656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FULL OUTER JOIN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4114800"/>
            <a:ext cx="6583680" cy="676656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양쪽 테이블 전체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04120" y="4114800"/>
            <a:ext cx="3474720" cy="676656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 값은 NULL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791456"/>
            <a:ext cx="274320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CROSS JOIN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4791456"/>
            <a:ext cx="658368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테이블의 모든 행 조합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04120" y="4791456"/>
            <a:ext cx="3474720" cy="6766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카테시안 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5760720"/>
            <a:ext cx="10241280" cy="868680"/>
          </a:xfrm>
          <a:prstGeom prst="rect">
            <a:avLst/>
          </a:prstGeom>
          <a:solidFill>
            <a:srgbClr val="EEE7DF"/>
          </a:solidFill>
          <a:ln>
            <a:solidFill>
              <a:srgbClr val="EEE7D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SELECT A.이름, B.과목명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FROM 학생 A INNER JOIN 수강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ON A.학번 = B.학번;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 작성 예시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조건, 그룹, 정렬이 함께 나오는 문제는 실행 순서를 의식하며 작성한다.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조건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59436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사원 테이블에서 부서별 평균 급여를 조회한다.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급여가 3000 이상인 사원만 대상으로 한다.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평균 급여가 5000 이상인 부서만 출력한다.
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평균 급여 기준 내림차순 정렬한다.
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1783080"/>
            <a:ext cx="6217920" cy="3337560"/>
          </a:xfrm>
          <a:prstGeom prst="rect">
            <a:avLst/>
          </a:prstGeom>
          <a:solidFill>
            <a:srgbClr val="EEE7DF"/>
          </a:solidFill>
          <a:ln>
            <a:solidFill>
              <a:srgbClr val="EEE7D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SELECT 부서코드, AVG(급여) AS 평균급여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FROM 사원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WHERE 급여 &gt;= 3000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GROUP BY 부서코드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HAVING AVG(급여) &gt;= 5000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ORDER BY 평균급여 DESC;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00400" y="6355080"/>
            <a:ext cx="82296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WHERE는 그룹 전 조건, HAVING은 그룹 후 조건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트랜잭션과 ACID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데이터베이스 상태를 변환시키는 하나의 논리적 작업 단위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18288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246888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850392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원자성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167128"/>
            <a:ext cx="24688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Atomicity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2167128"/>
            <a:ext cx="8503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반영되거나 전혀 반영되지 않아야 함. All or Nothing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90088"/>
            <a:ext cx="1828800" cy="8229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일관성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2990088"/>
            <a:ext cx="2468880" cy="8229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990088"/>
            <a:ext cx="8503920" cy="8229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 완료 후 데이터베이스는 일관된 상태를 유지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813048"/>
            <a:ext cx="18288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격리성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813048"/>
            <a:ext cx="246888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813048"/>
            <a:ext cx="8503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동시 실행 트랜잭션은 서로 간섭하지 않아야 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36008"/>
            <a:ext cx="1828800" cy="8229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영속성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4636008"/>
            <a:ext cx="2468880" cy="8229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Durability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4636008"/>
            <a:ext cx="8503920" cy="8229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성공적으로 완료된 결과는 장애 발생 후에도 보존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6263640"/>
            <a:ext cx="841248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ACID = 원자성 · 일관성 · 격리성 · 영속성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 상태 5종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트랜잭션이 시작되어 종료되기까지의 상태 변화를 구분한다.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0233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877824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67128"/>
            <a:ext cx="40233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활동(Active)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2167128"/>
            <a:ext cx="87782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트랜잭션이 실행 중인 상태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4023360" cy="69494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 완료(Partially Committed)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862072"/>
            <a:ext cx="8778240" cy="69494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 연산이 실행된 직후, COMMIT 전 상태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57016"/>
            <a:ext cx="40233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완료(Committed)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3557016"/>
            <a:ext cx="87782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COMMIT이 완료되어 결과가 데이터베이스에 반영된 상태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4023360" cy="69494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실패(Failed)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4251960"/>
            <a:ext cx="8778240" cy="69494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발생으로 트랜잭션 실행이 중단된 상태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946904"/>
            <a:ext cx="402336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철회(Aborted)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4946904"/>
            <a:ext cx="87782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ROLLBACK되어 트랜잭션 시작 전 상태로 복구된 상태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6217920"/>
            <a:ext cx="1060704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 흐름: 활동 → 부분 완료 → 완료 / 오류 흐름: 활동 → 실패 → 철회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 미흡 시 문제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트랜잭션이 동시에 실행될 때 일관성이 깨지면 다음 문제가 발생한다.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1945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691640"/>
            <a:ext cx="704088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12680" y="1691640"/>
            <a:ext cx="35661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키워드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21945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갱신 분실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2167128"/>
            <a:ext cx="70408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트랜잭션이 같은 데이터를 갱신할 때 한 갱신 결과가 사라짐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12680" y="2167128"/>
            <a:ext cx="35661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데이터 동시 수정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21945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비완료 의존성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971800"/>
            <a:ext cx="704088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완료되지 않은 트랜잭션의 데이터를 다른 트랜잭션이 읽음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12680" y="2971800"/>
            <a:ext cx="35661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Dirty 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76472"/>
            <a:ext cx="21945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모순성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3776472"/>
            <a:ext cx="70408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데이터를 두 트랜잭션이 동시에 조회할 때 서로 다른 값을 읽음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12680" y="3776472"/>
            <a:ext cx="3566160" cy="8046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일관되지 않은 읽기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81144"/>
            <a:ext cx="21945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연쇄 복귀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4581144"/>
            <a:ext cx="704088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트랜잭션의 롤백이 다른 트랜잭션에 연쇄적으로 영향을 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12680" y="4581144"/>
            <a:ext cx="3566160" cy="80467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Cascading Rollback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6263640"/>
            <a:ext cx="91440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제어의 목적은 동시성 확보와 데이터 일관성 유지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 기법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트랜잭션을 동시에 수행하면서도 데이터베이스의 일관성을 유지하기 위한 방법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7432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691640"/>
            <a:ext cx="100584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167128"/>
            <a:ext cx="2743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167128"/>
            <a:ext cx="10058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데이터에 잠금(Lock)을 설정하여 다른 트랜잭션의 접근 제한. 공유 락과 배타 락으로 구분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35808"/>
            <a:ext cx="2743200" cy="8686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타임스탬프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035808"/>
            <a:ext cx="10058400" cy="8686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 시작 시간을 기록하여 순서를 부여하고 그 순서에 따라 실행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04488"/>
            <a:ext cx="2743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낙관적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904488"/>
            <a:ext cx="100584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충돌이 없다고 가정하고 실행한 뒤 완료 전에 충돌 여부 검사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773168"/>
            <a:ext cx="2743200" cy="8686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 버전(MVCC)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4773168"/>
            <a:ext cx="10058400" cy="8686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데이터의 여러 버전을 유지하여 읽기와 쓰기가 서로 방해하지 않도록 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6355080"/>
            <a:ext cx="109728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공유 락(S-Lock): 읽기 허용 / 배타 락(X-Lock): 읽기·쓰기 제한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교착 상태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 제어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개 이상의 트랜잭션이 서로 상대방의 락 해제를 기다리며 무한 대기하는 상태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6217920" cy="2194560"/>
          </a:xfrm>
          <a:prstGeom prst="rect">
            <a:avLst/>
          </a:prstGeom>
          <a:solidFill>
            <a:srgbClr val="EEE7DF"/>
          </a:solidFill>
          <a:ln>
            <a:solidFill>
              <a:srgbClr val="EEE7DF">
                <a:alpha val="0"/>
              </a:srgbClr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T1: A 데이터에 X-Lock 설정 → B 데이터 요청 대기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T2: B 데이터에 X-Lock 설정 → A 데이터 요청 대기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B2D29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결과: T1과 T2가 서로 기다리며 진행하지 못함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0" y="1828800"/>
            <a:ext cx="2011680" cy="50292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0" y="1828800"/>
            <a:ext cx="4297680" cy="50292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0" y="2331720"/>
            <a:ext cx="2011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0" y="2331720"/>
            <a:ext cx="4297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교착 상태가 발생하지 않도록 필요한 자원을 미리 확보하거나 순서를 제한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3108960"/>
            <a:ext cx="201168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0" y="3108960"/>
            <a:ext cx="429768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교착 상태 가능성을 검사하며 안전한 경우에만 자원 할당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886200"/>
            <a:ext cx="2011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및 회복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0" y="3886200"/>
            <a:ext cx="4297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발생 여부를 탐지한 뒤 일부 트랜잭션을 철회하여 회복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6355080"/>
            <a:ext cx="91440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교착 상태 핵심어: 서로의 락 해제를 기다리는 무한 대기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회복 기법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회복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 발생 시 데이터베이스를 일관된 상태로 복구하는 기법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256032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713232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69880" y="1783080"/>
            <a:ext cx="3108960" cy="53035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2560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기반 회복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313432"/>
            <a:ext cx="7132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변경 내용을 로그에 기록하고 REDO/UNDO로 복구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69880" y="2313432"/>
            <a:ext cx="31089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REDO, UNDO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273552"/>
            <a:ext cx="256032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체크포인트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273552"/>
            <a:ext cx="713232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주기적으로 검사점을 설정하여 장애 시 해당 시점 이후부터 복구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69880" y="3273552"/>
            <a:ext cx="3108960" cy="96012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 범위 축소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233672"/>
            <a:ext cx="2560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그림자 페이지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4233672"/>
            <a:ext cx="7132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전 원본 페이지를 별도 보관하고 장애 시 원본으로 복구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69880" y="4233672"/>
            <a:ext cx="31089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페이지 보관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6080760"/>
            <a:ext cx="91440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REDO: 완료된 작업 재실행 / UNDO: 미완료 작업 취소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 데이터베이스 설계 요소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 설계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저장 구조와 접근 성능을 고려하여 인덱스, 뷰, 파티션 등을 설계한다.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237744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1627632"/>
            <a:ext cx="667512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29800" y="1627632"/>
            <a:ext cx="374904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2377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인덱스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2103120"/>
            <a:ext cx="6675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&lt;키 값, 포인터&gt; 쌍으로 구성되어 레코드 접근 속도를 높이는 구조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29800" y="2103120"/>
            <a:ext cx="37490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조회는 빠르지만 삽입·수정·삭제 비용 증가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3774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클러스터드 인덱스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880360"/>
            <a:ext cx="667512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자체가 인덱스 순서대로 정렬 저장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29800" y="2880360"/>
            <a:ext cx="37490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테이블당 일반적으로 1개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23774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넌클러스터드 인덱스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3657600"/>
            <a:ext cx="667512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별도의 인덱스 구조를 유지하고 실제 데이터 위치를 참조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29800" y="3657600"/>
            <a:ext cx="37490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테이블당 여러 개 가능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23774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4434840"/>
            <a:ext cx="667512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 이상의 기본 테이블에서 유도된 가상 테이블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29800" y="4434840"/>
            <a:ext cx="3749040" cy="77724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보안성·독립성 제공, 수정은 제한적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6263640"/>
            <a:ext cx="841248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뷰는 실제 데이터를 저장하지 않는 가상 테이블로 이해한다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파티션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 설계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대용량 테이블이나 인덱스를 관리하기 쉬운 단위로 분할하는 기능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256032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566928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분할 기준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06840" y="1691640"/>
            <a:ext cx="45720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25603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 분할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167128"/>
            <a:ext cx="56692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값의 범위 기준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06840" y="2167128"/>
            <a:ext cx="45720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날짜별, 금액 구간별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2560320" cy="78638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해시 분할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953512"/>
            <a:ext cx="5669280" cy="78638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해시 함수 결과 기준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006840" y="2953512"/>
            <a:ext cx="4572000" cy="78638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균등 분산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39896"/>
            <a:ext cx="25603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목록 분할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739896"/>
            <a:ext cx="56692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 값 목록 기준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06840" y="3739896"/>
            <a:ext cx="45720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지역별, 부서별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2560320" cy="78638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조합 분할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4526280"/>
            <a:ext cx="5669280" cy="78638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이상의 분할 기법 조합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06840" y="4526280"/>
            <a:ext cx="4572000" cy="786384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 + 해시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6263640"/>
            <a:ext cx="896112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파티션 목적: 대용량 데이터 관리성·성능·가용성 향상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암기 정리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정리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2과목은 용어 암기와 SQL 작성 순서가 함께 출제된다.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219456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600200"/>
            <a:ext cx="10607040" cy="457200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반드시 기억할 내용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DB 설계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057400"/>
            <a:ext cx="10607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분석 → 개념적 설계 → 논리적 설계 → 물리적 설계 → 구현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2194560" cy="5943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2651760"/>
            <a:ext cx="10607040" cy="5943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개체=사각형, 속성=타원형, 관계=마름모, M:N은 교차 테이블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246120"/>
            <a:ext cx="10607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도·부·이·결·다·조 / 2NF=부분 종속 제거 / 3NF=이행 종속 제거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2194560" cy="5943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3840480"/>
            <a:ext cx="10607040" cy="5943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DDL, DML, DCL, TCL / SELECT 실행 순서와 JOIN 종류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트랜잭션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71800" y="4434840"/>
            <a:ext cx="10607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ACID, 상태 5종, COMMIT·ROLLBACK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2194560" cy="5943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병행·회복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5029200"/>
            <a:ext cx="10607040" cy="59436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Lost Update, Dirty Read, Deadlock, REDO·UNDO, Checkpoint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6400800"/>
            <a:ext cx="7315200" cy="50292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 답안은 정확한 용어를 쓰는 것이 점수다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실기형 확인 문제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문제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빈칸에 들어갈 정확한 용어를 써 보세요.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1280160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1. 데이터베이스 설계 절차는 요구사항 분석 → ( ① ) 설계 → ( ② ) 설계 → ( ③ ) 설계 → 구현 순서이다.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2. E-R 다이어그램에서 개체는 ( ④ ), 속성은 ( ⑤ ), 관계는 ( ⑥ )로 표현한다.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3. 여러 학생이 여러 과목을 수강하는 관계는 카디널리티상 ( ⑦ ) 관계이다.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4. 데이터 삽입 시 불필요한 데이터까지 함께 입력해야 하는 현상은 ( ⑧ ) 이상이다.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5. 2NF는 ( ⑨ ) 함수 종속을 제거하고, 3NF는 ( ⑩ ) 함수 종속을 제거한다.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6. 모든 결정자가 후보키가 되도록 분해하는 정규형은 ( ⑪ )이다.
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6766560"/>
            <a:ext cx="5486400" cy="45720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정답은 다음 정답 슬라이드에서 확인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실기형 확인 문제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문제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SQL·트랜잭션·병행 제어·회복 영역의 핵심 용어 확인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12801600" cy="5029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7. SQL 명령어 중 CREATE, ALTER, DROP은 ( ⑫ )에 속한다.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8. 권한 부여와 권한 취소에 사용하는 GRANT, REVOKE는 ( ⑬ )에 속한다.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9. SELECT 문의 실행 순서는 FROM → WHERE → GROUP BY → ( ⑭ ) → SELECT → ORDER BY이다.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10. 트랜잭션의 ACID 중 “모두 반영되거나 전혀 반영되지 않아야 한다”는 특성은 ( ⑮ )이다.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11. 완료되지 않은 트랜잭션의 데이터를 다른 트랜잭션이 읽는 문제는 ( ⑯ )이다.
</a:t>
            </a:r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12. 로그 기반 회복에서 완료된 작업을 다시 실행하는 것은 ( ⑰ ), 미완료 작업을 취소하는 것은 ( ⑱ )이다.
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0" y="6766560"/>
            <a:ext cx="6400800" cy="45720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용어를 약어와 한글명 모두 연결해서 외우기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문제 정답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문제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헷갈린 문항은 해당 개념 슬라이드로 돌아가 다시 확인한다.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1005840" cy="43891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600200"/>
            <a:ext cx="4663440" cy="43891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600200"/>
            <a:ext cx="1005840" cy="43891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1600200"/>
            <a:ext cx="4663440" cy="438912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03911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03911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03911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0" y="203911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이행적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45059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245059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논리적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45059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0" y="245059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BCNF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86207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286207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86207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⑫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286207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DDL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27355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4560" y="327355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사각형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327355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327355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DCL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68503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94560" y="368503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타원형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368503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0" y="368503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HAVING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409651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194560" y="409651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마름모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409651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⑮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0" y="409651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원자성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450799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194560" y="450799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M:N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450799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⑯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63840" y="450799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비완료 의존성 / Dirty Read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88720" y="491947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⑧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194560" y="491947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삽입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58000" y="4919472"/>
            <a:ext cx="10058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863840" y="4919472"/>
            <a:ext cx="4663440" cy="411480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REDO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188720" y="533095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⑨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194560" y="533095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부분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58000" y="5330952"/>
            <a:ext cx="10058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⑱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863840" y="5330952"/>
            <a:ext cx="46634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UNDO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체크리스트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1201400" y="475488"/>
            <a:ext cx="2788920" cy="384048"/>
          </a:xfrm>
          <a:prstGeom prst="rect">
            <a:avLst/>
          </a:prstGeom>
          <a:solidFill>
            <a:srgbClr val="E9D8CD"/>
          </a:solidFill>
          <a:ln>
            <a:solidFill>
              <a:srgbClr val="E9D8CD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874520" cy="0"/>
          </a:xfrm>
          <a:prstGeom prst="line">
            <a:avLst/>
          </a:prstGeom>
          <a:noFill/>
          <a:ln w="12700">
            <a:solidFill>
              <a:srgbClr val="7A3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266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정보처리기사 실기 · 데이터 입출력 구현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3761720" y="76992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307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C56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시험 전 마지막으로 스스로 확인할 항목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128016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645920"/>
            <a:ext cx="10972800" cy="475488"/>
          </a:xfrm>
          <a:prstGeom prst="rect">
            <a:avLst/>
          </a:prstGeom>
          <a:solidFill>
            <a:srgbClr val="E9D8CD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121408"/>
            <a:ext cx="1280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121408"/>
            <a:ext cx="10972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데이터베이스 설계 절차를 순서대로 쓸 수 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128016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2743200"/>
            <a:ext cx="1097280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E-R 구성 요소와 카디널리티를 구분할 수 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364992"/>
            <a:ext cx="1280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3364992"/>
            <a:ext cx="10972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현상 3종과 정규화 단계를 연결할 수 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86784"/>
            <a:ext cx="128016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3986784"/>
            <a:ext cx="1097280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 명령어 분류와 SELECT 실행 순서를 쓸 수 있다.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608576"/>
            <a:ext cx="12801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4608576"/>
            <a:ext cx="10972800" cy="6217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ACID, 트랜잭션 상태, 병행 제어 문제를 설명할 수 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5230368"/>
            <a:ext cx="128016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23160" y="5230368"/>
            <a:ext cx="10972800" cy="621792"/>
          </a:xfrm>
          <a:prstGeom prst="rect">
            <a:avLst/>
          </a:prstGeom>
          <a:solidFill>
            <a:srgbClr val="EFE8E1"/>
          </a:solidFill>
          <a:ln>
            <a:solidFill>
              <a:srgbClr val="FFFF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회복 기법, 인덱스, 뷰, 파티션의 핵심 차이를 말할 수 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28800" y="6446520"/>
            <a:ext cx="10972800" cy="548640"/>
          </a:xfrm>
          <a:prstGeom prst="rect">
            <a:avLst/>
          </a:prstGeom>
          <a:solidFill>
            <a:srgbClr val="F2E7DE"/>
          </a:solidFill>
          <a:ln>
            <a:solidFill>
              <a:srgbClr val="F2E7DE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3E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학습: SQL 문제 풀이와 프로그래밍 언어 구현 문제를 함께 반복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정보처리기사 실기 2026년 제2회 대비 [2과목] 데이터 입출력 구현</dc:title>
  <dc:subject>정보처리기사 실기 2026년 제2회 대비 - 데이터 입출력 구현</dc:subject>
  <dc:creator>OpenAI</dc:creator>
  <cp:lastModifiedBy>OpenAI</cp:lastModifiedBy>
  <cp:revision>1</cp:revision>
  <dcterms:created xsi:type="dcterms:W3CDTF">2026-06-20T02:01:49Z</dcterms:created>
  <dcterms:modified xsi:type="dcterms:W3CDTF">2026-06-20T02:01:49Z</dcterms:modified>
</cp:coreProperties>
</file>